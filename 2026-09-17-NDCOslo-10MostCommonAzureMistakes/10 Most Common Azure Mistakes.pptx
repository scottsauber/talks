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0" r:id="rId1"/>
  </p:sldMasterIdLst>
  <p:notesMasterIdLst>
    <p:notesMasterId r:id="rId64"/>
  </p:notesMasterIdLst>
  <p:sldIdLst>
    <p:sldId id="257" r:id="rId2"/>
    <p:sldId id="285" r:id="rId3"/>
    <p:sldId id="463" r:id="rId4"/>
    <p:sldId id="326" r:id="rId5"/>
    <p:sldId id="369" r:id="rId6"/>
    <p:sldId id="410" r:id="rId7"/>
    <p:sldId id="535" r:id="rId8"/>
    <p:sldId id="585" r:id="rId9"/>
    <p:sldId id="586" r:id="rId10"/>
    <p:sldId id="438" r:id="rId11"/>
    <p:sldId id="580" r:id="rId12"/>
    <p:sldId id="589" r:id="rId13"/>
    <p:sldId id="536" r:id="rId14"/>
    <p:sldId id="537" r:id="rId15"/>
    <p:sldId id="538" r:id="rId16"/>
    <p:sldId id="539" r:id="rId17"/>
    <p:sldId id="540" r:id="rId18"/>
    <p:sldId id="541" r:id="rId19"/>
    <p:sldId id="542" r:id="rId20"/>
    <p:sldId id="543" r:id="rId21"/>
    <p:sldId id="544" r:id="rId22"/>
    <p:sldId id="545" r:id="rId23"/>
    <p:sldId id="546" r:id="rId24"/>
    <p:sldId id="547" r:id="rId25"/>
    <p:sldId id="548" r:id="rId26"/>
    <p:sldId id="549" r:id="rId27"/>
    <p:sldId id="550" r:id="rId28"/>
    <p:sldId id="571" r:id="rId29"/>
    <p:sldId id="551" r:id="rId30"/>
    <p:sldId id="552" r:id="rId31"/>
    <p:sldId id="553" r:id="rId32"/>
    <p:sldId id="554" r:id="rId33"/>
    <p:sldId id="555" r:id="rId34"/>
    <p:sldId id="556" r:id="rId35"/>
    <p:sldId id="557" r:id="rId36"/>
    <p:sldId id="558" r:id="rId37"/>
    <p:sldId id="570" r:id="rId38"/>
    <p:sldId id="583" r:id="rId39"/>
    <p:sldId id="581" r:id="rId40"/>
    <p:sldId id="560" r:id="rId41"/>
    <p:sldId id="559" r:id="rId42"/>
    <p:sldId id="561" r:id="rId43"/>
    <p:sldId id="562" r:id="rId44"/>
    <p:sldId id="563" r:id="rId45"/>
    <p:sldId id="565" r:id="rId46"/>
    <p:sldId id="566" r:id="rId47"/>
    <p:sldId id="564" r:id="rId48"/>
    <p:sldId id="567" r:id="rId49"/>
    <p:sldId id="568" r:id="rId50"/>
    <p:sldId id="569" r:id="rId51"/>
    <p:sldId id="572" r:id="rId52"/>
    <p:sldId id="573" r:id="rId53"/>
    <p:sldId id="574" r:id="rId54"/>
    <p:sldId id="584" r:id="rId55"/>
    <p:sldId id="576" r:id="rId56"/>
    <p:sldId id="577" r:id="rId57"/>
    <p:sldId id="578" r:id="rId58"/>
    <p:sldId id="588" r:id="rId59"/>
    <p:sldId id="587" r:id="rId60"/>
    <p:sldId id="534" r:id="rId61"/>
    <p:sldId id="400" r:id="rId62"/>
    <p:sldId id="337" r:id="rId6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8202A"/>
    <a:srgbClr val="0F69B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30" autoAdjust="0"/>
    <p:restoredTop sz="96299" autoAdjust="0"/>
  </p:normalViewPr>
  <p:slideViewPr>
    <p:cSldViewPr snapToGrid="0">
      <p:cViewPr varScale="1">
        <p:scale>
          <a:sx n="139" d="100"/>
          <a:sy n="139" d="100"/>
        </p:scale>
        <p:origin x="688" y="16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41751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8173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5822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15141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7642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053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7374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C357F-79C0-B9E8-2BE5-B53C8693F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554DCA-BD9A-4DF0-3057-23266EACC2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CF9E3F-6443-E041-BBBD-3A4F1E19DB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252598-2F8C-40FB-26F4-F4168D36BC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49623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5A80EE-A614-06D2-6C52-3F0AB0B72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8222B7-B7CC-FF73-7CF7-BA17E0779F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6C4F76-A87E-C293-5FAE-E3DBAAD04D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55098A-D713-2538-78F8-50878710EC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7978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06AE3-9A7E-A8DC-308F-94CCF65B3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632E47-C588-A082-1C57-177B02096B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311809-7000-6955-4827-C2BE37841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8656E4-9F8B-C7C7-3222-C2CCBC05AF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02466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2096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15141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1B1A7-1AE6-083B-0563-6DB2DAA77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3A432C-4CA3-A530-DC70-970A7E6326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D1B44B-6D68-E871-A999-89742C1A0A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82D6DC-4FBC-2374-9B50-0D0151E949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97913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AA47C0-816F-3643-CC74-0A66BCC94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81C802-5F23-3949-130F-CBBB01C490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8A62C6-95EE-8B8F-B0F1-E830786EA5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79C286-487D-E5F7-0962-0BC8EAD153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854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F4F0F-59D5-4E12-325D-571BCB867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82BFCB-8264-85DC-2E49-C46AC1F0C7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0E0432-C0E2-A737-4E4C-40FF85B0C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77A2BC-078F-8EEF-9B95-C867F47D8E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4288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2138E-F962-106A-6294-437C56917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73C83-0B01-D89D-727D-26B73B9F95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50E8F3-2E8F-A4B1-28E0-32573C3BE3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68FB3B-077C-D541-10C8-B6E42AF468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25608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578786-BDE3-FC05-6A80-02F86F3A6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302F1C-3551-B925-6416-F598A2A6CC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A95D68-B431-D557-8DA9-5AE4FF102A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305F2B-2546-E494-0C1D-94EC01C968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467985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14B08-9BFB-B60D-8CB7-A4B229EAC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04CFC3-F4CB-22D2-FEA6-8A2E62AD23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AEA936-9180-B046-E5FC-6507740713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7982D3-E646-D736-7260-CCDEF31F3F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06248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B9FD3-E442-913F-0C99-F679A1BE5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E62A66-3547-FC5C-B5F7-677569C054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9FB467-8B29-55CE-7716-A27592A216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794005-F270-8504-F6C6-DE10584DAC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23613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DB2AA-6655-C7CA-C0CC-44DEB2AEA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2DE29F-443A-2CE6-0DC6-D22B06C8C1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3B3152-F572-64E0-17CD-2C08065B88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1732F5-FBA5-8086-00B1-DD1CF119D5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97457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7B9CD-8E7A-3C6A-44CD-399BAB80C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DF300E-B191-1BAF-7F64-F1D3D1986E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53523C-3487-F0B9-E69A-71706F90ED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E80973-358E-92C4-E758-76D76D0EA8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410500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200E0-0A3A-D68D-5C34-CDD90E928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8544C4-31AD-DA3F-80DB-85502A7D06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7C966F-E460-C906-6314-36AF412B57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BC04F7-D761-38E7-F70C-497D2FC1A1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4064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6E402-E6EF-D5CA-1BCA-36AAD8FF0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034008-7CBB-FDCF-A819-3341574F9F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98D017-D8B2-5ACB-1FEB-91F5CAD58B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94E0B2-B991-89B6-3950-F43AA4DC2C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999138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287BA-850A-0FDA-0838-36FB1B077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22077A-1C3E-2E31-E02E-1A62045811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4D00C1-7027-DA27-A914-6D52D59439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0C82E5-7550-2D1F-0EEC-5B93D33FB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39224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28B73-6184-99FF-53B1-20C4AC73C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CD6407-0C33-B2A0-6342-175145C0EE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3FBD3A-A261-4C2C-F485-F270A59381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A7751B-0BD6-E65D-D008-B8028082D9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99606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D4917-DD2B-BD42-9766-89E563DAB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3AF4B2-27E2-5B2C-5BB0-7968097916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40092C-25DE-F632-2B04-CC1294E840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F01C55-399A-AA5D-FE02-C9EC05479A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22222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DC263-782A-E09F-58C2-66CF75F32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C4815A-0348-4358-003E-E996778864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1A0C0-57FE-38FE-F803-0EBF7A4C7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341679-5415-B9D0-ACE3-C0723B5CF7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4899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B6933-B52A-183F-6677-F96033984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22A855-CC75-9E1F-A268-8A0671CDF7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0C1198-DDC2-ED1E-F5CE-8380B21785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20EA2A-DC30-A819-3B44-66A4278DD4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91840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73049-61C1-CBE7-26B9-28B1AF5FF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237328-9FC6-D8C4-D17E-97EA649F30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B38C20-D8F3-BDC3-909C-84A59FE4B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5E810A-321F-CEF9-DAB9-EE75AF65DD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35419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CA69B-A6DB-C0EC-CC0E-80200DEF9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1C89E4-E41F-8A3C-8D9F-8CA7939F7C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C8DE93-CE2D-496C-D744-26B9D8A2BF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627E77-F257-B054-5C39-D4904EB4962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54930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2C994-7E03-5B80-8767-45263B725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1C2C12-6FB5-1F4C-F6E4-E26263A4A9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729051-3BDF-0D3B-8EF1-D454616859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63D0D1-5086-97B3-2137-5835A2F9C9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02378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52E242-934D-EE59-4D86-E56474F2E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C4B504-EBD1-59BC-3748-FDB5CA2A69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E1B62B-6DDD-662C-D676-7DCCDEBE84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39F0EF-B384-BDC6-260B-2025A19F17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297729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48FDF-E1E8-55EE-03A3-B85710100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24915F-9B9C-593B-A274-ECF305FC0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7221D8-D57A-0308-D8AC-21BA123198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ECEC28-BF05-96BA-A9BE-70176ABE98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557574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44D7A-0A66-A533-C879-602E70757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ED8F3E-FE5C-E3FB-8AAB-5E6AA90E61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7CD35C-6022-8A79-9E20-A6DFD3298B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E85754-8BA4-776E-0814-3C4DF699B0B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15515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7026C-D411-C0B8-540E-B9852727D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6FC588-B2BC-EFED-D9F3-8D499CEF72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7BF2D0-5E96-71EB-0CC5-FD285C396B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B2EFF6-FC83-74A4-85B5-1FCCF1DFD1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965511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D6C0C9-5863-AE7D-8C16-42BF53B8D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8F21EB-0104-99DC-DB26-BEF218A8F7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112485-45E9-5025-E6F8-AB57D71C09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716A5E-A298-8D51-3270-CE9DACF4068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69114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0C418-5213-3DFD-68A5-5B1DE174D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C9FD1C-401B-8EBE-6B7D-33D97243EB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5AC5FC-6811-CCF0-0465-C442B2EB90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1C6FCE-F881-5AFD-097A-ED26863A4C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668124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23266-080A-3AD3-F01A-D78E060C46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B75794-5241-28CF-7C3F-142148763C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0C8E7E-4B2E-1523-381D-150D5DD585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36FBB7-A43A-4A3F-28AC-768C7FDB8A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63856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8410F-C0DB-2C60-1B0D-6EC87C745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ED49EF-38A8-86F5-AA7E-31E55527C9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C0AF5C-52A0-A869-7FAE-8DB48D64AF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613B7B-59AF-4E9E-8484-3D0653FA74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07977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6D707-71C0-6CDC-1D20-31010E93C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EA5991-2BA1-F84C-0123-E3FE48288D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5F6742-F6E9-37DE-3A8C-5E8FFD2B98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A52066-21C3-D797-7840-35395ECE4A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825829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7FF00-9003-0BEB-E8C4-A49FD5335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C627EC-A1AA-9FBD-FE09-F1D92060C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A8CFC6-5606-3911-AA76-6A19E691F6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97D4F6-3454-EC65-4FD3-9ADAA8063E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6092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25B5D3-70C3-B049-4428-B18656523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EA5C89-0660-873F-0EB3-21155C9C2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03674A-E325-2F60-E669-2EEE1CDF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BB9BC2-C52F-C902-7A0F-914A9E18A8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42987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3C1E7-76F4-F7DD-1D5F-EBB31705D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C3DE70-F7AA-0002-388E-EB50B6B84F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5525AC-22B9-1363-7BE7-43E7C6C9B6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E31F98-DA83-95D5-514E-2EABD633F1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68718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F4164-89F5-E58A-C365-C3F894F4B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C2534E-6AF5-5FF8-036C-A866B57FCD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1901FC-6469-6660-CB11-10A8D48C0D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989B66-B510-93CB-FA0C-7D2046A1A4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07323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D1224-096B-EF10-6F76-4F225DD7A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261BE5-83D6-2C1E-43A8-4371440B42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398D00-AA77-C0A3-0023-32CA8E0C4B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884C7A-31DF-FCD0-746A-D6196DE0AC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18498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E3419-DD99-E8E5-B004-B40135A0D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B65FA5-0353-3F64-37B3-94E5F5E418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FD65F2-A09D-C516-6449-AAC849BB0A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27961A-AFA9-3A0F-EC92-5BCB75E2AD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42696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A8EF8A-FBFA-06DD-16DC-86DBA0F41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CDD152-7299-CF95-A34F-0F43A4BA13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D6CA10-BF82-FDE2-CE04-D36E8B0A05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E811BF-316C-D7A3-53AC-3453D151A0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81410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479F2-FD1F-1AE4-CDC2-8826FBA87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E1CEC2-432E-97AA-FB4E-107C86D975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5067A9-3DA8-50BF-8E0C-E9073E6A89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7E838-CCE7-A5CA-7AC7-DEE9EC2BE7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27338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37B655-44C3-1DB2-94CA-F7D275F9A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A0D29A-B146-6C7C-EAE6-55DF1140F9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98EC47-ABD7-005D-EBC3-DBC392ED9D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F10E5A-536D-57D8-EA57-9D19D87352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50790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F22DA-9525-BAE8-7509-C1B3C4FF8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D1FA4D-5DC4-E8C9-98A2-DDF933C3D1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E5DE2F-A62A-B057-615F-53CD688C16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176766-2D8A-1EA1-8EF2-801692F779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11322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52D4C-2BD5-7B1B-ED82-0208C3029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70E4EC-6881-C645-6756-B4EABD78BD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D78F06-1D58-2A4D-F84F-08AEF1E4C8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4D90B4-508C-EA25-4951-86ED411FE7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6729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9CED7-4974-1E8F-7112-3EA71EA82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659EA3-185C-875B-07FB-8FB54B2AD8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A4A3CB-7413-C9B9-CDC8-DA4DB31A90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CB7AE2-DC94-40F3-AFCD-A68F712215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61641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90310-17BB-C8DE-0B5A-85A4E5BE1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DA44A9-0784-1407-5337-3B418BE158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424C52-A049-B16E-3B57-2A629306C7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C04E3D-77DF-2B26-1A72-F4CEB08C0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48241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EDB1D-A5C7-974B-9B29-1A0AC8D85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87C90F-7A4A-E93C-9D28-D4E12EE1F0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8C8BC-4B5F-A67F-65D6-70ADE9A1B8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53F212-C859-9CC9-4BA1-BAA2E602F2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72273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EA76E-89F4-271E-CBEE-A48211139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7D7955-4B3F-18C7-A1CE-E67DBEBE0D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73812C-FDE1-DB67-380E-7F24EB5EB7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6EE8A6-2460-DD85-43D2-F3DE9C30E9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419681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B6701-9AC2-0D37-F33D-FA16DFE09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6EB15A-4CEA-E65A-96FA-21AA4D0573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B9A63-C716-DA4A-00F0-A690C2CFD5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2426D-7038-EDAA-AEC1-DD7A282E9B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867092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7229B-2FA2-A515-6002-9A74E7A40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A23DAB-64A5-93ED-0130-C2A204A082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893E6B-3122-CE3C-6356-AB068ADED1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1AF7B9-ED9F-1A41-1AE7-B9C0803755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6817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52F71-0000-A561-A6D6-9C91512BBD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96582-00E9-8168-4F4C-F95240779F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3BEB50-3A9A-86D9-E8CD-8D2801397A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36D94A-74BB-5F79-3E8F-5A10CBEE64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847865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64CC38-045C-C257-CBBC-79C859B2C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EFB4AA-80A7-0D73-0379-EAF98482C7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60A96C-3E7E-C470-78C6-F6FC44A6C2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39B9EA-FDC3-F252-18E6-F40A550FE0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0067057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02D1A-9D5C-BF89-E993-00DB31431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AA8636-A39B-2FA9-D918-E4563603E3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7FD100-7CA3-6D50-0C13-165E5D447C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34646B-C815-6605-EB62-32BBCCBA45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78011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B3EDB-B3E0-49F6-85FA-C2B4D5BD5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4C60E6-ACDA-EBBE-F38A-D062864F4E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BD46A0-6F3A-66DE-B90E-468BDD474E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239732-FA96-7A98-FA9E-E97B5D5949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487496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074461-D808-4EBD-B8B3-953FBFCC6ED3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6115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0D549-F609-4ED3-8963-AF0CBF3680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CAA17A-1098-419A-8585-E680D81178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9A151D-61BD-48D1-8C67-4C327383A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F2526-C75C-47BE-928B-0135A92A66BE}" type="datetimeFigureOut">
              <a:rPr lang="en-US" smtClean="0"/>
              <a:t>9/17/26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72C576-331D-4E09-88E2-6EB25C684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359541-EA62-4109-ABD5-F105A295B7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211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95D01-CAFE-4A1A-A804-F23913EB3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DBD820-3F0E-466E-9035-C5A24E697D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D017A9-4DF9-4FBC-8DFE-1AF8ABE96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F2526-C75C-47BE-928B-0135A92A66BE}" type="datetimeFigureOut">
              <a:rPr lang="en-US" smtClean="0"/>
              <a:t>9/17/26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C97CE-189D-45E0-91B2-04695DE2E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86EDA0-DDF2-410C-A702-40E5C32C2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285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84772-8467-4E19-8A52-A529C7B3DE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8A9D6B-AA2E-41FA-BDFC-46C87BDCF8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B5F044-85E8-449D-A4F3-7EAC9AD07B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F2526-C75C-47BE-928B-0135A92A66BE}" type="datetimeFigureOut">
              <a:rPr lang="en-US" smtClean="0"/>
              <a:t>9/17/26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068485-216E-4AEA-8404-05B4ACF615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557587-3E1F-480C-81BD-741C81CE4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8658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F0DC6-DE10-4E0B-BCBA-32E711C8A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C68941-20E5-4343-8250-265C6DAC54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677973-E72E-4CC0-8D61-FCCC8406C1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EFF417-B339-40DE-B352-1ECEDBB7B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F2526-C75C-47BE-928B-0135A92A66BE}" type="datetimeFigureOut">
              <a:rPr lang="en-US" smtClean="0"/>
              <a:t>9/17/26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45B31E-728B-4DBE-8BD9-E37BC320A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D743D7-ECE6-4EEE-A8EE-EFB4DBFE5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46457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5A82E-579C-45F5-A951-1E10C98D14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672278-8C31-4955-BCB5-81132BB5FB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B4B5AF-BC8F-4D55-B34E-3947255AEB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8C4CE63-7562-4D15-BD15-363CDC2145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0026435-DAAC-4A88-8E75-D1C9066E3A8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6F1FBD-42A5-4A9E-8F95-934AAA624C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F2526-C75C-47BE-928B-0135A92A66BE}" type="datetimeFigureOut">
              <a:rPr lang="en-US" smtClean="0"/>
              <a:t>9/17/26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63529DF-CBEB-4F8A-AE4A-1E17ED0E3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A11928E-44C3-496F-B06D-DE65B8B56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2585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1837D-0203-44E9-A800-75FB3F0C9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7691E0-63A3-4F58-8784-3CF3D4825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F2526-C75C-47BE-928B-0135A92A66BE}" type="datetimeFigureOut">
              <a:rPr lang="en-US" smtClean="0"/>
              <a:t>9/17/26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43B4FF-56D4-4561-8AA0-715AC2EF1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24245B-8F4F-4989-8B66-F14D9F460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14748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597D826-C0CD-4DA3-9804-3B37794D9B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F2526-C75C-47BE-928B-0135A92A66BE}" type="datetimeFigureOut">
              <a:rPr lang="en-US" smtClean="0"/>
              <a:t>9/17/26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B73DFA2-D509-44F1-BB96-FF03916E0E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BF2E06-E28D-4612-9A89-EBD147748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2002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9EA060-F102-4A2F-A00A-664EF5480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9E5B43-3611-4819-A036-8C5F1E42B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EA2AB7-BFE4-490A-AFEB-5A016701BA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585B19-24B8-4C1F-89D6-5412D09275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F2526-C75C-47BE-928B-0135A92A66BE}" type="datetimeFigureOut">
              <a:rPr lang="en-US" smtClean="0"/>
              <a:t>9/17/26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179F1F-F5FB-498D-A4C7-6EDC1DD78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A78AB6-BF35-4C0B-B331-22ED520AE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8721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6FE43-BAB1-41F0-BFF0-94DD8B3F4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2C826E6-5590-4624-A426-EE1A424BC7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D4AF21-041F-4FA7-87E4-B870EDA36B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47AF2C-DB15-4789-9385-B5DB533244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F2526-C75C-47BE-928B-0135A92A66BE}" type="datetimeFigureOut">
              <a:rPr lang="en-US" smtClean="0"/>
              <a:t>9/17/26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F65690-CB51-4930-B426-18021D38F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4FFDAB-4B46-4100-A689-0064DB52B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07250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74FE6-F914-41AA-88EC-E4EB246CE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76D8E4-7B81-43C8-9E0C-E6D9BBE6A4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C0A446-E986-479F-865A-253DDD95A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F2526-C75C-47BE-928B-0135A92A66BE}" type="datetimeFigureOut">
              <a:rPr lang="en-US" smtClean="0"/>
              <a:t>9/17/26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962C5E-6BC2-4157-896F-20C3B395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2CA8BB-B7DC-49ED-A1F9-454493196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9139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1BD8934-B74E-4AE0-B765-ECE3C9A074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A56AB3-C0E0-4C3D-B3A4-916BF6C313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742220-AFF0-42C5-AF12-AD2AC57698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F2526-C75C-47BE-928B-0135A92A66BE}" type="datetimeFigureOut">
              <a:rPr lang="en-US" smtClean="0"/>
              <a:t>9/17/26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BED1E5-E582-4C65-900E-24E56C3987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9EE9A6-F609-4B8B-AE51-59399BB00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5957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8D6E2E7-5F4D-4B43-B201-1C682CF80B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CA8DF1-9081-4F65-B36D-44EAFBA9C7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3121AD-9DC3-463F-98F7-B2E1CA5400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BF2526-C75C-47BE-928B-0135A92A66BE}" type="datetimeFigureOut">
              <a:rPr lang="en-US" smtClean="0"/>
              <a:t>9/17/26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00C0D7-400D-4BA6-BC06-CFC5FBDCFC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2E6C9D-08DD-4E4B-8A70-A4B32C36A2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3254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red-gate.com/hub/events/friends-of-rg/friend/ScottSauber" TargetMode="External"/><Relationship Id="rId13" Type="http://schemas.openxmlformats.org/officeDocument/2006/relationships/image" Target="../media/image6.png"/><Relationship Id="rId3" Type="http://schemas.openxmlformats.org/officeDocument/2006/relationships/hyperlink" Target="https://leantechniques.com/" TargetMode="External"/><Relationship Id="rId7" Type="http://schemas.openxmlformats.org/officeDocument/2006/relationships/hyperlink" Target="https://iowacodecamp.com/" TargetMode="External"/><Relationship Id="rId12" Type="http://schemas.openxmlformats.org/officeDocument/2006/relationships/image" Target="../media/image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meetup.com/iadnug/" TargetMode="External"/><Relationship Id="rId11" Type="http://schemas.openxmlformats.org/officeDocument/2006/relationships/image" Target="../media/image4.jpeg"/><Relationship Id="rId5" Type="http://schemas.openxmlformats.org/officeDocument/2006/relationships/hyperlink" Target="https://dometrain.com/author/scott-sauber/" TargetMode="External"/><Relationship Id="rId10" Type="http://schemas.openxmlformats.org/officeDocument/2006/relationships/image" Target="../media/image3.png"/><Relationship Id="rId4" Type="http://schemas.openxmlformats.org/officeDocument/2006/relationships/hyperlink" Target="https://mvp.microsoft.com/en-us/PublicProfile/5005146?fullName=Scott%20%20Sauber" TargetMode="External"/><Relationship Id="rId9" Type="http://schemas.openxmlformats.org/officeDocument/2006/relationships/image" Target="../media/image2.png"/><Relationship Id="rId1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gi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gi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zure/cloud-adoption-framework/ready/azure-best-practices/resource-naming#develop-your-naming-convention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mspnp/AzureNamingTool" TargetMode="External"/><Relationship Id="rId4" Type="http://schemas.openxmlformats.org/officeDocument/2006/relationships/hyperlink" Target="https://learn.microsoft.com/en-us/azure/cloud-adoption-framework/ready/azure-best-practices/resource-abbreviations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gi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gi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gif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gif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dotnet/azure/sdk/authentication/best-practices?tabs=aspdotnet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cottsauber.com/2022/05/10/improving-azure-key-vault-performance-in-asp-net-core-by-up-to-10x/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gif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sllabs.com/ssltest/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gif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actions/how-tos/secure-your-work/security-harden-deployments/oidc-in-azure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gif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gif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gif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gif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E7171-AFDD-4862-9A69-284665CD33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7425"/>
            <a:ext cx="12192000" cy="6783149"/>
          </a:xfrm>
        </p:spPr>
        <p:txBody>
          <a:bodyPr anchor="ctr">
            <a:normAutofit/>
          </a:bodyPr>
          <a:lstStyle/>
          <a:p>
            <a:r>
              <a:rPr lang="en-US" sz="77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The 10 Most Common </a:t>
            </a:r>
            <a:br>
              <a:rPr lang="en-US" sz="77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77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Azure Mistakes </a:t>
            </a:r>
            <a:br>
              <a:rPr lang="en-US" sz="77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45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(and how to fix them)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938EF936-BB12-46CA-86F7-049CEBB8D2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6295281"/>
            <a:ext cx="12192000" cy="525294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Slides at scottsauber.com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8F464C5-3076-4402-9791-59D524AC8DC8}"/>
              </a:ext>
            </a:extLst>
          </p:cNvPr>
          <p:cNvGrpSpPr/>
          <p:nvPr/>
        </p:nvGrpSpPr>
        <p:grpSpPr>
          <a:xfrm>
            <a:off x="10178979" y="6262845"/>
            <a:ext cx="2106544" cy="474323"/>
            <a:chOff x="9994831" y="6185410"/>
            <a:chExt cx="2106544" cy="474323"/>
          </a:xfrm>
        </p:grpSpPr>
        <p:pic>
          <p:nvPicPr>
            <p:cNvPr id="6" name="Picture 2" descr="Image result for twitter logo">
              <a:extLst>
                <a:ext uri="{FF2B5EF4-FFF2-40B4-BE49-F238E27FC236}">
                  <a16:creationId xmlns:a16="http://schemas.microsoft.com/office/drawing/2014/main" id="{BF5CBA11-98FF-4FEC-A8EF-50E5FADF0F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94831" y="6267602"/>
              <a:ext cx="328512" cy="2667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Subtitle 2">
              <a:extLst>
                <a:ext uri="{FF2B5EF4-FFF2-40B4-BE49-F238E27FC236}">
                  <a16:creationId xmlns:a16="http://schemas.microsoft.com/office/drawing/2014/main" id="{9B9DABC1-AB03-4BB4-80DE-954141378043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/>
                  </a:solidFill>
                </a:rPr>
                <a:t>scottsauber</a:t>
              </a:r>
              <a:endParaRPr lang="en-US" dirty="0">
                <a:solidFill>
                  <a:schemeClr val="bg1"/>
                </a:solidFill>
              </a:endParaRPr>
            </a:p>
          </p:txBody>
        </p:sp>
        <p:pic>
          <p:nvPicPr>
            <p:cNvPr id="8" name="Picture 2" descr="Image result for twitter logo">
              <a:extLst>
                <a:ext uri="{FF2B5EF4-FFF2-40B4-BE49-F238E27FC236}">
                  <a16:creationId xmlns:a16="http://schemas.microsoft.com/office/drawing/2014/main" id="{9312450C-A15A-4CF9-8CFC-DDCA027CB85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94831" y="6290606"/>
              <a:ext cx="328512" cy="2667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4306798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Audience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79637"/>
          </a:xfrm>
        </p:spPr>
        <p:txBody>
          <a:bodyPr>
            <a:normAutofit/>
          </a:bodyPr>
          <a:lstStyle/>
          <a:p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Anyone using Azure</a:t>
            </a:r>
          </a:p>
          <a:p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Technically some of these translate to AWS/GCP too</a:t>
            </a:r>
          </a:p>
        </p:txBody>
      </p:sp>
    </p:spTree>
    <p:extLst>
      <p:ext uri="{BB962C8B-B14F-4D97-AF65-F5344CB8AC3E}">
        <p14:creationId xmlns:p14="http://schemas.microsoft.com/office/powerpoint/2010/main" val="27641058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Poll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Who’s a </a:t>
            </a:r>
            <a:r>
              <a:rPr lang="en-US" strike="sngStrike" dirty="0"/>
              <a:t>Developer</a:t>
            </a:r>
            <a:r>
              <a:rPr lang="en-US" dirty="0"/>
              <a:t> Prompt Engineer?</a:t>
            </a:r>
          </a:p>
          <a:p>
            <a:r>
              <a:rPr lang="en-US" dirty="0"/>
              <a:t>Who’s a DevOps/Cloud/Platform Engineer?</a:t>
            </a:r>
          </a:p>
          <a:p>
            <a:r>
              <a:rPr lang="en-US" dirty="0"/>
              <a:t>Who’s responsible for their Azure environment?</a:t>
            </a:r>
          </a:p>
        </p:txBody>
      </p:sp>
    </p:spTree>
    <p:extLst>
      <p:ext uri="{BB962C8B-B14F-4D97-AF65-F5344CB8AC3E}">
        <p14:creationId xmlns:p14="http://schemas.microsoft.com/office/powerpoint/2010/main" val="548313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Series of lightning talks</a:t>
            </a:r>
          </a:p>
          <a:p>
            <a:r>
              <a:rPr lang="en-US" dirty="0"/>
              <a:t>Account Organization</a:t>
            </a:r>
          </a:p>
          <a:p>
            <a:r>
              <a:rPr lang="en-US" dirty="0"/>
              <a:t>Naming Standards</a:t>
            </a:r>
          </a:p>
          <a:p>
            <a:r>
              <a:rPr lang="en-US" dirty="0"/>
              <a:t>Tagging Standards</a:t>
            </a:r>
          </a:p>
          <a:p>
            <a:r>
              <a:rPr lang="en-US" dirty="0"/>
              <a:t>Azure Policies</a:t>
            </a:r>
          </a:p>
          <a:p>
            <a:r>
              <a:rPr lang="en-US" dirty="0"/>
              <a:t>Managed Identities</a:t>
            </a:r>
          </a:p>
          <a:p>
            <a:r>
              <a:rPr lang="en-US" dirty="0" err="1"/>
              <a:t>DefaultAzureCredential</a:t>
            </a:r>
            <a:endParaRPr lang="en-US" dirty="0"/>
          </a:p>
          <a:p>
            <a:r>
              <a:rPr lang="en-US" dirty="0"/>
              <a:t>Requiring TLS 1.2+</a:t>
            </a:r>
          </a:p>
          <a:p>
            <a:r>
              <a:rPr lang="en-US" dirty="0"/>
              <a:t>Federated Credentials</a:t>
            </a:r>
          </a:p>
          <a:p>
            <a:r>
              <a:rPr lang="en-US" dirty="0"/>
              <a:t>Budgets and Cost Alerting</a:t>
            </a:r>
          </a:p>
          <a:p>
            <a:r>
              <a:rPr lang="en-US" dirty="0"/>
              <a:t>Reservations</a:t>
            </a:r>
          </a:p>
          <a:p>
            <a:r>
              <a:rPr lang="en-US" dirty="0"/>
              <a:t>Savings Plans</a:t>
            </a:r>
          </a:p>
          <a:p>
            <a:r>
              <a:rPr lang="en-US" dirty="0"/>
              <a:t>++ AI topics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6743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34108"/>
          </a:xfrm>
        </p:spPr>
        <p:txBody>
          <a:bodyPr>
            <a:normAutofit/>
          </a:bodyPr>
          <a:lstStyle/>
          <a:p>
            <a:r>
              <a:rPr lang="en-US" dirty="0"/>
              <a:t>Ideas on how to make your Azure more maintainable, cost effective, and more performant</a:t>
            </a:r>
          </a:p>
          <a:p>
            <a:r>
              <a:rPr lang="en-US" dirty="0"/>
              <a:t>At least one idea that you can go implement immediately at work</a:t>
            </a:r>
          </a:p>
        </p:txBody>
      </p:sp>
    </p:spTree>
    <p:extLst>
      <p:ext uri="{BB962C8B-B14F-4D97-AF65-F5344CB8AC3E}">
        <p14:creationId xmlns:p14="http://schemas.microsoft.com/office/powerpoint/2010/main" val="10475384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Who am I?	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9951720" cy="4351338"/>
          </a:xfrm>
        </p:spPr>
        <p:txBody>
          <a:bodyPr/>
          <a:lstStyle/>
          <a:p>
            <a:r>
              <a:rPr lang="en-US" dirty="0"/>
              <a:t>Director of Engineering at </a:t>
            </a:r>
            <a:r>
              <a:rPr lang="en-US" dirty="0">
                <a:hlinkClick r:id="rId3"/>
              </a:rPr>
              <a:t>Lean </a:t>
            </a:r>
            <a:r>
              <a:rPr lang="en-US" dirty="0" err="1">
                <a:hlinkClick r:id="rId3"/>
              </a:rPr>
              <a:t>TECHniques</a:t>
            </a:r>
            <a:endParaRPr lang="en-US" dirty="0"/>
          </a:p>
          <a:p>
            <a:r>
              <a:rPr lang="en-US" dirty="0">
                <a:hlinkClick r:id="rId4"/>
              </a:rPr>
              <a:t>Microsoft MVP</a:t>
            </a:r>
            <a:endParaRPr lang="en-US" dirty="0"/>
          </a:p>
          <a:p>
            <a:r>
              <a:rPr lang="en-US" dirty="0" err="1">
                <a:hlinkClick r:id="rId5"/>
              </a:rPr>
              <a:t>Dometrain</a:t>
            </a:r>
            <a:r>
              <a:rPr lang="en-US" dirty="0">
                <a:hlinkClick r:id="rId5"/>
              </a:rPr>
              <a:t> Author</a:t>
            </a:r>
            <a:endParaRPr lang="en-US" dirty="0"/>
          </a:p>
          <a:p>
            <a:r>
              <a:rPr lang="en-US" dirty="0"/>
              <a:t>Redgate Community Ambassador</a:t>
            </a:r>
          </a:p>
          <a:p>
            <a:r>
              <a:rPr lang="en-US" dirty="0"/>
              <a:t>Co-organizer of </a:t>
            </a:r>
            <a:r>
              <a:rPr lang="en-US" dirty="0">
                <a:hlinkClick r:id="rId6"/>
              </a:rPr>
              <a:t>Iowa .NET User Group</a:t>
            </a:r>
            <a:r>
              <a:rPr lang="en-US" dirty="0"/>
              <a:t> and </a:t>
            </a:r>
            <a:r>
              <a:rPr lang="en-US" dirty="0">
                <a:hlinkClick r:id="rId7"/>
              </a:rPr>
              <a:t>Iowa Code Camp</a:t>
            </a:r>
            <a:endParaRPr lang="en-US" dirty="0">
              <a:hlinkClick r:id="rId8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E7CC776C-DC3F-D0B5-5231-4112653EFC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1540000">
            <a:off x="7545567" y="4883185"/>
            <a:ext cx="2346996" cy="1443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E6AE3F5-A57F-F976-3F78-41D6E87C255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4794" y="4692049"/>
            <a:ext cx="1759676" cy="1759676"/>
          </a:xfrm>
          <a:prstGeom prst="rect">
            <a:avLst/>
          </a:prstGeom>
        </p:spPr>
      </p:pic>
      <p:pic>
        <p:nvPicPr>
          <p:cNvPr id="7" name="Picture 2" descr="Microsoft MVP Communities (@MVPAward) / X">
            <a:extLst>
              <a:ext uri="{FF2B5EF4-FFF2-40B4-BE49-F238E27FC236}">
                <a16:creationId xmlns:a16="http://schemas.microsoft.com/office/drawing/2014/main" id="{C67B11EE-26D8-F622-00D3-C0E2B30A30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5308" y="4959710"/>
            <a:ext cx="1285642" cy="12856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6" descr="Courses crafted for the real world - Dometrain">
            <a:extLst>
              <a:ext uri="{FF2B5EF4-FFF2-40B4-BE49-F238E27FC236}">
                <a16:creationId xmlns:a16="http://schemas.microsoft.com/office/drawing/2014/main" id="{64A20FB0-C1F9-33B8-D3BE-E1825A53CA8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33" r="17323"/>
          <a:stretch/>
        </p:blipFill>
        <p:spPr bwMode="auto">
          <a:xfrm>
            <a:off x="4210094" y="4959711"/>
            <a:ext cx="1607558" cy="12856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 descr="Directory | Redgate Software">
            <a:extLst>
              <a:ext uri="{FF2B5EF4-FFF2-40B4-BE49-F238E27FC236}">
                <a16:creationId xmlns:a16="http://schemas.microsoft.com/office/drawing/2014/main" id="{E3052ACE-16D8-EE1A-A393-F0760EDE47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8983" y="4959711"/>
            <a:ext cx="1012835" cy="1352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IowaCodeCamp (@iowacodecamp) / X">
            <a:extLst>
              <a:ext uri="{FF2B5EF4-FFF2-40B4-BE49-F238E27FC236}">
                <a16:creationId xmlns:a16="http://schemas.microsoft.com/office/drawing/2014/main" id="{562B245C-8966-C881-D42E-1DDFB56925E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117578" y="4618133"/>
            <a:ext cx="1833592" cy="1833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819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8C20D-6753-8776-8FD9-DE3727915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689B6-EC11-CBB8-D71F-416DA7FF3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Why this talk?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6328A123-ACC7-DC8C-C8B7-6BA53C3DA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20516" y="1532427"/>
            <a:ext cx="7750968" cy="5167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37356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642F2-9FE9-CDEB-50DE-9C40F8C1F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CB980-6C2C-DFFC-8C7E-54AA267C9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2026 version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DCBDFDB-7C9C-7DAF-F715-182881E090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2983" y="1360450"/>
            <a:ext cx="5506034" cy="5497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5832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2C5BB-BED7-2A5E-9192-C5EEA4A82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CE7693-B993-13B6-C74A-2ECAE8857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2026 version – but with lifting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C4D164-0076-68CC-5E39-546460EF7B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1420" y="1422526"/>
            <a:ext cx="5349160" cy="5357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30296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E7171-AFDD-4862-9A69-284665CD33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Account Organization</a:t>
            </a:r>
          </a:p>
        </p:txBody>
      </p:sp>
      <p:pic>
        <p:nvPicPr>
          <p:cNvPr id="10" name="Picture 2" descr="https://18670-presscdn-pagely.netdna-ssl.com/wp-content/uploads/2016/08/color-coded-5.gif">
            <a:extLst>
              <a:ext uri="{FF2B5EF4-FFF2-40B4-BE49-F238E27FC236}">
                <a16:creationId xmlns:a16="http://schemas.microsoft.com/office/drawing/2014/main" id="{267884F5-BF03-43FF-B2F6-D21013C15136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73756" y="3510944"/>
            <a:ext cx="5044487" cy="2522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23560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Subscriptions vs Resource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Ignoring Management Groups </a:t>
            </a:r>
            <a:r>
              <a:rPr lang="en-US" dirty="0" err="1"/>
              <a:t>bc</a:t>
            </a:r>
            <a:r>
              <a:rPr lang="en-US" dirty="0"/>
              <a:t> you probably don’t care about those</a:t>
            </a:r>
          </a:p>
          <a:p>
            <a:endParaRPr lang="en-US" dirty="0"/>
          </a:p>
        </p:txBody>
      </p:sp>
      <p:pic>
        <p:nvPicPr>
          <p:cNvPr id="3076" name="Picture 4" descr="Azure management groups and subscriptions">
            <a:extLst>
              <a:ext uri="{FF2B5EF4-FFF2-40B4-BE49-F238E27FC236}">
                <a16:creationId xmlns:a16="http://schemas.microsoft.com/office/drawing/2014/main" id="{ED7FC624-757F-DB63-E624-C483E6160E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5519" y="2514743"/>
            <a:ext cx="5499100" cy="3568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F66F9BAA-D41A-5ACB-D4C3-043B7AAD4D88}"/>
              </a:ext>
            </a:extLst>
          </p:cNvPr>
          <p:cNvSpPr txBox="1">
            <a:spLocks/>
          </p:cNvSpPr>
          <p:nvPr/>
        </p:nvSpPr>
        <p:spPr>
          <a:xfrm>
            <a:off x="0" y="36937"/>
            <a:ext cx="12192000" cy="328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Tip 1: Account Organization</a:t>
            </a:r>
          </a:p>
        </p:txBody>
      </p:sp>
    </p:spTree>
    <p:extLst>
      <p:ext uri="{BB962C8B-B14F-4D97-AF65-F5344CB8AC3E}">
        <p14:creationId xmlns:p14="http://schemas.microsoft.com/office/powerpoint/2010/main" val="3778144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81FA2-E87D-3A9C-460E-2F27CEA11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F30BE-8A3A-E010-85B0-96065D36D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Problem: Account Organization is a mess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FC21B5-C0AD-C6CF-CC4C-08C95BB7CD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One Subscription to rule them all</a:t>
            </a:r>
          </a:p>
          <a:p>
            <a:r>
              <a:rPr lang="en-US" dirty="0"/>
              <a:t>Subscriptions named by app sometimes and by team other times</a:t>
            </a:r>
          </a:p>
          <a:p>
            <a:r>
              <a:rPr lang="en-US" dirty="0"/>
              <a:t>Resource Groups with no real structure</a:t>
            </a:r>
          </a:p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6C68C55-F622-A4B3-E7CE-3EAAC7533ED4}"/>
              </a:ext>
            </a:extLst>
          </p:cNvPr>
          <p:cNvSpPr txBox="1">
            <a:spLocks/>
          </p:cNvSpPr>
          <p:nvPr/>
        </p:nvSpPr>
        <p:spPr>
          <a:xfrm>
            <a:off x="0" y="36937"/>
            <a:ext cx="12192000" cy="328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Tip 1: Account Organization</a:t>
            </a:r>
          </a:p>
        </p:txBody>
      </p:sp>
    </p:spTree>
    <p:extLst>
      <p:ext uri="{BB962C8B-B14F-4D97-AF65-F5344CB8AC3E}">
        <p14:creationId xmlns:p14="http://schemas.microsoft.com/office/powerpoint/2010/main" val="619771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09F02-EB82-311D-8FFA-82F79EC31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BF5A4-F360-290E-79A4-E22658519B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353800" cy="1325563"/>
          </a:xfrm>
        </p:spPr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Solution: Develop Account Organization Strategy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18CA0D-9BE7-63F8-B8C2-8E2D6FB2C4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Subscriptions - It Depends™️</a:t>
            </a:r>
          </a:p>
          <a:p>
            <a:pPr lvl="1"/>
            <a:r>
              <a:rPr lang="en-US" dirty="0"/>
              <a:t>Minimum: per environment boundaries</a:t>
            </a:r>
          </a:p>
          <a:p>
            <a:pPr lvl="1"/>
            <a:r>
              <a:rPr lang="en-US" dirty="0"/>
              <a:t>Maximum: per team per environment boundaries</a:t>
            </a:r>
          </a:p>
          <a:p>
            <a:r>
              <a:rPr lang="en-US" dirty="0"/>
              <a:t>Resource Groups – always per app per environment</a:t>
            </a:r>
          </a:p>
          <a:p>
            <a:r>
              <a:rPr lang="en-US" dirty="0"/>
              <a:t>Service Groups – new as of May 2025</a:t>
            </a:r>
          </a:p>
          <a:p>
            <a:pPr lvl="1"/>
            <a:r>
              <a:rPr lang="en-US" dirty="0"/>
              <a:t>Fancy tags</a:t>
            </a:r>
          </a:p>
          <a:p>
            <a:pPr lvl="1"/>
            <a:r>
              <a:rPr lang="en-US" dirty="0"/>
              <a:t>Overlay to pull together across subscriptions, resource groups, </a:t>
            </a:r>
            <a:r>
              <a:rPr lang="en-US" dirty="0" err="1"/>
              <a:t>etc</a:t>
            </a:r>
            <a:r>
              <a:rPr lang="en-US" dirty="0"/>
              <a:t> – </a:t>
            </a:r>
            <a:r>
              <a:rPr lang="en-US" dirty="0" err="1"/>
              <a:t>ie</a:t>
            </a:r>
            <a:r>
              <a:rPr lang="en-US" dirty="0"/>
              <a:t> “Production apps” or “PCI Scope” or “</a:t>
            </a:r>
            <a:r>
              <a:rPr lang="en-US" dirty="0" err="1"/>
              <a:t>MyApp</a:t>
            </a:r>
            <a:r>
              <a:rPr lang="en-US" dirty="0"/>
              <a:t>”</a:t>
            </a:r>
          </a:p>
          <a:p>
            <a:pPr lvl="1"/>
            <a:r>
              <a:rPr lang="en-US" dirty="0"/>
              <a:t>Still in Preview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01D68FC-9F9D-C6A7-B498-173A17FF393D}"/>
              </a:ext>
            </a:extLst>
          </p:cNvPr>
          <p:cNvSpPr txBox="1">
            <a:spLocks/>
          </p:cNvSpPr>
          <p:nvPr/>
        </p:nvSpPr>
        <p:spPr>
          <a:xfrm>
            <a:off x="0" y="36937"/>
            <a:ext cx="12192000" cy="328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Tip 1: Account Organization</a:t>
            </a:r>
          </a:p>
        </p:txBody>
      </p:sp>
    </p:spTree>
    <p:extLst>
      <p:ext uri="{BB962C8B-B14F-4D97-AF65-F5344CB8AC3E}">
        <p14:creationId xmlns:p14="http://schemas.microsoft.com/office/powerpoint/2010/main" val="2808686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B3FD7A-72F7-78FF-F541-1B87BAC03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91664-E9CC-5B20-3A9A-4EEDFA2FFD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Naming Standards</a:t>
            </a:r>
          </a:p>
        </p:txBody>
      </p:sp>
      <p:pic>
        <p:nvPicPr>
          <p:cNvPr id="2050" name="Picture 2" descr="any name | Trending Gifs">
            <a:extLst>
              <a:ext uri="{FF2B5EF4-FFF2-40B4-BE49-F238E27FC236}">
                <a16:creationId xmlns:a16="http://schemas.microsoft.com/office/drawing/2014/main" id="{A654FD14-4122-51AF-09AE-3439498AD4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4750" y="3499339"/>
            <a:ext cx="4762500" cy="2676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56968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8B640-BC1A-98B7-60B0-466C3731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4B367B-61B8-ACE8-AAB3-A5C7673CF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Problem: Naming is a mess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A36603-DCD1-4D95-99C3-126184C6DB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Naming has no consistency across apps, teams, divisions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2A5763D-0E77-11D5-097B-ADA38F9CE12C}"/>
              </a:ext>
            </a:extLst>
          </p:cNvPr>
          <p:cNvSpPr txBox="1">
            <a:spLocks/>
          </p:cNvSpPr>
          <p:nvPr/>
        </p:nvSpPr>
        <p:spPr>
          <a:xfrm>
            <a:off x="0" y="36937"/>
            <a:ext cx="12192000" cy="328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Tip 2: Naming Standards</a:t>
            </a:r>
          </a:p>
        </p:txBody>
      </p:sp>
    </p:spTree>
    <p:extLst>
      <p:ext uri="{BB962C8B-B14F-4D97-AF65-F5344CB8AC3E}">
        <p14:creationId xmlns:p14="http://schemas.microsoft.com/office/powerpoint/2010/main" val="2358596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20679-468F-2AF4-01B0-41FF875AD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48894-9BA1-9ECE-3D11-58B77D0EC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Solution: Implement a Naming Standard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C40EA-6AEA-7424-1FA8-702F20802F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Microsoft has a </a:t>
            </a:r>
            <a:r>
              <a:rPr lang="en-US" dirty="0">
                <a:hlinkClick r:id="rId3"/>
              </a:rPr>
              <a:t>recommended naming convention</a:t>
            </a:r>
            <a:r>
              <a:rPr lang="en-US" dirty="0"/>
              <a:t> based on </a:t>
            </a:r>
            <a:r>
              <a:rPr lang="en-US" dirty="0">
                <a:hlinkClick r:id="rId4"/>
              </a:rPr>
              <a:t>recommended abbreviations</a:t>
            </a:r>
            <a:endParaRPr lang="en-US" dirty="0"/>
          </a:p>
          <a:p>
            <a:r>
              <a:rPr lang="en-US" dirty="0"/>
              <a:t>Example: app-navigator-dev-001 for an application called Navigator, that’s an App Service running in the Dev env</a:t>
            </a:r>
          </a:p>
          <a:p>
            <a:r>
              <a:rPr lang="en-US" dirty="0"/>
              <a:t>Azure has a </a:t>
            </a:r>
            <a:r>
              <a:rPr lang="en-US" dirty="0">
                <a:hlinkClick r:id="rId5"/>
              </a:rPr>
              <a:t>naming tool </a:t>
            </a:r>
            <a:r>
              <a:rPr lang="en-US" dirty="0"/>
              <a:t>you can run</a:t>
            </a:r>
          </a:p>
          <a:p>
            <a:r>
              <a:rPr lang="en-US" dirty="0" err="1"/>
              <a:t>AzureNamingTool</a:t>
            </a:r>
            <a:endParaRPr lang="en-US" dirty="0"/>
          </a:p>
          <a:p>
            <a:r>
              <a:rPr lang="en-US" dirty="0"/>
              <a:t>More important that you pick something and be consistent</a:t>
            </a:r>
          </a:p>
          <a:p>
            <a:r>
              <a:rPr lang="en-US" dirty="0"/>
              <a:t>Storage accounts don’t allow dashes </a:t>
            </a:r>
            <a:r>
              <a:rPr lang="en-US" dirty="0">
                <a:sym typeface="Wingdings" pitchFamily="2" charset="2"/>
              </a:rPr>
              <a:t></a:t>
            </a:r>
            <a:endParaRPr lang="en-US" dirty="0"/>
          </a:p>
          <a:p>
            <a:r>
              <a:rPr lang="en-US" dirty="0"/>
              <a:t>Enforce with Azure Policy (more soon)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A615AE1-5473-3799-795A-36E2A0FCE7FA}"/>
              </a:ext>
            </a:extLst>
          </p:cNvPr>
          <p:cNvSpPr txBox="1">
            <a:spLocks/>
          </p:cNvSpPr>
          <p:nvPr/>
        </p:nvSpPr>
        <p:spPr>
          <a:xfrm>
            <a:off x="0" y="36937"/>
            <a:ext cx="12192000" cy="328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Tip 2: Naming Standards</a:t>
            </a:r>
          </a:p>
        </p:txBody>
      </p:sp>
    </p:spTree>
    <p:extLst>
      <p:ext uri="{BB962C8B-B14F-4D97-AF65-F5344CB8AC3E}">
        <p14:creationId xmlns:p14="http://schemas.microsoft.com/office/powerpoint/2010/main" val="36608775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4ECB3C-947A-DFA4-C762-024A19CE9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46CE2-EBD9-5B6C-4809-1C40B47414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Tagging Standards</a:t>
            </a:r>
          </a:p>
        </p:txBody>
      </p:sp>
      <p:pic>
        <p:nvPicPr>
          <p:cNvPr id="3074" name="Picture 2" descr="Tag GIFs | Tenor">
            <a:extLst>
              <a:ext uri="{FF2B5EF4-FFF2-40B4-BE49-F238E27FC236}">
                <a16:creationId xmlns:a16="http://schemas.microsoft.com/office/drawing/2014/main" id="{8367E78B-ECD7-2649-68DF-B277187030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1527" y="3699730"/>
            <a:ext cx="4128946" cy="21207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72957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3A779-07C3-CAC6-9D9A-C8E77C771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6D6B4E-6362-E9D8-3127-9B5B54C1D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Problem: Tagging is a mess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C50B0C-8C32-60FC-99FA-B18E209FE0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Tags are metadata about the resource</a:t>
            </a:r>
          </a:p>
          <a:p>
            <a:r>
              <a:rPr lang="en-US" dirty="0"/>
              <a:t>No consistent tags</a:t>
            </a:r>
          </a:p>
          <a:p>
            <a:r>
              <a:rPr lang="en-US" dirty="0"/>
              <a:t>Makes it hard to answer questions like: </a:t>
            </a:r>
          </a:p>
          <a:p>
            <a:pPr lvl="1"/>
            <a:r>
              <a:rPr lang="en-US" dirty="0"/>
              <a:t>How much does this app cost me a month?</a:t>
            </a:r>
          </a:p>
          <a:p>
            <a:pPr lvl="1"/>
            <a:r>
              <a:rPr lang="en-US" dirty="0"/>
              <a:t>How much does the Dev environment cost me a month?`</a:t>
            </a:r>
          </a:p>
          <a:p>
            <a:pPr lvl="1"/>
            <a:r>
              <a:rPr lang="en-US" dirty="0"/>
              <a:t>Who owns this resource?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F569998-7F80-B743-DA35-FDE98FA9D5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488" y="4836991"/>
            <a:ext cx="11175023" cy="173847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E2811F26-C994-91BD-36ED-9EF44BDC6906}"/>
              </a:ext>
            </a:extLst>
          </p:cNvPr>
          <p:cNvSpPr txBox="1">
            <a:spLocks/>
          </p:cNvSpPr>
          <p:nvPr/>
        </p:nvSpPr>
        <p:spPr>
          <a:xfrm>
            <a:off x="0" y="36937"/>
            <a:ext cx="12192000" cy="328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Tip 3: Tagging Standards</a:t>
            </a:r>
          </a:p>
        </p:txBody>
      </p:sp>
    </p:spTree>
    <p:extLst>
      <p:ext uri="{BB962C8B-B14F-4D97-AF65-F5344CB8AC3E}">
        <p14:creationId xmlns:p14="http://schemas.microsoft.com/office/powerpoint/2010/main" val="319934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04743-A093-5927-C780-ADC1178BD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6F9CB-C980-4130-2207-4451669F81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Solution: Implement a Tagging Standard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F77766-2601-2412-A250-BBAC8D402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Define a common set of Tags to be used on each resource</a:t>
            </a:r>
          </a:p>
          <a:p>
            <a:r>
              <a:rPr lang="en-US" dirty="0"/>
              <a:t>Common tags:</a:t>
            </a:r>
          </a:p>
          <a:p>
            <a:pPr lvl="1"/>
            <a:r>
              <a:rPr lang="en-US" dirty="0"/>
              <a:t>Environment (Dev, Test, Production)</a:t>
            </a:r>
          </a:p>
          <a:p>
            <a:pPr lvl="1"/>
            <a:r>
              <a:rPr lang="en-US" dirty="0"/>
              <a:t>Owner (</a:t>
            </a:r>
            <a:r>
              <a:rPr lang="en-US" dirty="0" err="1"/>
              <a:t>team.name@contoso.com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BusinessUnit</a:t>
            </a:r>
            <a:r>
              <a:rPr lang="en-US" dirty="0"/>
              <a:t> (Finance, Sales,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Application (CRM, </a:t>
            </a:r>
            <a:r>
              <a:rPr lang="en-US" dirty="0" err="1"/>
              <a:t>PaymentsPortal</a:t>
            </a:r>
            <a:r>
              <a:rPr lang="en-US" dirty="0"/>
              <a:t>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CostCenter</a:t>
            </a:r>
            <a:r>
              <a:rPr lang="en-US" dirty="0"/>
              <a:t> (abc123,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ServiceClass</a:t>
            </a:r>
            <a:r>
              <a:rPr lang="en-US" dirty="0"/>
              <a:t> (Tier1, Tier2,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r>
              <a:rPr lang="en-US" dirty="0"/>
              <a:t>Enforce with Azure Policy (more next)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60024E0-FEF3-53E1-6DB9-D84AB16596C2}"/>
              </a:ext>
            </a:extLst>
          </p:cNvPr>
          <p:cNvSpPr txBox="1">
            <a:spLocks/>
          </p:cNvSpPr>
          <p:nvPr/>
        </p:nvSpPr>
        <p:spPr>
          <a:xfrm>
            <a:off x="0" y="36937"/>
            <a:ext cx="12192000" cy="328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Tip 3: Tagging Standards</a:t>
            </a:r>
          </a:p>
        </p:txBody>
      </p:sp>
    </p:spTree>
    <p:extLst>
      <p:ext uri="{BB962C8B-B14F-4D97-AF65-F5344CB8AC3E}">
        <p14:creationId xmlns:p14="http://schemas.microsoft.com/office/powerpoint/2010/main" val="1827671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B29C12-02EC-FB86-1EDA-64C3DF709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F5CA1-6B23-0077-BF4F-8E556A4157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Azure Policies</a:t>
            </a:r>
          </a:p>
        </p:txBody>
      </p:sp>
      <p:pic>
        <p:nvPicPr>
          <p:cNvPr id="4098" name="Picture 2" descr="Against The Rules GIFs | Tenor">
            <a:extLst>
              <a:ext uri="{FF2B5EF4-FFF2-40B4-BE49-F238E27FC236}">
                <a16:creationId xmlns:a16="http://schemas.microsoft.com/office/drawing/2014/main" id="{9FAAC313-FCDB-5C39-5093-9801EC406A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1217" y="3429000"/>
            <a:ext cx="3849566" cy="30271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7654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0AFCEA-2600-A72A-9A03-FD03BEAAE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816AAE-4EC8-A2FE-926E-A04EBAB92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Problem: We aren’t enforcing our standards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EE8086-E064-1157-4D9B-BDCCBAEFD9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You have a document defining standards</a:t>
            </a:r>
          </a:p>
          <a:p>
            <a:r>
              <a:rPr lang="en-US" dirty="0"/>
              <a:t>But it’s not followed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FEEB6F4-0B24-3D4C-96D2-DFC199B81865}"/>
              </a:ext>
            </a:extLst>
          </p:cNvPr>
          <p:cNvSpPr txBox="1">
            <a:spLocks/>
          </p:cNvSpPr>
          <p:nvPr/>
        </p:nvSpPr>
        <p:spPr>
          <a:xfrm>
            <a:off x="0" y="36937"/>
            <a:ext cx="12192000" cy="328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Tip 4: Azure Policies</a:t>
            </a:r>
          </a:p>
        </p:txBody>
      </p:sp>
    </p:spTree>
    <p:extLst>
      <p:ext uri="{BB962C8B-B14F-4D97-AF65-F5344CB8AC3E}">
        <p14:creationId xmlns:p14="http://schemas.microsoft.com/office/powerpoint/2010/main" val="1979763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FB4F2-66E8-D12B-1026-498F2A6FD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C646C-9CF8-BDA3-5C39-FC5267E58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Solution: Azure Policies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D08F82-2C5C-B4D8-CDC2-70AD6B8694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Azure Policies can enforce your naming standards</a:t>
            </a:r>
          </a:p>
          <a:p>
            <a:r>
              <a:rPr lang="en-US" dirty="0"/>
              <a:t>And your tagging standards</a:t>
            </a:r>
          </a:p>
          <a:p>
            <a:r>
              <a:rPr lang="en-US" dirty="0"/>
              <a:t>Can have multiple Policy Effects:</a:t>
            </a:r>
          </a:p>
          <a:p>
            <a:pPr lvl="1"/>
            <a:r>
              <a:rPr lang="en-US" dirty="0"/>
              <a:t>Deny resources from being created - PREFERRED</a:t>
            </a:r>
          </a:p>
          <a:p>
            <a:pPr lvl="1"/>
            <a:r>
              <a:rPr lang="en-US" dirty="0"/>
              <a:t>Audit - flag it as non-compliant</a:t>
            </a:r>
          </a:p>
          <a:p>
            <a:pPr lvl="1"/>
            <a:r>
              <a:rPr lang="en-US" dirty="0"/>
              <a:t>Modify – auto change it – DON’T DO THIS</a:t>
            </a:r>
          </a:p>
          <a:p>
            <a:r>
              <a:rPr lang="en-US" dirty="0"/>
              <a:t>Can ensure resources are configured correctly too</a:t>
            </a:r>
          </a:p>
          <a:p>
            <a:pPr lvl="1"/>
            <a:r>
              <a:rPr lang="en-US" dirty="0"/>
              <a:t>Ensure HTTPS enforcement</a:t>
            </a:r>
          </a:p>
          <a:p>
            <a:pPr lvl="1"/>
            <a:r>
              <a:rPr lang="en-US" dirty="0"/>
              <a:t>SQL has Data Encryption at rest turned on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A2A5735-46A7-0987-D94A-B94520E11585}"/>
              </a:ext>
            </a:extLst>
          </p:cNvPr>
          <p:cNvSpPr txBox="1">
            <a:spLocks/>
          </p:cNvSpPr>
          <p:nvPr/>
        </p:nvSpPr>
        <p:spPr>
          <a:xfrm>
            <a:off x="0" y="36937"/>
            <a:ext cx="12192000" cy="328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Tip 4: Azure Policies</a:t>
            </a:r>
          </a:p>
        </p:txBody>
      </p:sp>
    </p:spTree>
    <p:extLst>
      <p:ext uri="{BB962C8B-B14F-4D97-AF65-F5344CB8AC3E}">
        <p14:creationId xmlns:p14="http://schemas.microsoft.com/office/powerpoint/2010/main" val="3656652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6D1475-8F32-1161-AFA9-87690368F1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7C27C-8BEB-DED5-D195-94A0DCB5E1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Managed Identities</a:t>
            </a:r>
          </a:p>
        </p:txBody>
      </p:sp>
      <p:pic>
        <p:nvPicPr>
          <p:cNvPr id="5122" name="Picture 2" descr="Whats The Password GIFs | Tenor">
            <a:extLst>
              <a:ext uri="{FF2B5EF4-FFF2-40B4-BE49-F238E27FC236}">
                <a16:creationId xmlns:a16="http://schemas.microsoft.com/office/drawing/2014/main" id="{C9BF20A5-DDF7-3759-4703-16C571D4C6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8175" y="3599353"/>
            <a:ext cx="3295650" cy="27563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676174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50BEB-B476-90C6-0DA4-16AC63864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03191-9EA7-A5AC-36BF-12D00EA334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Problem: We are managing credentials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6B1382-FE43-B1E7-D21E-B0EC9AB2F7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Credentials to manage – create, store, rotate, revoke</a:t>
            </a:r>
          </a:p>
          <a:p>
            <a:r>
              <a:rPr lang="en-US" dirty="0"/>
              <a:t>Azure SQL still using SQL Auth – username + password</a:t>
            </a:r>
          </a:p>
          <a:p>
            <a:r>
              <a:rPr lang="en-US" dirty="0"/>
              <a:t>Key Vault still using Client ID + Client Secret</a:t>
            </a:r>
          </a:p>
          <a:p>
            <a:r>
              <a:rPr lang="en-US" dirty="0"/>
              <a:t>Azure Blob Storage Account access keys</a:t>
            </a:r>
          </a:p>
          <a:p>
            <a:r>
              <a:rPr lang="en-US" dirty="0"/>
              <a:t>Azure Service Bus using connection strings</a:t>
            </a:r>
          </a:p>
          <a:p>
            <a:r>
              <a:rPr lang="en-US" dirty="0"/>
              <a:t>Someone might accidentally commit a secret</a:t>
            </a:r>
          </a:p>
          <a:p>
            <a:r>
              <a:rPr lang="en-US" dirty="0"/>
              <a:t>Agents read local secret files</a:t>
            </a:r>
          </a:p>
          <a:p>
            <a:pPr lvl="1"/>
            <a:r>
              <a:rPr lang="en-US" dirty="0"/>
              <a:t>Magic local .</a:t>
            </a:r>
            <a:r>
              <a:rPr lang="en-US" dirty="0" err="1"/>
              <a:t>gitignored</a:t>
            </a:r>
            <a:r>
              <a:rPr lang="en-US" dirty="0"/>
              <a:t> files were an anti-pattern before AI, worse now</a:t>
            </a:r>
          </a:p>
          <a:p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6E442E8-E33D-E8C3-26FB-4EF34447531C}"/>
              </a:ext>
            </a:extLst>
          </p:cNvPr>
          <p:cNvSpPr txBox="1">
            <a:spLocks/>
          </p:cNvSpPr>
          <p:nvPr/>
        </p:nvSpPr>
        <p:spPr>
          <a:xfrm>
            <a:off x="0" y="36937"/>
            <a:ext cx="12192000" cy="328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Tip 5: Managed Identities</a:t>
            </a:r>
          </a:p>
        </p:txBody>
      </p:sp>
    </p:spTree>
    <p:extLst>
      <p:ext uri="{BB962C8B-B14F-4D97-AF65-F5344CB8AC3E}">
        <p14:creationId xmlns:p14="http://schemas.microsoft.com/office/powerpoint/2010/main" val="1637575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DD523-2A0F-CCCD-B553-68A5AF5D6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E646F-49A4-7C57-5B55-633FC7513F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Solution: Use Managed Identities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B66DD-985E-BD87-98F7-35BD03109B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Managed Identities allow you to give a resource an “identity” (user to run as essentially)</a:t>
            </a:r>
          </a:p>
          <a:p>
            <a:r>
              <a:rPr lang="en-US" dirty="0"/>
              <a:t>These Identities are managed completely by Azure – no username/password/client id/client secret needed</a:t>
            </a:r>
          </a:p>
          <a:p>
            <a:r>
              <a:rPr lang="en-US" dirty="0"/>
              <a:t>Assign a Managed Identity to an App Service/Function/</a:t>
            </a:r>
            <a:r>
              <a:rPr lang="en-US" dirty="0" err="1"/>
              <a:t>etc</a:t>
            </a:r>
            <a:endParaRPr lang="en-US" dirty="0"/>
          </a:p>
          <a:p>
            <a:r>
              <a:rPr lang="en-US" dirty="0"/>
              <a:t>Give that Managed Identity access to read secrets, connect to a DB, </a:t>
            </a:r>
            <a:r>
              <a:rPr lang="en-US" dirty="0" err="1"/>
              <a:t>etc</a:t>
            </a:r>
            <a:endParaRPr lang="en-US" dirty="0"/>
          </a:p>
          <a:p>
            <a:r>
              <a:rPr lang="en-US" dirty="0"/>
              <a:t>Completely </a:t>
            </a:r>
            <a:r>
              <a:rPr lang="en-US" dirty="0" err="1"/>
              <a:t>passwordless</a:t>
            </a:r>
            <a:endParaRPr lang="en-US" dirty="0"/>
          </a:p>
          <a:p>
            <a:r>
              <a:rPr lang="en-US" dirty="0"/>
              <a:t>In your code you can use </a:t>
            </a:r>
            <a:r>
              <a:rPr lang="en-US" dirty="0" err="1"/>
              <a:t>DefaultAzureCredential</a:t>
            </a:r>
            <a:r>
              <a:rPr lang="en-US" dirty="0"/>
              <a:t> to do the right thing (more on this later)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4ED1AEA9-BDEC-D3AA-8E74-05289A9F5094}"/>
              </a:ext>
            </a:extLst>
          </p:cNvPr>
          <p:cNvSpPr txBox="1">
            <a:spLocks/>
          </p:cNvSpPr>
          <p:nvPr/>
        </p:nvSpPr>
        <p:spPr>
          <a:xfrm>
            <a:off x="0" y="36937"/>
            <a:ext cx="12192000" cy="328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Tip 5: Managed Identities</a:t>
            </a:r>
          </a:p>
        </p:txBody>
      </p:sp>
    </p:spTree>
    <p:extLst>
      <p:ext uri="{BB962C8B-B14F-4D97-AF65-F5344CB8AC3E}">
        <p14:creationId xmlns:p14="http://schemas.microsoft.com/office/powerpoint/2010/main" val="2956491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1EB586-BBF6-725C-9738-4B3D8CA3B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D0E9E-9918-DAD2-F43D-54FC6EBB16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/>
          </a:bodyPr>
          <a:lstStyle/>
          <a:p>
            <a:r>
              <a:rPr lang="en-US" sz="9600" b="1" dirty="0" err="1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DefaultAzureCredential</a:t>
            </a:r>
            <a:endParaRPr lang="en-US" sz="9600" b="1" dirty="0">
              <a:solidFill>
                <a:schemeClr val="bg1"/>
              </a:solidFill>
              <a:latin typeface="+mn-lt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7170" name="Picture 2" descr="Obama Gets Locked Out Of The White House | Best Funny Gifs Updated Daily">
            <a:extLst>
              <a:ext uri="{FF2B5EF4-FFF2-40B4-BE49-F238E27FC236}">
                <a16:creationId xmlns:a16="http://schemas.microsoft.com/office/drawing/2014/main" id="{184ED615-D69B-4EDB-D08A-874A99FF7D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4582" y="3315042"/>
            <a:ext cx="3922835" cy="2942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249387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003BD-2B28-889D-9EF5-9481DF69C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EDC2C-C7AB-F816-DD94-0FCE6F0279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152031" cy="1325563"/>
          </a:xfrm>
        </p:spPr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Problem: People use 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</a:rPr>
              <a:t>DefaultAzureCredential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C2FFFE-25F2-41E0-52C1-E1D6864D78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…without knowing the tradeoffs</a:t>
            </a:r>
          </a:p>
          <a:p>
            <a:r>
              <a:rPr lang="en-US" dirty="0" err="1"/>
              <a:t>DefaultAzureCredential</a:t>
            </a:r>
            <a:r>
              <a:rPr lang="en-US" dirty="0"/>
              <a:t> is meant to get you into Azure as quickly as possible</a:t>
            </a:r>
          </a:p>
          <a:p>
            <a:r>
              <a:rPr lang="en-US" dirty="0"/>
              <a:t>The downside is – performance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446F300D-C95D-4F05-4977-E7139D7D1255}"/>
              </a:ext>
            </a:extLst>
          </p:cNvPr>
          <p:cNvSpPr txBox="1">
            <a:spLocks/>
          </p:cNvSpPr>
          <p:nvPr/>
        </p:nvSpPr>
        <p:spPr>
          <a:xfrm>
            <a:off x="0" y="36937"/>
            <a:ext cx="12192000" cy="328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Tip 6: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DefaultAzureCredentials</a:t>
            </a:r>
            <a:endParaRPr lang="en-US" sz="16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3139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6CBE2-6067-1411-0E3F-8DB7978BC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DEEC63-1DF5-4041-01C7-E3DC4A546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152031" cy="1325563"/>
          </a:xfrm>
        </p:spPr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Problem: People use 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</a:rPr>
              <a:t>DefaultAzureCredential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…</a:t>
            </a:r>
          </a:p>
        </p:txBody>
      </p:sp>
      <p:pic>
        <p:nvPicPr>
          <p:cNvPr id="6146" name="Picture 2" descr="DefaultAzureCredential vs. ChainedTokenCredential in C# | by Harsha Vardhan  Kumar Gopisetti | Medium">
            <a:extLst>
              <a:ext uri="{FF2B5EF4-FFF2-40B4-BE49-F238E27FC236}">
                <a16:creationId xmlns:a16="http://schemas.microsoft.com/office/drawing/2014/main" id="{4AABD0A7-6BA1-301D-0109-76644399CE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306090"/>
            <a:ext cx="12286593" cy="22458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BD3C7A93-F7BF-52C1-4A4C-76DBC99DE44C}"/>
              </a:ext>
            </a:extLst>
          </p:cNvPr>
          <p:cNvSpPr txBox="1">
            <a:spLocks/>
          </p:cNvSpPr>
          <p:nvPr/>
        </p:nvSpPr>
        <p:spPr>
          <a:xfrm>
            <a:off x="0" y="36937"/>
            <a:ext cx="12192000" cy="328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Tip 6: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DefaultAzureCredentials</a:t>
            </a:r>
            <a:endParaRPr lang="en-US" sz="16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4950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632D4-F45B-53C4-4B40-A6482D690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6D996-2032-D9D1-511E-47EADA45F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Solution: Be explicit about credentials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6B571A-59AB-8F61-05F7-3761D1E748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Locally – use </a:t>
            </a:r>
            <a:r>
              <a:rPr lang="en-US" dirty="0" err="1"/>
              <a:t>AzureCli</a:t>
            </a:r>
            <a:r>
              <a:rPr lang="en-US" dirty="0"/>
              <a:t> or </a:t>
            </a:r>
            <a:r>
              <a:rPr lang="en-US" dirty="0" err="1"/>
              <a:t>VisualStudioCredential</a:t>
            </a:r>
            <a:r>
              <a:rPr lang="en-US" dirty="0"/>
              <a:t>… else use </a:t>
            </a:r>
            <a:r>
              <a:rPr lang="en-US" dirty="0" err="1"/>
              <a:t>ManagedIdentity</a:t>
            </a:r>
            <a:endParaRPr lang="en-US" dirty="0"/>
          </a:p>
          <a:p>
            <a:r>
              <a:rPr lang="en-US" dirty="0"/>
              <a:t>… or use Excludes on </a:t>
            </a:r>
            <a:r>
              <a:rPr lang="en-US" dirty="0" err="1"/>
              <a:t>DefaultAzureCredential</a:t>
            </a:r>
            <a:endParaRPr lang="en-US" dirty="0"/>
          </a:p>
          <a:p>
            <a:r>
              <a:rPr lang="en-US" dirty="0"/>
              <a:t>This will save you ~2-10 seconds when interacting with the credential</a:t>
            </a:r>
          </a:p>
          <a:p>
            <a:r>
              <a:rPr lang="en-US" dirty="0" err="1">
                <a:hlinkClick r:id="rId3"/>
              </a:rPr>
              <a:t>DefaultAzureCredential</a:t>
            </a:r>
            <a:r>
              <a:rPr lang="en-US" dirty="0">
                <a:hlinkClick r:id="rId3"/>
              </a:rPr>
              <a:t> Best Practices</a:t>
            </a:r>
            <a:endParaRPr lang="en-US" dirty="0"/>
          </a:p>
          <a:p>
            <a:r>
              <a:rPr lang="en-US" dirty="0">
                <a:hlinkClick r:id="rId4"/>
              </a:rPr>
              <a:t>My blog post on this in 2022</a:t>
            </a:r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3A469A7-83A5-29D6-F59F-20BC1F56F1F4}"/>
              </a:ext>
            </a:extLst>
          </p:cNvPr>
          <p:cNvSpPr txBox="1">
            <a:spLocks/>
          </p:cNvSpPr>
          <p:nvPr/>
        </p:nvSpPr>
        <p:spPr>
          <a:xfrm>
            <a:off x="0" y="36937"/>
            <a:ext cx="12192000" cy="328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Tip 6: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DefaultAzureCredentials</a:t>
            </a:r>
            <a:endParaRPr lang="en-US" sz="16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3917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B9D9E-9D2D-513E-3B7B-C56C3B0A8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969BD-566A-773C-DB61-AF4002F7B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Solution: Be explicit about credentials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65161EA-E4C5-7420-96B8-5FEE33851E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5904" y="1487805"/>
            <a:ext cx="9460191" cy="519367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569AB77-FA08-619B-4CF4-E1AE9A4CD2E4}"/>
              </a:ext>
            </a:extLst>
          </p:cNvPr>
          <p:cNvSpPr/>
          <p:nvPr/>
        </p:nvSpPr>
        <p:spPr>
          <a:xfrm>
            <a:off x="1831990" y="2223770"/>
            <a:ext cx="3113127" cy="36177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099742-42CC-2B2D-EF54-86DA66A789D4}"/>
              </a:ext>
            </a:extLst>
          </p:cNvPr>
          <p:cNvSpPr/>
          <p:nvPr/>
        </p:nvSpPr>
        <p:spPr>
          <a:xfrm>
            <a:off x="3545176" y="3903752"/>
            <a:ext cx="6513224" cy="54212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6FE596F-9C7D-BC35-13FE-B5C6DF9CAD6E}"/>
              </a:ext>
            </a:extLst>
          </p:cNvPr>
          <p:cNvSpPr/>
          <p:nvPr/>
        </p:nvSpPr>
        <p:spPr>
          <a:xfrm>
            <a:off x="3545176" y="5099133"/>
            <a:ext cx="3349610" cy="54212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C1AE91F-0B7F-30C7-ED0A-72073F9B0508}"/>
              </a:ext>
            </a:extLst>
          </p:cNvPr>
          <p:cNvSpPr/>
          <p:nvPr/>
        </p:nvSpPr>
        <p:spPr>
          <a:xfrm>
            <a:off x="1805715" y="6226447"/>
            <a:ext cx="1925458" cy="36177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F4A6BDD-E3BC-71C7-85B4-F6BAD73C0CDC}"/>
              </a:ext>
            </a:extLst>
          </p:cNvPr>
          <p:cNvSpPr txBox="1">
            <a:spLocks/>
          </p:cNvSpPr>
          <p:nvPr/>
        </p:nvSpPr>
        <p:spPr>
          <a:xfrm>
            <a:off x="0" y="36937"/>
            <a:ext cx="12192000" cy="328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Tip 6: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DefaultAzureCredentials</a:t>
            </a:r>
            <a:endParaRPr lang="en-US" sz="16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672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3896447-D200-1404-447A-B0F6FB554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395B1-D083-1257-71D5-A7EBBFA240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Requiring TLS 1.2+</a:t>
            </a:r>
          </a:p>
        </p:txBody>
      </p:sp>
      <p:pic>
        <p:nvPicPr>
          <p:cNvPr id="8194" name="Picture 2" descr="Securitys GIFs - Find &amp; Share on GIPHY">
            <a:extLst>
              <a:ext uri="{FF2B5EF4-FFF2-40B4-BE49-F238E27FC236}">
                <a16:creationId xmlns:a16="http://schemas.microsoft.com/office/drawing/2014/main" id="{925F4AFA-C55A-3F69-273E-F89081FAA9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0" y="3252421"/>
            <a:ext cx="4572000" cy="3448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10108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A677B-59AD-8A75-EDB1-61011A163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2FD762-6F85-4282-B889-AA0F876E9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Problem: Not requiring TLS 1.2+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3F4C1C-4314-9613-0C01-1BA956A7B0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HTTPS has underlying encryption algorithms to encrypt your data in transit</a:t>
            </a:r>
          </a:p>
          <a:p>
            <a:r>
              <a:rPr lang="en-US" dirty="0"/>
              <a:t>These encryption algorithms have continually gotten better and better</a:t>
            </a:r>
          </a:p>
          <a:p>
            <a:r>
              <a:rPr lang="en-US" dirty="0"/>
              <a:t>Hardware has gotten better and better to crack old algorithms</a:t>
            </a:r>
          </a:p>
          <a:p>
            <a:r>
              <a:rPr lang="en-US" dirty="0"/>
              <a:t>Not requiring TLS 1.2+ allows users to connect to your app with insecure protocols</a:t>
            </a:r>
          </a:p>
          <a:p>
            <a:pPr lvl="1"/>
            <a:r>
              <a:rPr lang="en-US" dirty="0"/>
              <a:t>Example – people on older browsers</a:t>
            </a:r>
          </a:p>
          <a:p>
            <a:r>
              <a:rPr lang="en-US" dirty="0"/>
              <a:t>This allows a man-in-the-middle attacks for people to decrypt in real time, exposing your data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6E2CC828-DF28-12F3-1F7A-603DBE2C407B}"/>
              </a:ext>
            </a:extLst>
          </p:cNvPr>
          <p:cNvSpPr txBox="1">
            <a:spLocks/>
          </p:cNvSpPr>
          <p:nvPr/>
        </p:nvSpPr>
        <p:spPr>
          <a:xfrm>
            <a:off x="0" y="36937"/>
            <a:ext cx="12192000" cy="328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Tip 7: Require TLS 1.2+</a:t>
            </a:r>
          </a:p>
        </p:txBody>
      </p:sp>
    </p:spTree>
    <p:extLst>
      <p:ext uri="{BB962C8B-B14F-4D97-AF65-F5344CB8AC3E}">
        <p14:creationId xmlns:p14="http://schemas.microsoft.com/office/powerpoint/2010/main" val="4049349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748DA-4E6A-8832-EDD8-34B0484F3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2A2E2F-F8AE-4968-2E6A-F21886DB5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Solution: Require TLS 1.2+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400AF6-91B9-605F-252A-BB0CEC4F2A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Newer resource provisioning defaults to 1.2+, but existing deployed services you have don’t automatically change</a:t>
            </a:r>
          </a:p>
          <a:p>
            <a:r>
              <a:rPr lang="en-US" dirty="0"/>
              <a:t>Require TLS 1.2+ on all your relevant resources (</a:t>
            </a:r>
            <a:r>
              <a:rPr lang="en-US" dirty="0" err="1"/>
              <a:t>ie</a:t>
            </a:r>
            <a:r>
              <a:rPr lang="en-US" dirty="0"/>
              <a:t> app service, function apps, storage accounts,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r>
              <a:rPr lang="en-US" dirty="0"/>
              <a:t>Make sure you also enforce a good cipher suite</a:t>
            </a:r>
          </a:p>
          <a:p>
            <a:pPr lvl="1"/>
            <a:r>
              <a:rPr lang="en-US" dirty="0" err="1"/>
              <a:t>ie</a:t>
            </a:r>
            <a:r>
              <a:rPr lang="en-US" dirty="0"/>
              <a:t> TLS_ECDHE_RSA_WITH_AES_128_GCM_SHA256 and TLS_ECDHE_RSA_WITH_AES_256_GCM_SHA384 </a:t>
            </a:r>
          </a:p>
          <a:p>
            <a:r>
              <a:rPr lang="en-US" dirty="0"/>
              <a:t>TLS 1.3 is the latest, most browsers in the last 8 years support 1.3</a:t>
            </a:r>
          </a:p>
          <a:p>
            <a:r>
              <a:rPr lang="en-US" dirty="0"/>
              <a:t>SSL Labs to test your site - </a:t>
            </a:r>
            <a:r>
              <a:rPr lang="en-US" dirty="0">
                <a:hlinkClick r:id="rId3"/>
              </a:rPr>
              <a:t>https://www.ssllabs.com/ssltest/</a:t>
            </a:r>
            <a:endParaRPr lang="en-US" dirty="0"/>
          </a:p>
          <a:p>
            <a:r>
              <a:rPr lang="en-US" dirty="0"/>
              <a:t>Enforce with Azure Policy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9422338-19E4-88EB-4944-3BF7F349EF18}"/>
              </a:ext>
            </a:extLst>
          </p:cNvPr>
          <p:cNvSpPr txBox="1">
            <a:spLocks/>
          </p:cNvSpPr>
          <p:nvPr/>
        </p:nvSpPr>
        <p:spPr>
          <a:xfrm>
            <a:off x="0" y="36937"/>
            <a:ext cx="12192000" cy="328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Tip 7: Require TLS 1.2+</a:t>
            </a:r>
          </a:p>
        </p:txBody>
      </p:sp>
    </p:spTree>
    <p:extLst>
      <p:ext uri="{BB962C8B-B14F-4D97-AF65-F5344CB8AC3E}">
        <p14:creationId xmlns:p14="http://schemas.microsoft.com/office/powerpoint/2010/main" val="1930340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F2640C-D789-E140-3AEB-1B40E42EFB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548E4-901C-50A5-E8C1-3159232572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/>
          </a:bodyPr>
          <a:lstStyle/>
          <a:p>
            <a:r>
              <a:rPr lang="en-US" sz="9600" b="1" dirty="0" err="1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FederatedCredentials</a:t>
            </a:r>
            <a:endParaRPr lang="en-US" sz="9600" b="1" dirty="0">
              <a:solidFill>
                <a:schemeClr val="bg1"/>
              </a:solidFill>
              <a:latin typeface="+mn-lt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9218" name="Picture 2" descr="YARN | Credentials, please. | Dumb and Dumber To (2014) | Video gifs by  quotes | acfcbde7 | 紗">
            <a:extLst>
              <a:ext uri="{FF2B5EF4-FFF2-40B4-BE49-F238E27FC236}">
                <a16:creationId xmlns:a16="http://schemas.microsoft.com/office/drawing/2014/main" id="{1DC901F8-BB5A-4C38-B22F-D88950C77C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0053" y="3600108"/>
            <a:ext cx="4771894" cy="25648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538753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8C415-0B82-F2F2-B801-3324B1079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BC44F-010D-E2BB-02E8-E99CF75C3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Problem: Not using Federated Credentials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37AF90-AE51-4C3B-4C5B-8B102C5EE8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Your CI/CD pipelines need to auth to Azure to provision resources, deploy, </a:t>
            </a:r>
            <a:r>
              <a:rPr lang="en-US" dirty="0" err="1"/>
              <a:t>etc</a:t>
            </a:r>
            <a:endParaRPr lang="en-US" dirty="0"/>
          </a:p>
          <a:p>
            <a:r>
              <a:rPr lang="en-US" dirty="0"/>
              <a:t>Without Federated Credentials, you’re managing a Client ID + Client Secret (most likely)</a:t>
            </a:r>
          </a:p>
          <a:p>
            <a:r>
              <a:rPr lang="en-US" dirty="0"/>
              <a:t>All the same issues managing credentials (create, store, rotate, revoke)</a:t>
            </a:r>
          </a:p>
          <a:p>
            <a:r>
              <a:rPr lang="en-US" dirty="0"/>
              <a:t>If someone gets these credentials, they can manipulate your Azure environment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55C4435-A356-6110-1DA3-0C44594D5DF5}"/>
              </a:ext>
            </a:extLst>
          </p:cNvPr>
          <p:cNvSpPr txBox="1">
            <a:spLocks/>
          </p:cNvSpPr>
          <p:nvPr/>
        </p:nvSpPr>
        <p:spPr>
          <a:xfrm>
            <a:off x="0" y="36937"/>
            <a:ext cx="12192000" cy="328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Tip 8: Federated Credentials</a:t>
            </a:r>
          </a:p>
        </p:txBody>
      </p:sp>
    </p:spTree>
    <p:extLst>
      <p:ext uri="{BB962C8B-B14F-4D97-AF65-F5344CB8AC3E}">
        <p14:creationId xmlns:p14="http://schemas.microsoft.com/office/powerpoint/2010/main" val="10148886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E5934-148A-50B6-9A17-0AF01A7F4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FD6B2-2619-285D-FE6C-C5235B8E7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Solution: Use Federated Credentials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7CB0EF-A855-9E7F-C5DB-66021CF951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995438"/>
          </a:xfrm>
        </p:spPr>
        <p:txBody>
          <a:bodyPr>
            <a:normAutofit/>
          </a:bodyPr>
          <a:lstStyle/>
          <a:p>
            <a:r>
              <a:rPr lang="en-US" dirty="0"/>
              <a:t>Federated Credentials allows you to “trust” repositories to push to Azure</a:t>
            </a:r>
          </a:p>
          <a:p>
            <a:r>
              <a:rPr lang="en-US" dirty="0" err="1"/>
              <a:t>Passwordless</a:t>
            </a:r>
            <a:endParaRPr lang="en-US" dirty="0"/>
          </a:p>
          <a:p>
            <a:r>
              <a:rPr lang="en-US" dirty="0"/>
              <a:t>Short-lived tokens (minutes)</a:t>
            </a:r>
          </a:p>
          <a:p>
            <a:r>
              <a:rPr lang="en-US" dirty="0">
                <a:hlinkClick r:id="rId3"/>
              </a:rPr>
              <a:t>How to do this with GitHub Actions</a:t>
            </a:r>
            <a:endParaRPr lang="en-US" dirty="0"/>
          </a:p>
          <a:p>
            <a:r>
              <a:rPr lang="en-US" dirty="0"/>
              <a:t>Prefer User Managed Identity over App Registration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19F75EDD-DA55-50A4-9857-E6F5240BEB3E}"/>
              </a:ext>
            </a:extLst>
          </p:cNvPr>
          <p:cNvSpPr txBox="1">
            <a:spLocks/>
          </p:cNvSpPr>
          <p:nvPr/>
        </p:nvSpPr>
        <p:spPr>
          <a:xfrm>
            <a:off x="0" y="36937"/>
            <a:ext cx="12192000" cy="328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Tip 8: Federated Credentials</a:t>
            </a:r>
          </a:p>
        </p:txBody>
      </p:sp>
    </p:spTree>
    <p:extLst>
      <p:ext uri="{BB962C8B-B14F-4D97-AF65-F5344CB8AC3E}">
        <p14:creationId xmlns:p14="http://schemas.microsoft.com/office/powerpoint/2010/main" val="423730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E99AF6-6B8F-717B-F8A3-0053AE38E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98C26-EE8E-827B-7C87-8AC905E526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Solution: Use Federated Credentials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814021F-3843-60E9-E091-0241ADCA69A1}"/>
              </a:ext>
            </a:extLst>
          </p:cNvPr>
          <p:cNvSpPr txBox="1">
            <a:spLocks/>
          </p:cNvSpPr>
          <p:nvPr/>
        </p:nvSpPr>
        <p:spPr>
          <a:xfrm>
            <a:off x="0" y="36937"/>
            <a:ext cx="12192000" cy="328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Tip 8: Federated Credentials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5577D8-ECF8-28D2-D29D-F8F5A768AB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0220" y="1398140"/>
            <a:ext cx="8671560" cy="542292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CDCF7CC-14D4-C497-D025-1410609BD396}"/>
              </a:ext>
            </a:extLst>
          </p:cNvPr>
          <p:cNvSpPr/>
          <p:nvPr/>
        </p:nvSpPr>
        <p:spPr>
          <a:xfrm>
            <a:off x="1760220" y="4109600"/>
            <a:ext cx="4713732" cy="70014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6A0E376-F8D7-FD2A-FE29-98F3352EFD54}"/>
              </a:ext>
            </a:extLst>
          </p:cNvPr>
          <p:cNvSpPr/>
          <p:nvPr/>
        </p:nvSpPr>
        <p:spPr>
          <a:xfrm>
            <a:off x="1760220" y="4928616"/>
            <a:ext cx="5957316" cy="823882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1887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595CC-878D-D401-8A2C-8346114426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8B9453A-47DB-96FC-78E6-D29FBB1521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413064"/>
            <a:ext cx="10608959" cy="230492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AE0F80D-A4CA-832E-6B92-83CF6598B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Solution: Use Federated Credentials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B75BC608-34B8-3358-E4CF-8C6D62466E84}"/>
              </a:ext>
            </a:extLst>
          </p:cNvPr>
          <p:cNvSpPr txBox="1">
            <a:spLocks/>
          </p:cNvSpPr>
          <p:nvPr/>
        </p:nvSpPr>
        <p:spPr>
          <a:xfrm>
            <a:off x="0" y="36937"/>
            <a:ext cx="12192000" cy="328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Tip 8: Federated Credentials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75DBFB5-EC01-8D0C-4CB1-18EA0916BD5A}"/>
              </a:ext>
            </a:extLst>
          </p:cNvPr>
          <p:cNvSpPr/>
          <p:nvPr/>
        </p:nvSpPr>
        <p:spPr>
          <a:xfrm>
            <a:off x="3739134" y="2303970"/>
            <a:ext cx="7114794" cy="2533206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512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6AC24C-AD6B-2573-0071-49A7A74A1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F2CEB-0C78-F259-50E5-37BBA9885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GitHub Integration First Class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C74060C-B14D-3312-B4AE-C294BC4C6866}"/>
              </a:ext>
            </a:extLst>
          </p:cNvPr>
          <p:cNvSpPr txBox="1">
            <a:spLocks/>
          </p:cNvSpPr>
          <p:nvPr/>
        </p:nvSpPr>
        <p:spPr>
          <a:xfrm>
            <a:off x="0" y="36937"/>
            <a:ext cx="12192000" cy="328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Tip 8: Federated Credentials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126805-3855-11EB-A697-FD1E10AEE7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867" y="2161899"/>
            <a:ext cx="10176266" cy="2937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299199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B11772-FD7D-0E72-36EF-47370C0D9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52B5F-36EE-0882-A5B0-54F66087FE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Budgets and </a:t>
            </a:r>
            <a:b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Cost Alerts</a:t>
            </a:r>
          </a:p>
        </p:txBody>
      </p:sp>
      <p:pic>
        <p:nvPicPr>
          <p:cNvPr id="10242" name="Picture 2" descr="Cost GIFs | Tenor">
            <a:extLst>
              <a:ext uri="{FF2B5EF4-FFF2-40B4-BE49-F238E27FC236}">
                <a16:creationId xmlns:a16="http://schemas.microsoft.com/office/drawing/2014/main" id="{6398803D-CC15-1D7F-4D9A-331E5ED2A9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27684" y="3429000"/>
            <a:ext cx="2936631" cy="2936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9448049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4EFA5-9478-9A29-1ACB-63E9ECBE7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D8219-9E8E-E307-FEB2-8FE18257C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Problem: Cost isn’t managed in Azure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927C40B-4F2A-9286-FFD2-1C50D7BCB8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Sudden, unexpected bills</a:t>
            </a:r>
          </a:p>
          <a:p>
            <a:r>
              <a:rPr lang="en-US" dirty="0"/>
              <a:t>No early warning for forecast overrun</a:t>
            </a:r>
          </a:p>
          <a:p>
            <a:r>
              <a:rPr lang="en-US" dirty="0"/>
              <a:t>Lack of visibility across teams</a:t>
            </a:r>
          </a:p>
          <a:p>
            <a:r>
              <a:rPr lang="en-US" dirty="0"/>
              <a:t>Missed anomalies and fraud detection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553A98E-5947-CBA7-703E-3C43B14C6C71}"/>
              </a:ext>
            </a:extLst>
          </p:cNvPr>
          <p:cNvSpPr txBox="1">
            <a:spLocks/>
          </p:cNvSpPr>
          <p:nvPr/>
        </p:nvSpPr>
        <p:spPr>
          <a:xfrm>
            <a:off x="0" y="36937"/>
            <a:ext cx="12192000" cy="328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Tip 9: Budgets and Cost Alerts</a:t>
            </a:r>
          </a:p>
        </p:txBody>
      </p:sp>
    </p:spTree>
    <p:extLst>
      <p:ext uri="{BB962C8B-B14F-4D97-AF65-F5344CB8AC3E}">
        <p14:creationId xmlns:p14="http://schemas.microsoft.com/office/powerpoint/2010/main" val="3718849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FB941-FF96-3C06-79EF-1EE6DE5BC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215B4-DCAB-6C5C-F05B-0D0A3B2103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Solution: Use Azure Budgets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96C3263-2A40-E602-658C-4CD7A4D0E3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Define a spending threshold for a scope (</a:t>
            </a:r>
            <a:r>
              <a:rPr lang="en-US" dirty="0" err="1"/>
              <a:t>ie</a:t>
            </a:r>
            <a:r>
              <a:rPr lang="en-US" dirty="0"/>
              <a:t> Subscription or Resource Group)</a:t>
            </a:r>
          </a:p>
          <a:p>
            <a:r>
              <a:rPr lang="en-US" dirty="0"/>
              <a:t>Tracks actual or forecasted against that target over a time period (monthly, quarterly, yearly)</a:t>
            </a:r>
          </a:p>
          <a:p>
            <a:r>
              <a:rPr lang="en-US" dirty="0"/>
              <a:t>Can have multiple thresholds, 50%, 80%, 100%</a:t>
            </a:r>
          </a:p>
          <a:p>
            <a:r>
              <a:rPr lang="en-US" dirty="0"/>
              <a:t>Can trigger Action Groups (email, Functions, Webhooks)</a:t>
            </a:r>
          </a:p>
          <a:p>
            <a:r>
              <a:rPr lang="en-US" dirty="0"/>
              <a:t>Budgets are a bad name – does not stop resources, only monitoring + triggers</a:t>
            </a:r>
          </a:p>
          <a:p>
            <a:r>
              <a:rPr lang="en-US" dirty="0"/>
              <a:t>Can lag by 24 hours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C1A16D0-348B-1318-A277-E7AD8697BD9A}"/>
              </a:ext>
            </a:extLst>
          </p:cNvPr>
          <p:cNvSpPr txBox="1">
            <a:spLocks/>
          </p:cNvSpPr>
          <p:nvPr/>
        </p:nvSpPr>
        <p:spPr>
          <a:xfrm>
            <a:off x="0" y="36937"/>
            <a:ext cx="12192000" cy="328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Tip 9: Budgets and Cost Alerts</a:t>
            </a:r>
          </a:p>
        </p:txBody>
      </p:sp>
    </p:spTree>
    <p:extLst>
      <p:ext uri="{BB962C8B-B14F-4D97-AF65-F5344CB8AC3E}">
        <p14:creationId xmlns:p14="http://schemas.microsoft.com/office/powerpoint/2010/main" val="739098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E2785C-1B53-7813-BB2E-818673B8D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230CE-B65A-078A-1630-B7F53054E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Solution: Use Azure Cost Alerts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1FD7F98-5ACE-E9B2-24DC-BF62E20981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Anomaly Detection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CF7F829-DA2A-1647-1A2E-FC0E1285BC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6579" y="2309117"/>
            <a:ext cx="4680283" cy="4548884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254F17B4-C59F-90BF-7B10-3E03170A7915}"/>
              </a:ext>
            </a:extLst>
          </p:cNvPr>
          <p:cNvSpPr txBox="1">
            <a:spLocks/>
          </p:cNvSpPr>
          <p:nvPr/>
        </p:nvSpPr>
        <p:spPr>
          <a:xfrm>
            <a:off x="0" y="36937"/>
            <a:ext cx="12192000" cy="328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Tip 9: Budgets and Cost Alerts</a:t>
            </a:r>
          </a:p>
        </p:txBody>
      </p:sp>
    </p:spTree>
    <p:extLst>
      <p:ext uri="{BB962C8B-B14F-4D97-AF65-F5344CB8AC3E}">
        <p14:creationId xmlns:p14="http://schemas.microsoft.com/office/powerpoint/2010/main" val="1475597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4820DC-D682-4EF0-3F1E-D344E6CEF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BBAACB-6D44-FC01-AC67-55FF430352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Azure Reservations</a:t>
            </a:r>
          </a:p>
        </p:txBody>
      </p:sp>
      <p:pic>
        <p:nvPicPr>
          <p:cNvPr id="11266" name="Picture 2" descr="YARN | I made a reservation. Do you have my reservation? | Seinfeld (1989)  - S06E14 Highlights of a Hundred (1) | Video gifs by quotes | a7b981b8 | 紗">
            <a:extLst>
              <a:ext uri="{FF2B5EF4-FFF2-40B4-BE49-F238E27FC236}">
                <a16:creationId xmlns:a16="http://schemas.microsoft.com/office/drawing/2014/main" id="{4A53D6E6-14EF-A215-44AE-084667E3EC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1000" y="3537073"/>
            <a:ext cx="3810000" cy="2790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037874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C2672-0016-61C5-398C-2B2B3BF61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57EEF-AF97-AF01-302A-67C543086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Problem: Cost is getting too high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F79C760-01F2-C237-1371-2B4DB31CD5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Cloud isn’t always cheaper up front</a:t>
            </a:r>
          </a:p>
          <a:p>
            <a:r>
              <a:rPr lang="en-US" dirty="0"/>
              <a:t>Sometimes cloud is about speed, lower TCO, and more visibility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E43C0A4-BE6C-C378-9A88-7DE6F66FE8C2}"/>
              </a:ext>
            </a:extLst>
          </p:cNvPr>
          <p:cNvSpPr txBox="1">
            <a:spLocks/>
          </p:cNvSpPr>
          <p:nvPr/>
        </p:nvSpPr>
        <p:spPr>
          <a:xfrm>
            <a:off x="0" y="36937"/>
            <a:ext cx="12192000" cy="328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Tip 10a: Azure Reservations</a:t>
            </a:r>
          </a:p>
        </p:txBody>
      </p:sp>
    </p:spTree>
    <p:extLst>
      <p:ext uri="{BB962C8B-B14F-4D97-AF65-F5344CB8AC3E}">
        <p14:creationId xmlns:p14="http://schemas.microsoft.com/office/powerpoint/2010/main" val="4098789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A1B10-093A-8B01-04D7-D94ADB331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A2916-6990-1535-68D9-1F88C1E2F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Solution: Azure Reservations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B758EB68-4353-60C8-7D9D-6018584E65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Commit to using certain resources for 1 year or 3 years, get a discount between 20% - 70% depending on the resource (App Service Plans, SQL, VMs, Cosmos,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r>
              <a:rPr lang="en-US" dirty="0"/>
              <a:t>Downside – what if you get rid of the resource after 2 years but you committed to 3</a:t>
            </a:r>
          </a:p>
          <a:p>
            <a:r>
              <a:rPr lang="en-US" dirty="0"/>
              <a:t>Exchanges are allowed – go sideways or up</a:t>
            </a:r>
          </a:p>
          <a:p>
            <a:r>
              <a:rPr lang="en-US" dirty="0"/>
              <a:t>Still pay monthly or up front (if you want)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3618D6A-C987-1C12-4D1D-C7BE3BBF5768}"/>
              </a:ext>
            </a:extLst>
          </p:cNvPr>
          <p:cNvSpPr txBox="1">
            <a:spLocks/>
          </p:cNvSpPr>
          <p:nvPr/>
        </p:nvSpPr>
        <p:spPr>
          <a:xfrm>
            <a:off x="0" y="36937"/>
            <a:ext cx="12192000" cy="328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Tip 10a: Azure Reservations</a:t>
            </a:r>
          </a:p>
        </p:txBody>
      </p:sp>
    </p:spTree>
    <p:extLst>
      <p:ext uri="{BB962C8B-B14F-4D97-AF65-F5344CB8AC3E}">
        <p14:creationId xmlns:p14="http://schemas.microsoft.com/office/powerpoint/2010/main" val="2364326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C5FF7E-E734-6B30-E5F0-C510AB736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82C9B-ADEF-A155-D276-0303156C46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Azure Savings Plans</a:t>
            </a:r>
          </a:p>
        </p:txBody>
      </p:sp>
      <p:pic>
        <p:nvPicPr>
          <p:cNvPr id="12290" name="Picture 2" descr="Saving GIFs | Tenor">
            <a:extLst>
              <a:ext uri="{FF2B5EF4-FFF2-40B4-BE49-F238E27FC236}">
                <a16:creationId xmlns:a16="http://schemas.microsoft.com/office/drawing/2014/main" id="{885A517E-5C6D-029B-0CB9-2A435B32DE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8250" y="3648808"/>
            <a:ext cx="2095500" cy="2514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090342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B1F81-BBF9-9A02-E5E0-5124E50E3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78D47-E18F-822A-E08A-CDE2E771B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Problem: Cost is getting too high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F94EA81-5865-E593-86BC-977F957CEF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Cloud isn’t always cheaper up front</a:t>
            </a:r>
          </a:p>
          <a:p>
            <a:r>
              <a:rPr lang="en-US" dirty="0"/>
              <a:t>Sometimes cloud is about speed, lower TCO, and visibility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5A2E117-25C5-49B7-C422-C4DBE7F1152B}"/>
              </a:ext>
            </a:extLst>
          </p:cNvPr>
          <p:cNvSpPr txBox="1">
            <a:spLocks/>
          </p:cNvSpPr>
          <p:nvPr/>
        </p:nvSpPr>
        <p:spPr>
          <a:xfrm>
            <a:off x="0" y="36937"/>
            <a:ext cx="12192000" cy="328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Tip 10b: Savings Plans</a:t>
            </a:r>
          </a:p>
        </p:txBody>
      </p:sp>
    </p:spTree>
    <p:extLst>
      <p:ext uri="{BB962C8B-B14F-4D97-AF65-F5344CB8AC3E}">
        <p14:creationId xmlns:p14="http://schemas.microsoft.com/office/powerpoint/2010/main" val="1571566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5988E-A429-102C-5A75-777D4C3DA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05FDE-4149-F6CE-3A16-BD0909B27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Solution: Azure Savings Plans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7880027-1E79-A09B-1C39-C7FC7237BA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Commit to using certain spend $ for 1 yr or 3 yrs, get a discount</a:t>
            </a:r>
          </a:p>
          <a:p>
            <a:r>
              <a:rPr lang="en-US" dirty="0"/>
              <a:t>Can be used however you want across eligible resource types</a:t>
            </a:r>
          </a:p>
          <a:p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6D265BB-311F-6CDE-FF2A-36BDD70FF979}"/>
              </a:ext>
            </a:extLst>
          </p:cNvPr>
          <p:cNvSpPr txBox="1">
            <a:spLocks/>
          </p:cNvSpPr>
          <p:nvPr/>
        </p:nvSpPr>
        <p:spPr>
          <a:xfrm>
            <a:off x="0" y="36937"/>
            <a:ext cx="12192000" cy="328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Tip 10b: Savings Plans</a:t>
            </a:r>
          </a:p>
        </p:txBody>
      </p:sp>
    </p:spTree>
    <p:extLst>
      <p:ext uri="{BB962C8B-B14F-4D97-AF65-F5344CB8AC3E}">
        <p14:creationId xmlns:p14="http://schemas.microsoft.com/office/powerpoint/2010/main" val="1357473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980EA-4455-FC57-2D74-3B0E76B23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26A91-A05A-8DEE-54BB-4B61A2709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Comparing Savings Plans vs Reservations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8EC8A53-442B-D4F0-E80A-89E6C9A732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Reservations give you more savings, but more risk if you need to change your plans</a:t>
            </a:r>
          </a:p>
          <a:p>
            <a:r>
              <a:rPr lang="en-US" dirty="0"/>
              <a:t>I recommend everyone use at least Savings Plans</a:t>
            </a:r>
          </a:p>
          <a:p>
            <a:r>
              <a:rPr lang="en-US" dirty="0"/>
              <a:t>Go tell your boss you can cut the Azure bill by at least 20% and get a promotion</a:t>
            </a:r>
          </a:p>
          <a:p>
            <a:r>
              <a:rPr lang="en-US" dirty="0"/>
              <a:t>Comparison of a single P0V4 App Service Plan:</a:t>
            </a:r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A88A015-3739-A7BC-1EA6-27EE03F87B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7236892"/>
              </p:ext>
            </p:extLst>
          </p:nvPr>
        </p:nvGraphicFramePr>
        <p:xfrm>
          <a:off x="430924" y="4729656"/>
          <a:ext cx="11330152" cy="17713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2538">
                  <a:extLst>
                    <a:ext uri="{9D8B030D-6E8A-4147-A177-3AD203B41FA5}">
                      <a16:colId xmlns:a16="http://schemas.microsoft.com/office/drawing/2014/main" val="1581085348"/>
                    </a:ext>
                  </a:extLst>
                </a:gridCol>
                <a:gridCol w="2832538">
                  <a:extLst>
                    <a:ext uri="{9D8B030D-6E8A-4147-A177-3AD203B41FA5}">
                      <a16:colId xmlns:a16="http://schemas.microsoft.com/office/drawing/2014/main" val="1748268926"/>
                    </a:ext>
                  </a:extLst>
                </a:gridCol>
                <a:gridCol w="2832538">
                  <a:extLst>
                    <a:ext uri="{9D8B030D-6E8A-4147-A177-3AD203B41FA5}">
                      <a16:colId xmlns:a16="http://schemas.microsoft.com/office/drawing/2014/main" val="4280214593"/>
                    </a:ext>
                  </a:extLst>
                </a:gridCol>
                <a:gridCol w="2832538">
                  <a:extLst>
                    <a:ext uri="{9D8B030D-6E8A-4147-A177-3AD203B41FA5}">
                      <a16:colId xmlns:a16="http://schemas.microsoft.com/office/drawing/2014/main" val="3729884455"/>
                    </a:ext>
                  </a:extLst>
                </a:gridCol>
              </a:tblGrid>
              <a:tr h="590436">
                <a:tc>
                  <a:txBody>
                    <a:bodyPr/>
                    <a:lstStyle/>
                    <a:p>
                      <a:endParaRPr lang="en-US" sz="2300" dirty="0"/>
                    </a:p>
                  </a:txBody>
                  <a:tcPr marL="115732" marR="115732" marT="57866" marB="57866"/>
                </a:tc>
                <a:tc>
                  <a:txBody>
                    <a:bodyPr/>
                    <a:lstStyle/>
                    <a:p>
                      <a:r>
                        <a:rPr lang="en-US" sz="2300" dirty="0"/>
                        <a:t>Pay As You Go</a:t>
                      </a:r>
                    </a:p>
                  </a:txBody>
                  <a:tcPr marL="115732" marR="115732" marT="57866" marB="57866"/>
                </a:tc>
                <a:tc>
                  <a:txBody>
                    <a:bodyPr/>
                    <a:lstStyle/>
                    <a:p>
                      <a:r>
                        <a:rPr lang="en-US" sz="2300" dirty="0"/>
                        <a:t>Savings Plan</a:t>
                      </a:r>
                    </a:p>
                  </a:txBody>
                  <a:tcPr marL="115732" marR="115732" marT="57866" marB="57866"/>
                </a:tc>
                <a:tc>
                  <a:txBody>
                    <a:bodyPr/>
                    <a:lstStyle/>
                    <a:p>
                      <a:r>
                        <a:rPr lang="en-US" sz="2300" dirty="0"/>
                        <a:t>Reservation</a:t>
                      </a:r>
                    </a:p>
                  </a:txBody>
                  <a:tcPr marL="115732" marR="115732" marT="57866" marB="57866"/>
                </a:tc>
                <a:extLst>
                  <a:ext uri="{0D108BD9-81ED-4DB2-BD59-A6C34878D82A}">
                    <a16:rowId xmlns:a16="http://schemas.microsoft.com/office/drawing/2014/main" val="4081595387"/>
                  </a:ext>
                </a:extLst>
              </a:tr>
              <a:tr h="590436">
                <a:tc>
                  <a:txBody>
                    <a:bodyPr/>
                    <a:lstStyle/>
                    <a:p>
                      <a:r>
                        <a:rPr lang="en-US" sz="2300" dirty="0"/>
                        <a:t>1 year</a:t>
                      </a:r>
                    </a:p>
                  </a:txBody>
                  <a:tcPr marL="115732" marR="115732" marT="57866" marB="57866"/>
                </a:tc>
                <a:tc>
                  <a:txBody>
                    <a:bodyPr/>
                    <a:lstStyle/>
                    <a:p>
                      <a:r>
                        <a:rPr lang="en-US" sz="2300" dirty="0"/>
                        <a:t>kr611.967/</a:t>
                      </a:r>
                      <a:r>
                        <a:rPr lang="en-US" sz="2300" dirty="0" err="1"/>
                        <a:t>mo</a:t>
                      </a:r>
                      <a:endParaRPr lang="en-US" sz="2300" dirty="0"/>
                    </a:p>
                  </a:txBody>
                  <a:tcPr marL="115732" marR="115732" marT="57866" marB="57866"/>
                </a:tc>
                <a:tc>
                  <a:txBody>
                    <a:bodyPr/>
                    <a:lstStyle/>
                    <a:p>
                      <a:r>
                        <a:rPr lang="en-US" sz="2300" dirty="0"/>
                        <a:t>kr422.244/</a:t>
                      </a:r>
                      <a:r>
                        <a:rPr lang="en-US" sz="2300" dirty="0" err="1"/>
                        <a:t>mo</a:t>
                      </a:r>
                      <a:r>
                        <a:rPr lang="en-US" sz="2300" dirty="0"/>
                        <a:t> (31%)</a:t>
                      </a:r>
                    </a:p>
                  </a:txBody>
                  <a:tcPr marL="115732" marR="115732" marT="57866" marB="57866"/>
                </a:tc>
                <a:tc>
                  <a:txBody>
                    <a:bodyPr/>
                    <a:lstStyle/>
                    <a:p>
                      <a:r>
                        <a:rPr lang="en-US" sz="2300" dirty="0"/>
                        <a:t>kr360.979/</a:t>
                      </a:r>
                      <a:r>
                        <a:rPr lang="en-US" sz="2300" dirty="0" err="1"/>
                        <a:t>mo</a:t>
                      </a:r>
                      <a:r>
                        <a:rPr lang="en-US" sz="2300" dirty="0"/>
                        <a:t> (41%)</a:t>
                      </a:r>
                    </a:p>
                  </a:txBody>
                  <a:tcPr marL="115732" marR="115732" marT="57866" marB="57866"/>
                </a:tc>
                <a:extLst>
                  <a:ext uri="{0D108BD9-81ED-4DB2-BD59-A6C34878D82A}">
                    <a16:rowId xmlns:a16="http://schemas.microsoft.com/office/drawing/2014/main" val="1234696494"/>
                  </a:ext>
                </a:extLst>
              </a:tr>
              <a:tr h="590436">
                <a:tc>
                  <a:txBody>
                    <a:bodyPr/>
                    <a:lstStyle/>
                    <a:p>
                      <a:r>
                        <a:rPr lang="en-US" sz="2300" dirty="0"/>
                        <a:t>3 year</a:t>
                      </a:r>
                    </a:p>
                  </a:txBody>
                  <a:tcPr marL="115732" marR="115732" marT="57866" marB="57866"/>
                </a:tc>
                <a:tc>
                  <a:txBody>
                    <a:bodyPr/>
                    <a:lstStyle/>
                    <a:p>
                      <a:r>
                        <a:rPr lang="en-US" sz="2300" dirty="0"/>
                        <a:t>kr611.967/</a:t>
                      </a:r>
                      <a:r>
                        <a:rPr lang="en-US" sz="2300" dirty="0" err="1"/>
                        <a:t>mo</a:t>
                      </a:r>
                      <a:endParaRPr lang="en-US" sz="2300" dirty="0"/>
                    </a:p>
                  </a:txBody>
                  <a:tcPr marL="115732" marR="115732" marT="57866" marB="57866"/>
                </a:tc>
                <a:tc>
                  <a:txBody>
                    <a:bodyPr/>
                    <a:lstStyle/>
                    <a:p>
                      <a:r>
                        <a:rPr lang="en-US" sz="2300" dirty="0"/>
                        <a:t>kr281.519/</a:t>
                      </a:r>
                      <a:r>
                        <a:rPr lang="en-US" sz="2300" dirty="0" err="1"/>
                        <a:t>mo</a:t>
                      </a:r>
                      <a:r>
                        <a:rPr lang="en-US" sz="2300" dirty="0"/>
                        <a:t> (54%)</a:t>
                      </a:r>
                    </a:p>
                  </a:txBody>
                  <a:tcPr marL="115732" marR="115732" marT="57866" marB="57866"/>
                </a:tc>
                <a:tc>
                  <a:txBody>
                    <a:bodyPr/>
                    <a:lstStyle/>
                    <a:p>
                      <a:r>
                        <a:rPr lang="en-US" sz="2300" dirty="0"/>
                        <a:t>kr232.589/</a:t>
                      </a:r>
                      <a:r>
                        <a:rPr lang="en-US" sz="2300" dirty="0" err="1"/>
                        <a:t>mo</a:t>
                      </a:r>
                      <a:r>
                        <a:rPr lang="en-US" sz="2300" dirty="0"/>
                        <a:t> (62%)</a:t>
                      </a:r>
                    </a:p>
                  </a:txBody>
                  <a:tcPr marL="115732" marR="115732" marT="57866" marB="57866"/>
                </a:tc>
                <a:extLst>
                  <a:ext uri="{0D108BD9-81ED-4DB2-BD59-A6C34878D82A}">
                    <a16:rowId xmlns:a16="http://schemas.microsoft.com/office/drawing/2014/main" val="1944410073"/>
                  </a:ext>
                </a:extLst>
              </a:tr>
            </a:tbl>
          </a:graphicData>
        </a:graphic>
      </p:graphicFrame>
      <p:sp>
        <p:nvSpPr>
          <p:cNvPr id="6" name="Title 1">
            <a:extLst>
              <a:ext uri="{FF2B5EF4-FFF2-40B4-BE49-F238E27FC236}">
                <a16:creationId xmlns:a16="http://schemas.microsoft.com/office/drawing/2014/main" id="{40C005AA-D89B-CBDD-371C-2EBE3DF5B6B9}"/>
              </a:ext>
            </a:extLst>
          </p:cNvPr>
          <p:cNvSpPr txBox="1">
            <a:spLocks/>
          </p:cNvSpPr>
          <p:nvPr/>
        </p:nvSpPr>
        <p:spPr>
          <a:xfrm>
            <a:off x="0" y="36937"/>
            <a:ext cx="12192000" cy="328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Tip 10: Reservations &amp;&amp; Savings Plans</a:t>
            </a:r>
          </a:p>
        </p:txBody>
      </p:sp>
    </p:spTree>
    <p:extLst>
      <p:ext uri="{BB962C8B-B14F-4D97-AF65-F5344CB8AC3E}">
        <p14:creationId xmlns:p14="http://schemas.microsoft.com/office/powerpoint/2010/main" val="3040291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9430DB-2B3C-B672-5796-5768D5EC9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AEA0F-D8AE-6D13-AEC7-D94F5A7D0E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3102090"/>
          </a:xfrm>
        </p:spPr>
        <p:txBody>
          <a:bodyPr>
            <a:norm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AI Coding Agent </a:t>
            </a:r>
            <a:b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Tips for Azure</a:t>
            </a:r>
          </a:p>
        </p:txBody>
      </p:sp>
      <p:pic>
        <p:nvPicPr>
          <p:cNvPr id="3" name="Picture 2" descr="Cloude GIFs | Tenor">
            <a:extLst>
              <a:ext uri="{FF2B5EF4-FFF2-40B4-BE49-F238E27FC236}">
                <a16:creationId xmlns:a16="http://schemas.microsoft.com/office/drawing/2014/main" id="{36F233BD-0D8B-223F-678D-D926834638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9742" y="3904995"/>
            <a:ext cx="3112516" cy="2320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61530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467419-55B4-35B0-64C6-4DE49C554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61ECE-AD84-F8B8-E2D1-A04C2100C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Problem: Need Azure Context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0BAFFC4-F1AA-BABA-B4E5-F374D8DB72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Coding agents know about your codebase by default</a:t>
            </a:r>
          </a:p>
          <a:p>
            <a:r>
              <a:rPr lang="en-US" dirty="0"/>
              <a:t>They don’t know about your Azure environment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0421F44-7EF9-26C6-149A-3085D5B39D5E}"/>
              </a:ext>
            </a:extLst>
          </p:cNvPr>
          <p:cNvSpPr txBox="1">
            <a:spLocks/>
          </p:cNvSpPr>
          <p:nvPr/>
        </p:nvSpPr>
        <p:spPr>
          <a:xfrm>
            <a:off x="0" y="36937"/>
            <a:ext cx="12192000" cy="328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Tip 11: AI Coding Tips for Azure</a:t>
            </a:r>
          </a:p>
        </p:txBody>
      </p:sp>
    </p:spTree>
    <p:extLst>
      <p:ext uri="{BB962C8B-B14F-4D97-AF65-F5344CB8AC3E}">
        <p14:creationId xmlns:p14="http://schemas.microsoft.com/office/powerpoint/2010/main" val="2809783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2ACF1-2AAC-298C-DE6E-34085F4AC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C98E5-4E55-C23C-CEA3-C8A1E3838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Solution: 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</a:rPr>
              <a:t>az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CLI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B95BA573-3A88-274D-2307-53E33780A8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Azure CLI already exists to get you access to everything in Azure</a:t>
            </a:r>
          </a:p>
          <a:p>
            <a:r>
              <a:rPr lang="en-US" dirty="0"/>
              <a:t>Install and then `</a:t>
            </a:r>
            <a:r>
              <a:rPr lang="en-US" dirty="0" err="1"/>
              <a:t>az</a:t>
            </a:r>
            <a:r>
              <a:rPr lang="en-US" dirty="0"/>
              <a:t> login` </a:t>
            </a:r>
          </a:p>
          <a:p>
            <a:r>
              <a:rPr lang="en-US" dirty="0"/>
              <a:t>Don’t even need to tell your agent to do this, just login and then it’ll self-discover</a:t>
            </a:r>
          </a:p>
          <a:p>
            <a:r>
              <a:rPr lang="en-US" dirty="0"/>
              <a:t>Risk: it runs as you – are you a global admin?</a:t>
            </a:r>
          </a:p>
          <a:p>
            <a:pPr lvl="1"/>
            <a:r>
              <a:rPr lang="en-US" dirty="0"/>
              <a:t>This was a problem before AI</a:t>
            </a:r>
          </a:p>
          <a:p>
            <a:r>
              <a:rPr lang="en-US" dirty="0"/>
              <a:t>Fix: new user that’s got Reader only that you `</a:t>
            </a:r>
            <a:r>
              <a:rPr lang="en-US" dirty="0" err="1"/>
              <a:t>az</a:t>
            </a:r>
            <a:r>
              <a:rPr lang="en-US" dirty="0"/>
              <a:t> login` as</a:t>
            </a:r>
          </a:p>
          <a:p>
            <a:r>
              <a:rPr lang="en-US" dirty="0"/>
              <a:t>Additional Fix: auto mode in Claude is 8x more likely to catch dangerous actions than a human approving</a:t>
            </a:r>
          </a:p>
          <a:p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8461384-D10F-F42A-25AD-1CDF7CFCE9F7}"/>
              </a:ext>
            </a:extLst>
          </p:cNvPr>
          <p:cNvSpPr txBox="1">
            <a:spLocks/>
          </p:cNvSpPr>
          <p:nvPr/>
        </p:nvSpPr>
        <p:spPr>
          <a:xfrm>
            <a:off x="0" y="36937"/>
            <a:ext cx="12192000" cy="328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Tip 11: AI Coding Tips for Azure</a:t>
            </a:r>
          </a:p>
        </p:txBody>
      </p:sp>
    </p:spTree>
    <p:extLst>
      <p:ext uri="{BB962C8B-B14F-4D97-AF65-F5344CB8AC3E}">
        <p14:creationId xmlns:p14="http://schemas.microsoft.com/office/powerpoint/2010/main" val="269712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2C5DC-E2F7-9237-2870-9A58AA21E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9AA7E-8188-AC78-D273-5DDBAAFDD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Solution: Then what with the agent + Azure?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C7BE16F-765F-665E-E27B-8ACDC5CA99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Have it review existing infrastructure (best practices, security, cost management evaluation,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r>
              <a:rPr lang="en-US" dirty="0"/>
              <a:t>Have it review the infrastructure and generate IAC for new resources</a:t>
            </a:r>
          </a:p>
          <a:p>
            <a:r>
              <a:rPr lang="en-US" dirty="0"/>
              <a:t>Have it pull your error logs for you</a:t>
            </a:r>
          </a:p>
          <a:p>
            <a:r>
              <a:rPr lang="en-US" dirty="0"/>
              <a:t>Audit </a:t>
            </a:r>
            <a:r>
              <a:rPr lang="en-US"/>
              <a:t>RBAC assignments</a:t>
            </a:r>
            <a:endParaRPr lang="en-US" dirty="0"/>
          </a:p>
          <a:p>
            <a:r>
              <a:rPr lang="en-US" dirty="0"/>
              <a:t>Have it troubleshoot production issues (is it CPU, memory, network, disk,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r>
              <a:rPr lang="en-US" dirty="0"/>
              <a:t>Troubleshoot: take in the context of your codebase, the deployments, and how it’s running in production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ED6FE8B-571E-0767-4EBD-3F8902BB9B31}"/>
              </a:ext>
            </a:extLst>
          </p:cNvPr>
          <p:cNvSpPr txBox="1">
            <a:spLocks/>
          </p:cNvSpPr>
          <p:nvPr/>
        </p:nvSpPr>
        <p:spPr>
          <a:xfrm>
            <a:off x="0" y="36937"/>
            <a:ext cx="12192000" cy="328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Tip 11: AI Coding Tips for Azure</a:t>
            </a:r>
          </a:p>
        </p:txBody>
      </p:sp>
    </p:spTree>
    <p:extLst>
      <p:ext uri="{BB962C8B-B14F-4D97-AF65-F5344CB8AC3E}">
        <p14:creationId xmlns:p14="http://schemas.microsoft.com/office/powerpoint/2010/main" val="42836786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7DC54-71CC-0EE3-76A7-4CD9FDBF4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CA0E9-C4A4-C8D5-A3D1-A8795758D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85938" cy="1325563"/>
          </a:xfrm>
        </p:spPr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Problem: I have error logs, but manually review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2FFBF33-9D63-E714-6D34-CA2990CA7D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Error logs sitting in Log Analytics Workspace or App Insights</a:t>
            </a:r>
          </a:p>
          <a:p>
            <a:r>
              <a:rPr lang="en-US" dirty="0"/>
              <a:t>Maybe you’ve got alerting set up, maybe not</a:t>
            </a:r>
          </a:p>
          <a:p>
            <a:r>
              <a:rPr lang="en-US" dirty="0"/>
              <a:t>Requires a human to see that alert, review the error, and send the fix</a:t>
            </a:r>
          </a:p>
          <a:p>
            <a:r>
              <a:rPr lang="en-US" dirty="0"/>
              <a:t>What if…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B453B5C-428C-7669-B1B1-6DB07879089B}"/>
              </a:ext>
            </a:extLst>
          </p:cNvPr>
          <p:cNvSpPr txBox="1">
            <a:spLocks/>
          </p:cNvSpPr>
          <p:nvPr/>
        </p:nvSpPr>
        <p:spPr>
          <a:xfrm>
            <a:off x="0" y="36937"/>
            <a:ext cx="12192000" cy="328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Tip 11: AI Coding Tips for Azure</a:t>
            </a:r>
          </a:p>
        </p:txBody>
      </p:sp>
    </p:spTree>
    <p:extLst>
      <p:ext uri="{BB962C8B-B14F-4D97-AF65-F5344CB8AC3E}">
        <p14:creationId xmlns:p14="http://schemas.microsoft.com/office/powerpoint/2010/main" val="1675358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CF3137-97C1-E063-814E-E4DF7DF62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C4BA6-DED7-317D-9680-714B1AE523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6858000"/>
          </a:xfrm>
        </p:spPr>
        <p:txBody>
          <a:bodyPr anchor="ctr">
            <a:normAutofit/>
          </a:bodyPr>
          <a:lstStyle/>
          <a:p>
            <a:r>
              <a:rPr lang="en-US" sz="70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A human sees the alert</a:t>
            </a:r>
            <a:br>
              <a:rPr lang="en-US" sz="70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70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A human reviews the error</a:t>
            </a:r>
            <a:br>
              <a:rPr lang="en-US" sz="70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70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A human sends the fix</a:t>
            </a:r>
            <a:br>
              <a:rPr lang="en-US" sz="70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70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Another human reviews the fix</a:t>
            </a:r>
          </a:p>
        </p:txBody>
      </p:sp>
    </p:spTree>
    <p:extLst>
      <p:ext uri="{BB962C8B-B14F-4D97-AF65-F5344CB8AC3E}">
        <p14:creationId xmlns:p14="http://schemas.microsoft.com/office/powerpoint/2010/main" val="41920297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688C3D-DDBA-DDC8-6AD6-FED8C86A4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4201F-A045-130A-5D4F-860880326B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6858000"/>
          </a:xfrm>
        </p:spPr>
        <p:txBody>
          <a:bodyPr anchor="ctr">
            <a:normAutofit/>
          </a:bodyPr>
          <a:lstStyle/>
          <a:p>
            <a:r>
              <a:rPr lang="en-US" sz="70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An AI sees the alert</a:t>
            </a:r>
            <a:br>
              <a:rPr lang="en-US" sz="70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70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An AI reviews the error</a:t>
            </a:r>
            <a:br>
              <a:rPr lang="en-US" sz="70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70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An AI sends the fix</a:t>
            </a:r>
            <a:br>
              <a:rPr lang="en-US" sz="70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70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A human reviews the fix</a:t>
            </a:r>
          </a:p>
        </p:txBody>
      </p:sp>
    </p:spTree>
    <p:extLst>
      <p:ext uri="{BB962C8B-B14F-4D97-AF65-F5344CB8AC3E}">
        <p14:creationId xmlns:p14="http://schemas.microsoft.com/office/powerpoint/2010/main" val="28100055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E43332-CF83-C503-26D0-89860D4FD7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zure to GitHub Copilot workflow infographic" descr="Azure Log Analytics detects an error, automatically creates a GitHub issue, and triggers GitHub Copilot Coding Agent to start working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03169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198D28-A619-B5C5-54D5-9B390C8BC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E5E63-5A2A-DA5F-1A53-DC16F9AEA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85938" cy="1325563"/>
          </a:xfrm>
        </p:spPr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Final Tip: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D77AEF7-D7D8-8642-816A-09586704A9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How do we automate more of the SDLC beyond coding?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A0AD76C-6C59-0AEE-FF1E-C435C708FABF}"/>
              </a:ext>
            </a:extLst>
          </p:cNvPr>
          <p:cNvSpPr txBox="1">
            <a:spLocks/>
          </p:cNvSpPr>
          <p:nvPr/>
        </p:nvSpPr>
        <p:spPr>
          <a:xfrm>
            <a:off x="0" y="36937"/>
            <a:ext cx="12192000" cy="328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Final Tip</a:t>
            </a:r>
          </a:p>
        </p:txBody>
      </p:sp>
    </p:spTree>
    <p:extLst>
      <p:ext uri="{BB962C8B-B14F-4D97-AF65-F5344CB8AC3E}">
        <p14:creationId xmlns:p14="http://schemas.microsoft.com/office/powerpoint/2010/main" val="26777743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99F25-16BB-F788-08C6-58B1D236A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203CF-FDBB-65BF-C3F4-ED261FDE0B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8D65BE-E4D3-95FF-0D03-8FD68F69BA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Hopefully you got at least one idea today you can take back to work</a:t>
            </a:r>
          </a:p>
          <a:p>
            <a:r>
              <a:rPr lang="en-US" dirty="0"/>
              <a:t>This slide deck is your resource – up at scottsauber.com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9C6AADD-664D-2B9C-9995-05913E094E70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D0B9D65-1E58-AB42-DE76-A79D0087F41B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AA1E316-F6BE-3F71-45A7-FD2D0A8BC03A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369685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61254-86DC-4239-85AC-F87EEB565B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51" y="619712"/>
            <a:ext cx="7598536" cy="5772924"/>
          </a:xfrm>
        </p:spPr>
        <p:txBody>
          <a:bodyPr>
            <a:normAutofit/>
          </a:bodyPr>
          <a:lstStyle/>
          <a:p>
            <a:pPr algn="ctr"/>
            <a:r>
              <a:rPr lang="en-US" sz="7200" dirty="0">
                <a:solidFill>
                  <a:schemeClr val="bg1"/>
                </a:solidFill>
                <a:latin typeface="+mn-lt"/>
              </a:rPr>
              <a:t>Questions?</a:t>
            </a:r>
            <a:br>
              <a:rPr lang="en-US" sz="7200" dirty="0">
                <a:solidFill>
                  <a:schemeClr val="bg1"/>
                </a:solidFill>
                <a:latin typeface="+mn-lt"/>
              </a:rPr>
            </a:br>
            <a:r>
              <a:rPr lang="en-US" sz="1800" dirty="0">
                <a:solidFill>
                  <a:schemeClr val="bg1"/>
                </a:solidFill>
                <a:latin typeface="+mn-lt"/>
              </a:rPr>
              <a:t>             ssauber@leantechniques.com</a:t>
            </a:r>
            <a:br>
              <a:rPr lang="en-US" sz="1800" dirty="0">
                <a:solidFill>
                  <a:schemeClr val="bg1"/>
                </a:solidFill>
                <a:latin typeface="+mn-lt"/>
              </a:rPr>
            </a:br>
            <a:r>
              <a:rPr lang="en-US" sz="1800" dirty="0">
                <a:solidFill>
                  <a:schemeClr val="bg1"/>
                </a:solidFill>
                <a:latin typeface="+mn-lt"/>
              </a:rPr>
              <a:t>             @scottsauber.com on Bluesky</a:t>
            </a:r>
            <a:br>
              <a:rPr lang="en-US" sz="1800" dirty="0">
                <a:solidFill>
                  <a:schemeClr val="bg1"/>
                </a:solidFill>
                <a:latin typeface="+mn-lt"/>
              </a:rPr>
            </a:br>
            <a:r>
              <a:rPr lang="en-US" sz="1800" dirty="0">
                <a:solidFill>
                  <a:schemeClr val="bg1"/>
                </a:solidFill>
                <a:latin typeface="+mn-lt"/>
              </a:rPr>
              <a:t>             @scottsauber on Twitter</a:t>
            </a:r>
            <a:br>
              <a:rPr lang="en-US" sz="1800" dirty="0">
                <a:solidFill>
                  <a:schemeClr val="bg1"/>
                </a:solidFill>
                <a:latin typeface="+mn-lt"/>
              </a:rPr>
            </a:br>
            <a:r>
              <a:rPr lang="en-US" sz="1800" dirty="0">
                <a:solidFill>
                  <a:schemeClr val="bg1"/>
                </a:solidFill>
                <a:latin typeface="+mn-lt"/>
              </a:rPr>
              <a:t>LinkedIn 👉</a:t>
            </a:r>
            <a:br>
              <a:rPr lang="en-US" sz="1800" dirty="0">
                <a:solidFill>
                  <a:schemeClr val="bg1"/>
                </a:solidFill>
                <a:latin typeface="+mn-lt"/>
              </a:rPr>
            </a:br>
            <a:endParaRPr lang="en-US" sz="18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097882A2-4820-4881-9C23-D09EE5DE1AF4}"/>
              </a:ext>
            </a:extLst>
          </p:cNvPr>
          <p:cNvSpPr txBox="1">
            <a:spLocks/>
          </p:cNvSpPr>
          <p:nvPr/>
        </p:nvSpPr>
        <p:spPr>
          <a:xfrm>
            <a:off x="90625" y="3418380"/>
            <a:ext cx="12192000" cy="3371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3600" dirty="0">
              <a:solidFill>
                <a:schemeClr val="bg1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sz="4000" dirty="0">
              <a:solidFill>
                <a:schemeClr val="bg1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dirty="0">
              <a:solidFill>
                <a:schemeClr val="bg1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dirty="0">
              <a:solidFill>
                <a:schemeClr val="bg1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indent="0">
              <a:buNone/>
            </a:pPr>
            <a:endParaRPr lang="en-US" dirty="0">
              <a:solidFill>
                <a:schemeClr val="bg1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Slides at scottsauber.com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4C7B134-F373-5096-3631-336CE013F949}"/>
              </a:ext>
            </a:extLst>
          </p:cNvPr>
          <p:cNvGrpSpPr/>
          <p:nvPr/>
        </p:nvGrpSpPr>
        <p:grpSpPr>
          <a:xfrm>
            <a:off x="10151901" y="6255713"/>
            <a:ext cx="2130724" cy="474323"/>
            <a:chOff x="9970651" y="6185410"/>
            <a:chExt cx="2130724" cy="474323"/>
          </a:xfrm>
        </p:grpSpPr>
        <p:sp>
          <p:nvSpPr>
            <p:cNvPr id="4" name="Subtitle 2">
              <a:extLst>
                <a:ext uri="{FF2B5EF4-FFF2-40B4-BE49-F238E27FC236}">
                  <a16:creationId xmlns:a16="http://schemas.microsoft.com/office/drawing/2014/main" id="{B1F15C01-A94B-195C-44DF-926DB370EDDE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/>
                  </a:solidFill>
                </a:rPr>
                <a:t>scottsauber</a:t>
              </a:r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70804DA-6ABF-AAEB-9D14-398461D41A82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Title 1">
            <a:extLst>
              <a:ext uri="{FF2B5EF4-FFF2-40B4-BE49-F238E27FC236}">
                <a16:creationId xmlns:a16="http://schemas.microsoft.com/office/drawing/2014/main" id="{23E1433C-846E-D92D-879B-DC4203FF05D6}"/>
              </a:ext>
            </a:extLst>
          </p:cNvPr>
          <p:cNvSpPr txBox="1">
            <a:spLocks/>
          </p:cNvSpPr>
          <p:nvPr/>
        </p:nvSpPr>
        <p:spPr>
          <a:xfrm>
            <a:off x="7491834" y="1163894"/>
            <a:ext cx="3308926" cy="8551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400" dirty="0">
                <a:solidFill>
                  <a:schemeClr val="bg1"/>
                </a:solidFill>
                <a:latin typeface="+mn-lt"/>
              </a:rPr>
              <a:t>Add me on LinkedIn: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1A32F2D-18A6-CDD8-AB0E-DEBFDE4436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1097" y="1889877"/>
            <a:ext cx="2867152" cy="2867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098873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61254-86DC-4239-85AC-F87EEB565B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27511"/>
          </a:xfrm>
        </p:spPr>
        <p:txBody>
          <a:bodyPr>
            <a:normAutofit/>
          </a:bodyPr>
          <a:lstStyle/>
          <a:p>
            <a:pPr algn="ctr"/>
            <a:r>
              <a:rPr lang="en-US" sz="7200" dirty="0">
                <a:solidFill>
                  <a:schemeClr val="bg1"/>
                </a:solidFill>
                <a:latin typeface="+mn-lt"/>
              </a:rPr>
              <a:t>Thanks!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E0D3713-F3EF-9907-AE2C-81CAE8EE1032}"/>
              </a:ext>
            </a:extLst>
          </p:cNvPr>
          <p:cNvGrpSpPr/>
          <p:nvPr/>
        </p:nvGrpSpPr>
        <p:grpSpPr>
          <a:xfrm>
            <a:off x="10151901" y="6255713"/>
            <a:ext cx="2130724" cy="474323"/>
            <a:chOff x="9970651" y="6185410"/>
            <a:chExt cx="2130724" cy="474323"/>
          </a:xfrm>
        </p:grpSpPr>
        <p:sp>
          <p:nvSpPr>
            <p:cNvPr id="8" name="Subtitle 2">
              <a:extLst>
                <a:ext uri="{FF2B5EF4-FFF2-40B4-BE49-F238E27FC236}">
                  <a16:creationId xmlns:a16="http://schemas.microsoft.com/office/drawing/2014/main" id="{AC058655-0A4D-A435-8AF1-E64E0CA276B5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/>
                  </a:solidFill>
                </a:rPr>
                <a:t>scottsauber</a:t>
              </a:r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13CAB7E-EB4B-279D-5799-DD0F5243C897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2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Subtitle 2">
            <a:extLst>
              <a:ext uri="{FF2B5EF4-FFF2-40B4-BE49-F238E27FC236}">
                <a16:creationId xmlns:a16="http://schemas.microsoft.com/office/drawing/2014/main" id="{32376B32-20EA-0C2E-8529-B3DD0295F79D}"/>
              </a:ext>
            </a:extLst>
          </p:cNvPr>
          <p:cNvSpPr txBox="1">
            <a:spLocks/>
          </p:cNvSpPr>
          <p:nvPr/>
        </p:nvSpPr>
        <p:spPr>
          <a:xfrm>
            <a:off x="90625" y="3418380"/>
            <a:ext cx="12192000" cy="3371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3600" dirty="0">
              <a:solidFill>
                <a:schemeClr val="bg1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sz="4000" dirty="0">
              <a:solidFill>
                <a:schemeClr val="bg1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dirty="0">
              <a:solidFill>
                <a:schemeClr val="bg1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dirty="0">
              <a:solidFill>
                <a:schemeClr val="bg1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indent="0">
              <a:buNone/>
            </a:pPr>
            <a:endParaRPr lang="en-US" dirty="0">
              <a:solidFill>
                <a:schemeClr val="bg1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Slides at scottsauber.com</a:t>
            </a:r>
          </a:p>
        </p:txBody>
      </p:sp>
    </p:spTree>
    <p:extLst>
      <p:ext uri="{BB962C8B-B14F-4D97-AF65-F5344CB8AC3E}">
        <p14:creationId xmlns:p14="http://schemas.microsoft.com/office/powerpoint/2010/main" val="181947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50269</TotalTime>
  <Words>2156</Words>
  <Application>Microsoft Macintosh PowerPoint</Application>
  <PresentationFormat>Widescreen</PresentationFormat>
  <Paragraphs>348</Paragraphs>
  <Slides>62</Slides>
  <Notes>61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8" baseType="lpstr">
      <vt:lpstr>Arial</vt:lpstr>
      <vt:lpstr>Calibri</vt:lpstr>
      <vt:lpstr>Calibri Light</vt:lpstr>
      <vt:lpstr>Open Sans</vt:lpstr>
      <vt:lpstr>Wingdings</vt:lpstr>
      <vt:lpstr>Office Theme</vt:lpstr>
      <vt:lpstr>The 10 Most Common  Azure Mistakes  (and how to fix them)</vt:lpstr>
      <vt:lpstr>Audience</vt:lpstr>
      <vt:lpstr>Poll</vt:lpstr>
      <vt:lpstr>Agenda</vt:lpstr>
      <vt:lpstr>Goals</vt:lpstr>
      <vt:lpstr>Who am I? </vt:lpstr>
      <vt:lpstr>Why this talk?</vt:lpstr>
      <vt:lpstr>2026 version</vt:lpstr>
      <vt:lpstr>2026 version – but with lifting</vt:lpstr>
      <vt:lpstr>Account Organization</vt:lpstr>
      <vt:lpstr>Subscriptions vs Resource Groups</vt:lpstr>
      <vt:lpstr>Problem: Account Organization is a mess</vt:lpstr>
      <vt:lpstr>Solution: Develop Account Organization Strategy</vt:lpstr>
      <vt:lpstr>Naming Standards</vt:lpstr>
      <vt:lpstr>Problem: Naming is a mess</vt:lpstr>
      <vt:lpstr>Solution: Implement a Naming Standard</vt:lpstr>
      <vt:lpstr>Tagging Standards</vt:lpstr>
      <vt:lpstr>Problem: Tagging is a mess</vt:lpstr>
      <vt:lpstr>Solution: Implement a Tagging Standard</vt:lpstr>
      <vt:lpstr>Azure Policies</vt:lpstr>
      <vt:lpstr>Problem: We aren’t enforcing our standards</vt:lpstr>
      <vt:lpstr>Solution: Azure Policies</vt:lpstr>
      <vt:lpstr>Managed Identities</vt:lpstr>
      <vt:lpstr>Problem: We are managing credentials</vt:lpstr>
      <vt:lpstr>Solution: Use Managed Identities</vt:lpstr>
      <vt:lpstr>DefaultAzureCredential</vt:lpstr>
      <vt:lpstr>Problem: People use DefaultAzureCredential…</vt:lpstr>
      <vt:lpstr>Problem: People use DefaultAzureCredential…</vt:lpstr>
      <vt:lpstr>Solution: Be explicit about credentials</vt:lpstr>
      <vt:lpstr>Solution: Be explicit about credentials</vt:lpstr>
      <vt:lpstr>Requiring TLS 1.2+</vt:lpstr>
      <vt:lpstr>Problem: Not requiring TLS 1.2+</vt:lpstr>
      <vt:lpstr>Solution: Require TLS 1.2+</vt:lpstr>
      <vt:lpstr>FederatedCredentials</vt:lpstr>
      <vt:lpstr>Problem: Not using Federated Credentials</vt:lpstr>
      <vt:lpstr>Solution: Use Federated Credentials</vt:lpstr>
      <vt:lpstr>Solution: Use Federated Credentials</vt:lpstr>
      <vt:lpstr>Solution: Use Federated Credentials</vt:lpstr>
      <vt:lpstr>GitHub Integration First Class</vt:lpstr>
      <vt:lpstr>Budgets and  Cost Alerts</vt:lpstr>
      <vt:lpstr>Problem: Cost isn’t managed in Azure</vt:lpstr>
      <vt:lpstr>Solution: Use Azure Budgets</vt:lpstr>
      <vt:lpstr>Solution: Use Azure Cost Alerts</vt:lpstr>
      <vt:lpstr>Azure Reservations</vt:lpstr>
      <vt:lpstr>Problem: Cost is getting too high</vt:lpstr>
      <vt:lpstr>Solution: Azure Reservations</vt:lpstr>
      <vt:lpstr>Azure Savings Plans</vt:lpstr>
      <vt:lpstr>Problem: Cost is getting too high</vt:lpstr>
      <vt:lpstr>Solution: Azure Savings Plans</vt:lpstr>
      <vt:lpstr>Comparing Savings Plans vs Reservations</vt:lpstr>
      <vt:lpstr>AI Coding Agent  Tips for Azure</vt:lpstr>
      <vt:lpstr>Problem: Need Azure Context</vt:lpstr>
      <vt:lpstr>Solution: az CLI</vt:lpstr>
      <vt:lpstr>Solution: Then what with the agent + Azure?</vt:lpstr>
      <vt:lpstr>Problem: I have error logs, but manually review</vt:lpstr>
      <vt:lpstr>A human sees the alert A human reviews the error A human sends the fix Another human reviews the fix</vt:lpstr>
      <vt:lpstr>An AI sees the alert An AI reviews the error An AI sends the fix A human reviews the fix</vt:lpstr>
      <vt:lpstr>PowerPoint Presentation</vt:lpstr>
      <vt:lpstr>Final Tip:</vt:lpstr>
      <vt:lpstr>Takeaways</vt:lpstr>
      <vt:lpstr>Questions?              ssauber@leantechniques.com              @scottsauber.com on Bluesky              @scottsauber on Twitter LinkedIn 👉 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 Most Common Azure Mistakes</dc:title>
  <dc:creator>Scott Sauber</dc:creator>
  <cp:lastModifiedBy>Scott Sauber</cp:lastModifiedBy>
  <cp:revision>535</cp:revision>
  <dcterms:created xsi:type="dcterms:W3CDTF">2020-03-08T20:31:35Z</dcterms:created>
  <dcterms:modified xsi:type="dcterms:W3CDTF">2026-09-17T06:06:32Z</dcterms:modified>
</cp:coreProperties>
</file>