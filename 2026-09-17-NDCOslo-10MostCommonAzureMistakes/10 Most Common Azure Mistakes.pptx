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7"/>
  </p:notesMasterIdLst>
  <p:sldIdLst>
    <p:sldId id="257" r:id="rId2"/>
    <p:sldId id="285" r:id="rId3"/>
    <p:sldId id="326" r:id="rId4"/>
    <p:sldId id="369" r:id="rId5"/>
    <p:sldId id="410" r:id="rId6"/>
    <p:sldId id="535" r:id="rId7"/>
    <p:sldId id="438" r:id="rId8"/>
    <p:sldId id="463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546" r:id="rId20"/>
    <p:sldId id="547" r:id="rId21"/>
    <p:sldId id="548" r:id="rId22"/>
    <p:sldId id="549" r:id="rId23"/>
    <p:sldId id="550" r:id="rId24"/>
    <p:sldId id="571" r:id="rId25"/>
    <p:sldId id="551" r:id="rId26"/>
    <p:sldId id="552" r:id="rId27"/>
    <p:sldId id="553" r:id="rId28"/>
    <p:sldId id="554" r:id="rId29"/>
    <p:sldId id="555" r:id="rId30"/>
    <p:sldId id="556" r:id="rId31"/>
    <p:sldId id="557" r:id="rId32"/>
    <p:sldId id="558" r:id="rId33"/>
    <p:sldId id="570" r:id="rId34"/>
    <p:sldId id="560" r:id="rId35"/>
    <p:sldId id="559" r:id="rId36"/>
    <p:sldId id="561" r:id="rId37"/>
    <p:sldId id="562" r:id="rId38"/>
    <p:sldId id="563" r:id="rId39"/>
    <p:sldId id="565" r:id="rId40"/>
    <p:sldId id="566" r:id="rId41"/>
    <p:sldId id="564" r:id="rId42"/>
    <p:sldId id="567" r:id="rId43"/>
    <p:sldId id="568" r:id="rId44"/>
    <p:sldId id="569" r:id="rId45"/>
    <p:sldId id="572" r:id="rId46"/>
    <p:sldId id="573" r:id="rId47"/>
    <p:sldId id="574" r:id="rId48"/>
    <p:sldId id="575" r:id="rId49"/>
    <p:sldId id="576" r:id="rId50"/>
    <p:sldId id="577" r:id="rId51"/>
    <p:sldId id="578" r:id="rId52"/>
    <p:sldId id="579" r:id="rId53"/>
    <p:sldId id="534" r:id="rId54"/>
    <p:sldId id="400" r:id="rId55"/>
    <p:sldId id="33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02A"/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8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79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8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6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357F-79C0-B9E8-2BE5-B53C8693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54DCA-BD9A-4DF0-3057-23266EACC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F9E3F-6443-E041-BBBD-3A4F1E19D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2598-2F8C-40FB-26F4-F4168D36B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62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09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4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47C0-816F-3643-CC74-0A66BCC9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1C802-5F23-3949-130F-CBBB01C49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A62C6-95EE-8B8F-B0F1-E830786EA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C286-487D-E5F7-0962-0BC8EAD15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85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4F0F-59D5-4E12-325D-571BCB86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2BFCB-8264-85DC-2E49-C46AC1F0C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E0432-C0E2-A737-4E4C-40FF85B0C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7A2BC-078F-8EEF-9B95-C867F47D8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2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138E-F962-106A-6294-437C5691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73C83-0B01-D89D-727D-26B73B9F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0E8F3-2E8F-A4B1-28E0-32573C3BE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8FB3B-077C-D541-10C8-B6E42AF46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6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8786-BDE3-FC05-6A80-02F86F3A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02F1C-3551-B925-6416-F598A2A6C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95D68-B431-D557-8DA9-5AE4FF102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05F2B-2546-E494-0C1D-94EC01C96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79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4B08-9BFB-B60D-8CB7-A4B229EA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4CFC3-F4CB-22D2-FEA6-8A2E62AD2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A936-9180-B046-E5FC-650774071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982D3-E646-D736-7260-CCDEF31F3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62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B9FD3-E442-913F-0C99-F679A1BE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62A66-3547-FC5C-B5F7-677569C05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FB467-8B29-55CE-7716-A27592A2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94005-F270-8504-F6C6-DE10584DA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36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DB2AA-6655-C7CA-C0CC-44DEB2AE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DE29F-443A-2CE6-0DC6-D22B06C8C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B3152-F572-64E0-17CD-2C08065B8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732F5-FBA5-8086-00B1-DD1CF119D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74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B9CD-8E7A-3C6A-44CD-399BAB80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F300E-B191-1BAF-7F64-F1D3D1986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3523C-3487-F0B9-E69A-71706F90E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80973-358E-92C4-E758-76D76D0EA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05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00E0-0A3A-D68D-5C34-CDD90E92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544C4-31AD-DA3F-80DB-85502A7D0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C966F-E460-C906-6314-36AF412B5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C04F7-D761-38E7-F70C-497D2FC1A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0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E402-E6EF-D5CA-1BCA-36AAD8FF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34008-7CBB-FDCF-A819-3341574F9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8D017-D8B2-5ACB-1FEB-91F5CAD5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4E0B2-B991-89B6-3950-F43AA4DC2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913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87BA-850A-0FDA-0838-36FB1B07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2077A-1C3E-2E31-E02E-1A6204581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D00C1-7027-DA27-A914-6D52D5943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C82E5-7550-2D1F-0EEC-5B93D33FB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92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8B73-6184-99FF-53B1-20C4AC73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D6407-0C33-B2A0-6342-175145C0E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FBD3A-A261-4C2C-F485-F270A5938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751B-0BD6-E65D-D008-B8028082D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60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4917-DD2B-BD42-9766-89E563DA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AF4B2-27E2-5B2C-5BB0-796809791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0092C-25DE-F632-2B04-CC1294E84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1C55-399A-AA5D-FE02-C9EC05479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22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C263-782A-E09F-58C2-66CF75F3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4815A-0348-4358-003E-E99677886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1A0C0-57FE-38FE-F803-0EBF7A4C7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1679-5415-B9D0-ACE3-C0723B5CF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89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6933-B52A-183F-6677-F9603398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A855-CC75-9E1F-A268-8A0671CDF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C1198-DDC2-ED1E-F5CE-8380B2178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0EA2A-DC30-A819-3B44-66A4278DD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18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3049-61C1-CBE7-26B9-28B1AF5F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37328-9FC6-D8C4-D17E-97EA649F3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38C20-D8F3-BDC3-909C-84A59FE4B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E810A-321F-CEF9-DAB9-EE75AF65D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4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A69B-A6DB-C0EC-CC0E-80200DEF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C89E4-E41F-8A3C-8D9F-8CA7939F7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8DE93-CE2D-496C-D744-26B9D8A2B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27E77-F257-B054-5C39-D4904EB49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49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C994-7E03-5B80-8767-45263B72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C2C12-6FB5-1F4C-F6E4-E26263A4A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29051-3BDF-0D3B-8EF1-D45461685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3D0D1-5086-97B3-2137-5835A2F9C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237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E242-934D-EE59-4D86-E56474F2E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4B504-EBD1-59BC-3748-FDB5CA2A6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1B62B-6DDD-662C-D676-7DCCDEBE8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9F0EF-B384-BDC6-260B-2025A19F1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77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8FDF-E1E8-55EE-03A3-B8571010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4915F-9B9C-593B-A274-ECF305FC0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221D8-D57A-0308-D8AC-21BA12319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CEC28-BF05-96BA-A9BE-70176ABE9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757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4D7A-0A66-A533-C879-602E7075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D8F3E-FE5C-E3FB-8AAB-5E6AA90E6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CD35C-6022-8A79-9E20-A6DFD3298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85754-8BA4-776E-0814-3C4DF699B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551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7026C-D411-C0B8-540E-B9852727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FC588-B2BC-EFED-D9F3-8D499CEF7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BF2D0-5E96-71EB-0CC5-FD285C396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2EFF6-FC83-74A4-85B5-1FCCF1DFD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55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C0C9-5863-AE7D-8C16-42BF53B8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F21EB-0104-99DC-DB26-BEF218A8F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2485-45E9-5025-E6F8-AB57D71C0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16A5E-A298-8D51-3270-CE9DACF40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91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C418-5213-3DFD-68A5-5B1DE174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9FD1C-401B-8EBE-6B7D-33D97243E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C5FC-6811-CCF0-0465-C442B2EB9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C6FCE-F881-5AFD-097A-ED26863A4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812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3266-080A-3AD3-F01A-D78E060C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75794-5241-28CF-7C3F-142148763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C8E7E-4B2E-1523-381D-150D5DD58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6FBB7-A43A-4A3F-28AC-768C7FDB8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385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FF00-9003-0BEB-E8C4-A49FD533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627EC-A1AA-9FBD-FE09-F1D92060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8CFC6-5606-3911-AA76-6A19E691F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7D4F6-3454-EC65-4FD3-9ADAA8063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0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B5D3-70C3-B049-4428-B1865652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A5C89-0660-873F-0EB3-21155C9C2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3674A-E325-2F60-E669-2EEE1CDF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B9BC2-C52F-C902-7A0F-914A9E18A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29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C1E7-76F4-F7DD-1D5F-EBB31705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3DE70-F7AA-0002-388E-EB50B6B84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525AC-22B9-1363-7BE7-43E7C6C9B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1F98-DA83-95D5-514E-2EABD633F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871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F4164-89F5-E58A-C365-C3F894F4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2534E-6AF5-5FF8-036C-A866B57FC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901FC-6469-6660-CB11-10A8D48C0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9B66-B510-93CB-FA0C-7D2046A1A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732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1224-096B-EF10-6F76-4F225DD7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61BE5-83D6-2C1E-43A8-4371440B4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8D00-AA77-C0A3-0023-32CA8E0C4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4C7A-31DF-FCD0-746A-D6196DE0A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849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3419-DD99-E8E5-B004-B40135A0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5FA5-0353-3F64-37B3-94E5F5E4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D65F2-A09D-C516-6449-AAC849BB0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961A-AFA9-3A0F-EC92-5BCB75E2A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69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EF8A-FBFA-06DD-16DC-86DBA0F4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DD152-7299-CF95-A34F-0F43A4BA1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6CA10-BF82-FDE2-CE04-D36E8B0A0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811BF-316C-D7A3-53AC-3453D151A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141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79F2-FD1F-1AE4-CDC2-8826FBA8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1CEC2-432E-97AA-FB4E-107C86D97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067A9-3DA8-50BF-8E0C-E9073E6A8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7E838-CCE7-A5CA-7AC7-DEE9EC2BE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33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B655-44C3-1DB2-94CA-F7D275F9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0D29A-B146-6C7C-EAE6-55DF1140F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8EC47-ABD7-005D-EBC3-DBC392ED9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10E5A-536D-57D8-EA57-9D19D8735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079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22DA-9525-BAE8-7509-C1B3C4FF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1FA4D-5DC4-E8C9-98A2-DDF933C3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5DE2F-A62A-B057-615F-53CD688C1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76766-2D8A-1EA1-8EF2-801692F77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132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2D4C-2BD5-7B1B-ED82-0208C302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0E4EC-6881-C645-6756-B4EABD78B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78F06-1D58-2A4D-F84F-08AEF1E4C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D90B4-508C-EA25-4951-86ED411FE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2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CED7-4974-1E8F-7112-3EA71EA8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59EA3-185C-875B-07FB-8FB54B2AD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4A3CB-7413-C9B9-CDC8-DA4DB31A9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B7AE2-DC94-40F3-AFCD-A68F71221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164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0310-17BB-C8DE-0B5A-85A4E5BE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A44A9-0784-1407-5337-3B418BE15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24C52-A049-B16E-3B57-2A629306C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04E3D-77DF-2B26-1A72-F4CEB08C0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824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DB1D-A5C7-974B-9B29-1A0AC8D8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7C90F-7A4A-E93C-9D28-D4E12EE1F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8C8BC-4B5F-A67F-65D6-70ADE9A1B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3F212-C859-9CC9-4BA1-BAA2E602F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227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1A6F-4006-9DE7-9499-835142A1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B5DF5-648D-41EB-55A1-84019438C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B44BD-F7EA-3861-8443-2F9CF0BF8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40842-4A7D-AE17-CE5F-2AE27EC6A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157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B6701-9AC2-0D37-F33D-FA16DFE0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EB15A-4CEA-E65A-96FA-21AA4D057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B9A63-C716-DA4A-00F0-A690C2CFD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2426D-7038-EDAA-AEC1-DD7A282E9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709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229B-2FA2-A515-6002-9A74E7A4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23DAB-64A5-93ED-0130-C2A204A08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3E6B-3122-CE3C-6356-AB068ADE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AF7B9-ED9F-1A41-1AE7-B9C080375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817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52F71-0000-A561-A6D6-9C91512B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96582-00E9-8168-4F4C-F95240779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BEB50-3A9A-86D9-E8CD-8D2801397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6D94A-74BB-5F79-3E8F-5A10CBEE6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478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17F8-1F69-F81E-8FB2-A67DDA30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F9D3F-C119-5D5F-7B0B-4E5F1A25F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EE771-6BB3-1EF6-C506-A724BB08A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E1DDE-5E12-A74B-244F-6A321FD1E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548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3EDB-B3E0-49F6-85FA-C2B4D5BD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C60E6-ACDA-EBBE-F38A-D062864F4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D46A0-6F3A-66DE-B90E-468BDD47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9732-FA96-7A98-FA9E-E97B5D594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874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www.red-gate.com/hub/events/friends-of-rg/friend/ScottSauber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loud-adoption-framework/ready/azure-best-practices/resource-naming#develop-your-naming-conven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spnp/AzureNamingTool" TargetMode="External"/><Relationship Id="rId4" Type="http://schemas.openxmlformats.org/officeDocument/2006/relationships/hyperlink" Target="https://learn.microsoft.com/en-us/azure/cloud-adoption-framework/ready/azure-best-practices/resource-abbreviation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zure/sdk/authentication/best-practices?tabs=aspdotne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ottsauber.com/2022/05/10/improving-azure-key-vault-performance-in-asp-net-core-by-up-to-10x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sllabs.com/ssltest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how-tos/secure-your-work/security-harden-deployments/oidc-in-azure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7425"/>
            <a:ext cx="12192000" cy="6783149"/>
          </a:xfrm>
        </p:spPr>
        <p:txBody>
          <a:bodyPr anchor="ctr">
            <a:normAutofit/>
          </a:bodyPr>
          <a:lstStyle/>
          <a:p>
            <a: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The 10 Most Common </a:t>
            </a:r>
            <a:b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Mistakes </a:t>
            </a:r>
            <a:b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(and how to fix them)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F464C5-3076-4402-9791-59D524AC8DC8}"/>
              </a:ext>
            </a:extLst>
          </p:cNvPr>
          <p:cNvGrpSpPr/>
          <p:nvPr/>
        </p:nvGrpSpPr>
        <p:grpSpPr>
          <a:xfrm>
            <a:off x="10178979" y="6262845"/>
            <a:ext cx="2106544" cy="474323"/>
            <a:chOff x="9994831" y="6185410"/>
            <a:chExt cx="2106544" cy="474323"/>
          </a:xfrm>
        </p:grpSpPr>
        <p:pic>
          <p:nvPicPr>
            <p:cNvPr id="6" name="Picture 2" descr="Image result for twitter logo">
              <a:extLst>
                <a:ext uri="{FF2B5EF4-FFF2-40B4-BE49-F238E27FC236}">
                  <a16:creationId xmlns:a16="http://schemas.microsoft.com/office/drawing/2014/main" id="{BF5CBA11-98FF-4FEC-A8EF-50E5FADF0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67602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9B9DABC1-AB03-4BB4-80DE-95414137804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2" descr="Image result for twitter logo">
              <a:extLst>
                <a:ext uri="{FF2B5EF4-FFF2-40B4-BE49-F238E27FC236}">
                  <a16:creationId xmlns:a16="http://schemas.microsoft.com/office/drawing/2014/main" id="{9312450C-A15A-4CF9-8CFC-DDCA027CB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90606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Anyone using Azure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Technically some of these translate to AWS/GCP too</a:t>
            </a:r>
          </a:p>
        </p:txBody>
      </p:sp>
    </p:spTree>
    <p:extLst>
      <p:ext uri="{BB962C8B-B14F-4D97-AF65-F5344CB8AC3E}">
        <p14:creationId xmlns:p14="http://schemas.microsoft.com/office/powerpoint/2010/main" val="276410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Series of lightning talks</a:t>
            </a:r>
          </a:p>
          <a:p>
            <a:r>
              <a:rPr lang="en-US" dirty="0"/>
              <a:t>Account Organization</a:t>
            </a:r>
          </a:p>
          <a:p>
            <a:r>
              <a:rPr lang="en-US" dirty="0"/>
              <a:t>Naming Standards</a:t>
            </a:r>
          </a:p>
          <a:p>
            <a:r>
              <a:rPr lang="en-US" dirty="0"/>
              <a:t>Tagging Standards</a:t>
            </a:r>
          </a:p>
          <a:p>
            <a:r>
              <a:rPr lang="en-US" dirty="0"/>
              <a:t>Azure Policies</a:t>
            </a:r>
          </a:p>
          <a:p>
            <a:r>
              <a:rPr lang="en-US" dirty="0"/>
              <a:t>Managed Identities</a:t>
            </a:r>
          </a:p>
          <a:p>
            <a:r>
              <a:rPr lang="en-US" dirty="0" err="1"/>
              <a:t>DefaultAzureCredential</a:t>
            </a:r>
            <a:endParaRPr lang="en-US" dirty="0"/>
          </a:p>
          <a:p>
            <a:r>
              <a:rPr lang="en-US" dirty="0"/>
              <a:t>Requiring TLS 1.2+</a:t>
            </a:r>
          </a:p>
          <a:p>
            <a:r>
              <a:rPr lang="en-US" dirty="0"/>
              <a:t>Federated Credentials</a:t>
            </a:r>
          </a:p>
          <a:p>
            <a:r>
              <a:rPr lang="en-US" dirty="0"/>
              <a:t>Budgets and Cost Alerting</a:t>
            </a:r>
          </a:p>
          <a:p>
            <a:r>
              <a:rPr lang="en-US" dirty="0"/>
              <a:t>Reservations</a:t>
            </a:r>
          </a:p>
          <a:p>
            <a:r>
              <a:rPr lang="en-US" dirty="0"/>
              <a:t>Savings Plans</a:t>
            </a:r>
          </a:p>
          <a:p>
            <a:r>
              <a:rPr lang="en-US" dirty="0"/>
              <a:t>++ AI topics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4108"/>
          </a:xfrm>
        </p:spPr>
        <p:txBody>
          <a:bodyPr>
            <a:normAutofit/>
          </a:bodyPr>
          <a:lstStyle/>
          <a:p>
            <a:r>
              <a:rPr lang="en-US" dirty="0"/>
              <a:t>Ideas on how to make your Azure more maintainable, cost effective, and more performant</a:t>
            </a:r>
          </a:p>
          <a:p>
            <a:r>
              <a:rPr lang="en-US" dirty="0"/>
              <a:t>At least one idea that you can go implement immediately at work</a:t>
            </a:r>
          </a:p>
        </p:txBody>
      </p: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56808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endParaRPr lang="en-US" dirty="0">
              <a:hlinkClick r:id="rId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931341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93" y="4692048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949724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949723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959710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81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C20D-6753-8776-8FD9-DE372791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89B6-EC11-CBB8-D71F-416DA7FF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this talk?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328A123-ACC7-DC8C-C8B7-6BA53C3DA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16" y="1532427"/>
            <a:ext cx="7750968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73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Account Organization</a:t>
            </a:r>
          </a:p>
        </p:txBody>
      </p:sp>
      <p:pic>
        <p:nvPicPr>
          <p:cNvPr id="10" name="Picture 2" descr="https://18670-presscdn-pagely.netdna-ssl.com/wp-content/uploads/2016/08/color-coded-5.gif">
            <a:extLst>
              <a:ext uri="{FF2B5EF4-FFF2-40B4-BE49-F238E27FC236}">
                <a16:creationId xmlns:a16="http://schemas.microsoft.com/office/drawing/2014/main" id="{267884F5-BF03-43FF-B2F6-D21013C151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756" y="3510944"/>
            <a:ext cx="5044487" cy="252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35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Account Organization is a mess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One Subscription to rule them all</a:t>
            </a:r>
          </a:p>
          <a:p>
            <a:r>
              <a:rPr lang="en-US" dirty="0"/>
              <a:t>Subscriptions named by app sometimes and by team other times</a:t>
            </a:r>
          </a:p>
          <a:p>
            <a:r>
              <a:rPr lang="en-US" dirty="0"/>
              <a:t>Resource Groups with no real structure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617ACB-7FD9-7C41-D4CC-A91CD6DF1C3F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1: Account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5483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9F02-EB82-311D-8FFA-82F79EC3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F5A4-F360-290E-79A4-E2265851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Develop Account Organization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8CA0D-9BE7-63F8-B8C2-8E2D6FB2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Subscriptions - It Depends™️</a:t>
            </a:r>
          </a:p>
          <a:p>
            <a:pPr lvl="1"/>
            <a:r>
              <a:rPr lang="en-US" dirty="0"/>
              <a:t>Minimum: per environment boundaries</a:t>
            </a:r>
          </a:p>
          <a:p>
            <a:pPr lvl="1"/>
            <a:r>
              <a:rPr lang="en-US" dirty="0"/>
              <a:t>Maximum: per team per environment boundaries</a:t>
            </a:r>
          </a:p>
          <a:p>
            <a:r>
              <a:rPr lang="en-US" dirty="0"/>
              <a:t>Resource Groups – always per app per environment</a:t>
            </a:r>
          </a:p>
          <a:p>
            <a:r>
              <a:rPr lang="en-US" dirty="0"/>
              <a:t>Service Groups – new as of May 2025</a:t>
            </a:r>
          </a:p>
          <a:p>
            <a:pPr lvl="1"/>
            <a:r>
              <a:rPr lang="en-US" dirty="0"/>
              <a:t>Fancy tags</a:t>
            </a:r>
          </a:p>
          <a:p>
            <a:pPr lvl="1"/>
            <a:r>
              <a:rPr lang="en-US" dirty="0"/>
              <a:t>Overlay to pull together across subscriptions, resource groups, </a:t>
            </a:r>
            <a:r>
              <a:rPr lang="en-US" dirty="0" err="1"/>
              <a:t>etc</a:t>
            </a:r>
            <a:r>
              <a:rPr lang="en-US" dirty="0"/>
              <a:t> – </a:t>
            </a:r>
            <a:r>
              <a:rPr lang="en-US" dirty="0" err="1"/>
              <a:t>ie</a:t>
            </a:r>
            <a:r>
              <a:rPr lang="en-US" dirty="0"/>
              <a:t> “Production apps” or “PCI Scope” or “</a:t>
            </a:r>
            <a:r>
              <a:rPr lang="en-US" dirty="0" err="1"/>
              <a:t>MyApp</a:t>
            </a:r>
            <a:r>
              <a:rPr lang="en-US" dirty="0"/>
              <a:t>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1D68FC-9F9D-C6A7-B498-173A17FF393D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1: Account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80868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3FD7A-72F7-78FF-F541-1B87BAC0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1664-E9CC-5B20-3A9A-4EEDFA2FF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Naming Standards</a:t>
            </a:r>
          </a:p>
        </p:txBody>
      </p:sp>
      <p:pic>
        <p:nvPicPr>
          <p:cNvPr id="2050" name="Picture 2" descr="any name | Trending Gifs">
            <a:extLst>
              <a:ext uri="{FF2B5EF4-FFF2-40B4-BE49-F238E27FC236}">
                <a16:creationId xmlns:a16="http://schemas.microsoft.com/office/drawing/2014/main" id="{A654FD14-4122-51AF-09AE-3439498A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499339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69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B640-BC1A-98B7-60B0-466C3731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367B-61B8-ACE8-AAB3-A5C7673C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Naming is a mess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6603-DCD1-4D95-99C3-126184C6D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Naming has no consistency across apps, teams, divisions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A5763D-0E77-11D5-097B-ADA38F9CE12C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2: 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5859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0679-468F-2AF4-01B0-41FF875A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8894-9BA1-9ECE-3D11-58B77D0E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Implement a Naming Standard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40EA-6AEA-7424-1FA8-702F2080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Microsoft has a </a:t>
            </a:r>
            <a:r>
              <a:rPr lang="en-US" dirty="0">
                <a:hlinkClick r:id="rId3"/>
              </a:rPr>
              <a:t>recommended naming convention</a:t>
            </a:r>
            <a:r>
              <a:rPr lang="en-US" dirty="0"/>
              <a:t> based on </a:t>
            </a:r>
            <a:r>
              <a:rPr lang="en-US" dirty="0">
                <a:hlinkClick r:id="rId4"/>
              </a:rPr>
              <a:t>recommended abbreviations</a:t>
            </a:r>
            <a:endParaRPr lang="en-US" dirty="0"/>
          </a:p>
          <a:p>
            <a:r>
              <a:rPr lang="en-US" dirty="0"/>
              <a:t>Example: app-navigator-dev-001 for an application called Navigator, that’s an App Service running in the Dev env</a:t>
            </a:r>
          </a:p>
          <a:p>
            <a:r>
              <a:rPr lang="en-US" dirty="0"/>
              <a:t>Azure has a </a:t>
            </a:r>
            <a:r>
              <a:rPr lang="en-US" dirty="0">
                <a:hlinkClick r:id="rId5"/>
              </a:rPr>
              <a:t>naming tool </a:t>
            </a:r>
            <a:r>
              <a:rPr lang="en-US" dirty="0"/>
              <a:t>you can run</a:t>
            </a:r>
          </a:p>
          <a:p>
            <a:r>
              <a:rPr lang="en-US" dirty="0" err="1"/>
              <a:t>AzureNamingTool</a:t>
            </a:r>
            <a:endParaRPr lang="en-US" dirty="0"/>
          </a:p>
          <a:p>
            <a:r>
              <a:rPr lang="en-US" dirty="0"/>
              <a:t>More important that you pick something and be consistent</a:t>
            </a:r>
          </a:p>
          <a:p>
            <a:r>
              <a:rPr lang="en-US" dirty="0"/>
              <a:t>Enforce with Azure Policy (more soon)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A615AE1-5473-3799-795A-36E2A0FCE7FA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2: 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366087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ECB3C-947A-DFA4-C762-024A19CE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6CE2-EBD9-5B6C-4809-1C40B4741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Tagging Standards</a:t>
            </a:r>
          </a:p>
        </p:txBody>
      </p:sp>
      <p:pic>
        <p:nvPicPr>
          <p:cNvPr id="3074" name="Picture 2" descr="Tag GIFs | Tenor">
            <a:extLst>
              <a:ext uri="{FF2B5EF4-FFF2-40B4-BE49-F238E27FC236}">
                <a16:creationId xmlns:a16="http://schemas.microsoft.com/office/drawing/2014/main" id="{8367E78B-ECD7-2649-68DF-B27718703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27" y="3699730"/>
            <a:ext cx="4128946" cy="212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9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3A779-07C3-CAC6-9D9A-C8E77C77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6B4E-6362-E9D8-3127-9B5B54C1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Tagging is a mess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0B0C-8C32-60FC-99FA-B18E209F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Tags are metadata about the resource</a:t>
            </a:r>
          </a:p>
          <a:p>
            <a:r>
              <a:rPr lang="en-US" dirty="0"/>
              <a:t>No consistent tags</a:t>
            </a:r>
          </a:p>
          <a:p>
            <a:r>
              <a:rPr lang="en-US" dirty="0"/>
              <a:t>Makes it hard to answer questions like: </a:t>
            </a:r>
          </a:p>
          <a:p>
            <a:pPr lvl="1"/>
            <a:r>
              <a:rPr lang="en-US" dirty="0"/>
              <a:t>How much does this app cost me a month?</a:t>
            </a:r>
          </a:p>
          <a:p>
            <a:pPr lvl="1"/>
            <a:r>
              <a:rPr lang="en-US" dirty="0"/>
              <a:t>How much does the Dev environment cost me a month?`</a:t>
            </a:r>
          </a:p>
          <a:p>
            <a:pPr lvl="1"/>
            <a:r>
              <a:rPr lang="en-US" dirty="0"/>
              <a:t>Who owns this resource?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69998-7F80-B743-DA35-FDE98FA9D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8" y="4836991"/>
            <a:ext cx="11175023" cy="173847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2811F26-C994-91BD-36ED-9EF44BDC6906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3: Tagging Standards</a:t>
            </a:r>
          </a:p>
        </p:txBody>
      </p:sp>
    </p:spTree>
    <p:extLst>
      <p:ext uri="{BB962C8B-B14F-4D97-AF65-F5344CB8AC3E}">
        <p14:creationId xmlns:p14="http://schemas.microsoft.com/office/powerpoint/2010/main" val="31993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4743-A093-5927-C780-ADC1178B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F9CB-C980-4130-2207-4451669F8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Implement a Tagging Standard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7766-2601-2412-A250-BBAC8D40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Define a common set of Tags to be used on each resource</a:t>
            </a:r>
          </a:p>
          <a:p>
            <a:r>
              <a:rPr lang="en-US" dirty="0"/>
              <a:t>Common tags:</a:t>
            </a:r>
          </a:p>
          <a:p>
            <a:pPr lvl="1"/>
            <a:r>
              <a:rPr lang="en-US" dirty="0"/>
              <a:t>Environment (Dev, Test, Production)</a:t>
            </a:r>
          </a:p>
          <a:p>
            <a:pPr lvl="1"/>
            <a:r>
              <a:rPr lang="en-US" dirty="0"/>
              <a:t>Owner (so.andso@contoso.com)</a:t>
            </a:r>
          </a:p>
          <a:p>
            <a:pPr lvl="1"/>
            <a:r>
              <a:rPr lang="en-US" dirty="0" err="1"/>
              <a:t>BusinessUnit</a:t>
            </a:r>
            <a:r>
              <a:rPr lang="en-US" dirty="0"/>
              <a:t> (Finance, Sales,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Application (CRM, </a:t>
            </a:r>
            <a:r>
              <a:rPr lang="en-US" dirty="0" err="1"/>
              <a:t>PaymentsPortal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CostCenter</a:t>
            </a:r>
            <a:r>
              <a:rPr lang="en-US" dirty="0"/>
              <a:t> (abc123,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ServiceClass</a:t>
            </a:r>
            <a:r>
              <a:rPr lang="en-US" dirty="0"/>
              <a:t> (Tier1, Tier2,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Enforce with Azure Policy (more soon)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0024E0-FEF3-53E1-6DB9-D84AB16596C2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3: Tagging Standards</a:t>
            </a:r>
          </a:p>
        </p:txBody>
      </p:sp>
    </p:spTree>
    <p:extLst>
      <p:ext uri="{BB962C8B-B14F-4D97-AF65-F5344CB8AC3E}">
        <p14:creationId xmlns:p14="http://schemas.microsoft.com/office/powerpoint/2010/main" val="182767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29C12-02EC-FB86-1EDA-64C3DF70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5CA1-6B23-0077-BF4F-8E556A415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Policies</a:t>
            </a:r>
          </a:p>
        </p:txBody>
      </p:sp>
      <p:pic>
        <p:nvPicPr>
          <p:cNvPr id="4098" name="Picture 2" descr="Against The Rules GIFs | Tenor">
            <a:extLst>
              <a:ext uri="{FF2B5EF4-FFF2-40B4-BE49-F238E27FC236}">
                <a16:creationId xmlns:a16="http://schemas.microsoft.com/office/drawing/2014/main" id="{9FAAC313-FCDB-5C39-5093-9801EC40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217" y="3429000"/>
            <a:ext cx="3849566" cy="30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65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FCEA-2600-A72A-9A03-FD03BEAA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6AAE-4EC8-A2FE-926E-A04EBAB9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We aren’t enforcing our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8086-E064-1157-4D9B-BDCCBAEF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You have a document defining standards</a:t>
            </a:r>
          </a:p>
          <a:p>
            <a:r>
              <a:rPr lang="en-US" dirty="0"/>
              <a:t>But it’s not followed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EEB6F4-0B24-3D4C-96D2-DFC199B8186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4: Azure Policies</a:t>
            </a:r>
          </a:p>
        </p:txBody>
      </p:sp>
    </p:spTree>
    <p:extLst>
      <p:ext uri="{BB962C8B-B14F-4D97-AF65-F5344CB8AC3E}">
        <p14:creationId xmlns:p14="http://schemas.microsoft.com/office/powerpoint/2010/main" val="197976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B4F2-66E8-D12B-1026-498F2A6F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646C-9CF8-BDA3-5C39-FC5267E5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Azure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8F82-2C5C-B4D8-CDC2-70AD6B869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Azure Policies can enforce your naming standards</a:t>
            </a:r>
          </a:p>
          <a:p>
            <a:r>
              <a:rPr lang="en-US" dirty="0"/>
              <a:t>And your tagging standards</a:t>
            </a:r>
          </a:p>
          <a:p>
            <a:r>
              <a:rPr lang="en-US" dirty="0"/>
              <a:t>Can have multiple Policy Effects:</a:t>
            </a:r>
          </a:p>
          <a:p>
            <a:pPr lvl="1"/>
            <a:r>
              <a:rPr lang="en-US" dirty="0"/>
              <a:t>Deny resources from being created - PREFERRED</a:t>
            </a:r>
          </a:p>
          <a:p>
            <a:pPr lvl="1"/>
            <a:r>
              <a:rPr lang="en-US" dirty="0"/>
              <a:t>Audit - flag it as non-compliant</a:t>
            </a:r>
          </a:p>
          <a:p>
            <a:pPr lvl="1"/>
            <a:r>
              <a:rPr lang="en-US" dirty="0"/>
              <a:t>Modify – auto change it – DON’T DO THIS</a:t>
            </a:r>
          </a:p>
          <a:p>
            <a:r>
              <a:rPr lang="en-US" dirty="0"/>
              <a:t>Can ensure resources are configured correctly too</a:t>
            </a:r>
          </a:p>
          <a:p>
            <a:pPr lvl="1"/>
            <a:r>
              <a:rPr lang="en-US" dirty="0"/>
              <a:t>Ensure HTTPS enforcement</a:t>
            </a:r>
          </a:p>
          <a:p>
            <a:pPr lvl="1"/>
            <a:r>
              <a:rPr lang="en-US" dirty="0"/>
              <a:t>SQL has Data Encryption at rest turned 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2A5735-46A7-0987-D94A-B94520E1158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4: Azure Policies</a:t>
            </a:r>
          </a:p>
        </p:txBody>
      </p:sp>
    </p:spTree>
    <p:extLst>
      <p:ext uri="{BB962C8B-B14F-4D97-AF65-F5344CB8AC3E}">
        <p14:creationId xmlns:p14="http://schemas.microsoft.com/office/powerpoint/2010/main" val="36566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D1475-8F32-1161-AFA9-87690368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C27C-8BEB-DED5-D195-94A0DCB5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Managed Identities</a:t>
            </a:r>
          </a:p>
        </p:txBody>
      </p:sp>
      <p:pic>
        <p:nvPicPr>
          <p:cNvPr id="5122" name="Picture 2" descr="Whats The Password GIFs | Tenor">
            <a:extLst>
              <a:ext uri="{FF2B5EF4-FFF2-40B4-BE49-F238E27FC236}">
                <a16:creationId xmlns:a16="http://schemas.microsoft.com/office/drawing/2014/main" id="{C9BF20A5-DDF7-3759-4703-16C571D4C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599353"/>
            <a:ext cx="3295650" cy="275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61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BEB-B476-90C6-0DA4-16AC6386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3191-9EA7-A5AC-36BF-12D00EA3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We are managing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1382-FE43-B1E7-D21E-B0EC9AB2F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Credentials to manage – create, store, rotate, revoke</a:t>
            </a:r>
          </a:p>
          <a:p>
            <a:r>
              <a:rPr lang="en-US" dirty="0"/>
              <a:t>Azure SQL still using SQL Auth – username + password</a:t>
            </a:r>
          </a:p>
          <a:p>
            <a:r>
              <a:rPr lang="en-US" dirty="0"/>
              <a:t>Key Vault still using Client ID + Client Secret</a:t>
            </a:r>
          </a:p>
          <a:p>
            <a:r>
              <a:rPr lang="en-US" dirty="0"/>
              <a:t>Someone might accidentally commit a secret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E442E8-E33D-E8C3-26FB-4EF34447531C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5: 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163757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D523-2A0F-CCCD-B553-68A5AF5D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646F-49A4-7C57-5B55-633FC751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Managed 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66DD-985E-BD87-98F7-35BD03109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Managed Identities allow you to give a resource an “identity” (user to run as essentially)</a:t>
            </a:r>
          </a:p>
          <a:p>
            <a:r>
              <a:rPr lang="en-US" dirty="0"/>
              <a:t>These Identities are managed completely by Azure – no username/password/client id/client secret needed</a:t>
            </a:r>
          </a:p>
          <a:p>
            <a:r>
              <a:rPr lang="en-US" dirty="0"/>
              <a:t>Assign a Managed Identity to an App Service/Function/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Give that Managed Identity access to read secrets, connect to a DB,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Completely </a:t>
            </a:r>
            <a:r>
              <a:rPr lang="en-US" dirty="0" err="1"/>
              <a:t>passwordless</a:t>
            </a:r>
            <a:endParaRPr lang="en-US" dirty="0"/>
          </a:p>
          <a:p>
            <a:r>
              <a:rPr lang="en-US" dirty="0"/>
              <a:t>In your code you can use </a:t>
            </a:r>
            <a:r>
              <a:rPr lang="en-US" dirty="0" err="1"/>
              <a:t>DefaultAzureCredential</a:t>
            </a:r>
            <a:r>
              <a:rPr lang="en-US" dirty="0"/>
              <a:t> to do the right thing (more on this later)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D1AEA9-BDEC-D3AA-8E74-05289A9F5094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5: 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295649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EB586-BBF6-725C-9738-4B3D8CA3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0E9E-9918-DAD2-F43D-54FC6EBB1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 err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DefaultAzureCredential</a:t>
            </a:r>
            <a:endParaRPr lang="en-US" sz="96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170" name="Picture 2" descr="Obama Gets Locked Out Of The White House | Best Funny Gifs Updated Daily">
            <a:extLst>
              <a:ext uri="{FF2B5EF4-FFF2-40B4-BE49-F238E27FC236}">
                <a16:creationId xmlns:a16="http://schemas.microsoft.com/office/drawing/2014/main" id="{184ED615-D69B-4EDB-D08A-874A99FF7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582" y="3315042"/>
            <a:ext cx="3922835" cy="294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938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03BD-2B28-889D-9EF5-9481DF69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DC2C-C7AB-F816-DD94-0FCE6F02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2031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People use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FFFE-25F2-41E0-52C1-E1D6864D7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…without knowing the tradeoffs</a:t>
            </a:r>
          </a:p>
          <a:p>
            <a:r>
              <a:rPr lang="en-US" dirty="0" err="1"/>
              <a:t>DefaultAzureCredential</a:t>
            </a:r>
            <a:r>
              <a:rPr lang="en-US" dirty="0"/>
              <a:t> is meant to get you into Azure as quickly as possible</a:t>
            </a:r>
          </a:p>
          <a:p>
            <a:r>
              <a:rPr lang="en-US" dirty="0"/>
              <a:t>The downside is – performance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6F300D-C95D-4F05-4977-E7139D7D125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6: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1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CBE2-6067-1411-0E3F-8DB7978B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EC63-1DF5-4041-01C7-E3DC4A54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2031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People use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6146" name="Picture 2" descr="DefaultAzureCredential vs. ChainedTokenCredential in C# | by Harsha Vardhan  Kumar Gopisetti | Medium">
            <a:extLst>
              <a:ext uri="{FF2B5EF4-FFF2-40B4-BE49-F238E27FC236}">
                <a16:creationId xmlns:a16="http://schemas.microsoft.com/office/drawing/2014/main" id="{4AABD0A7-6BA1-301D-0109-76644399C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6090"/>
            <a:ext cx="12286593" cy="22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3C7A93-F7BF-52C1-4A4C-76DBC99DE44C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6: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9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32D4-F45B-53C4-4B40-A6482D69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D996-2032-D9D1-511E-47EADA45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Be explicit about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571A-59AB-8F61-05F7-3761D1E7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Locally – use </a:t>
            </a:r>
            <a:r>
              <a:rPr lang="en-US" dirty="0" err="1"/>
              <a:t>AzureCli</a:t>
            </a:r>
            <a:r>
              <a:rPr lang="en-US" dirty="0"/>
              <a:t> or </a:t>
            </a:r>
            <a:r>
              <a:rPr lang="en-US" dirty="0" err="1"/>
              <a:t>VisualStudioCredential</a:t>
            </a:r>
            <a:r>
              <a:rPr lang="en-US" dirty="0"/>
              <a:t>… else use </a:t>
            </a:r>
            <a:r>
              <a:rPr lang="en-US" dirty="0" err="1"/>
              <a:t>ManagedIdentity</a:t>
            </a:r>
            <a:endParaRPr lang="en-US" dirty="0"/>
          </a:p>
          <a:p>
            <a:r>
              <a:rPr lang="en-US" dirty="0"/>
              <a:t>… or use Excludes on </a:t>
            </a:r>
            <a:r>
              <a:rPr lang="en-US" dirty="0" err="1"/>
              <a:t>DefaultAzureCredential</a:t>
            </a:r>
            <a:endParaRPr lang="en-US" dirty="0"/>
          </a:p>
          <a:p>
            <a:r>
              <a:rPr lang="en-US" dirty="0"/>
              <a:t>This will save you ~2-10 seconds when interacting with the credential</a:t>
            </a:r>
          </a:p>
          <a:p>
            <a:r>
              <a:rPr lang="en-US" dirty="0" err="1">
                <a:hlinkClick r:id="rId3"/>
              </a:rPr>
              <a:t>DefaultAzureCredential</a:t>
            </a:r>
            <a:r>
              <a:rPr lang="en-US" dirty="0">
                <a:hlinkClick r:id="rId3"/>
              </a:rPr>
              <a:t> Best Practices</a:t>
            </a:r>
            <a:endParaRPr lang="en-US" dirty="0"/>
          </a:p>
          <a:p>
            <a:r>
              <a:rPr lang="en-US" dirty="0">
                <a:hlinkClick r:id="rId4"/>
              </a:rPr>
              <a:t>My blog post on this in 2022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A469A7-83A5-29D6-F59F-20BC1F56F1F4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6: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1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9D9E-9D2D-513E-3B7B-C56C3B0A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69BD-566A-773C-DB61-AF4002F7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Be explicit about credentials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5161EA-E4C5-7420-96B8-5FEE33851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904" y="1487805"/>
            <a:ext cx="9460191" cy="51936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69AB77-FA08-619B-4CF4-E1AE9A4CD2E4}"/>
              </a:ext>
            </a:extLst>
          </p:cNvPr>
          <p:cNvSpPr/>
          <p:nvPr/>
        </p:nvSpPr>
        <p:spPr>
          <a:xfrm>
            <a:off x="1831990" y="2223770"/>
            <a:ext cx="3113127" cy="36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99742-42CC-2B2D-EF54-86DA66A789D4}"/>
              </a:ext>
            </a:extLst>
          </p:cNvPr>
          <p:cNvSpPr/>
          <p:nvPr/>
        </p:nvSpPr>
        <p:spPr>
          <a:xfrm>
            <a:off x="3545176" y="3903752"/>
            <a:ext cx="6513224" cy="5421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E596F-9C7D-BC35-13FE-B5C6DF9CAD6E}"/>
              </a:ext>
            </a:extLst>
          </p:cNvPr>
          <p:cNvSpPr/>
          <p:nvPr/>
        </p:nvSpPr>
        <p:spPr>
          <a:xfrm>
            <a:off x="3545176" y="5099133"/>
            <a:ext cx="3349610" cy="5421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AE91F-0B7F-30C7-ED0A-72073F9B0508}"/>
              </a:ext>
            </a:extLst>
          </p:cNvPr>
          <p:cNvSpPr/>
          <p:nvPr/>
        </p:nvSpPr>
        <p:spPr>
          <a:xfrm>
            <a:off x="1805715" y="6226447"/>
            <a:ext cx="1925458" cy="36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4A6BDD-E3BC-71C7-85B4-F6BAD73C0CDC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6: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DefaultAzureCredentials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7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96447-D200-1404-447A-B0F6FB55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95B1-D083-1257-71D5-A7EBBFA24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Requiring TLS 1.2+</a:t>
            </a:r>
          </a:p>
        </p:txBody>
      </p:sp>
      <p:pic>
        <p:nvPicPr>
          <p:cNvPr id="8194" name="Picture 2" descr="Securitys GIFs - Find &amp; Share on GIPHY">
            <a:extLst>
              <a:ext uri="{FF2B5EF4-FFF2-40B4-BE49-F238E27FC236}">
                <a16:creationId xmlns:a16="http://schemas.microsoft.com/office/drawing/2014/main" id="{925F4AFA-C55A-3F69-273E-F89081FAA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252421"/>
            <a:ext cx="45720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10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677B-59AD-8A75-EDB1-61011A16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D762-6F85-4282-B889-AA0F876E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Not requiring TLS 1.2+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F4C1C-4314-9613-0C01-1BA956A7B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HTTPS has underlying encryption algorithms to encrypt your data in transit</a:t>
            </a:r>
          </a:p>
          <a:p>
            <a:r>
              <a:rPr lang="en-US" dirty="0"/>
              <a:t>These encryption algorithms have continually gotten better and better</a:t>
            </a:r>
          </a:p>
          <a:p>
            <a:r>
              <a:rPr lang="en-US" dirty="0"/>
              <a:t>Not requiring TLS 1.2+ allows users to connect to your app with insecure protocols</a:t>
            </a:r>
          </a:p>
          <a:p>
            <a:pPr lvl="1"/>
            <a:r>
              <a:rPr lang="en-US" dirty="0"/>
              <a:t>Example – people on older browsers</a:t>
            </a:r>
          </a:p>
          <a:p>
            <a:r>
              <a:rPr lang="en-US" dirty="0"/>
              <a:t>This allows a man-in-the-middle attacks for people to decrypt in real time, exposing your data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2CC828-DF28-12F3-1F7A-603DBE2C407B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7: Require TLS 1.2+</a:t>
            </a:r>
          </a:p>
        </p:txBody>
      </p:sp>
    </p:spTree>
    <p:extLst>
      <p:ext uri="{BB962C8B-B14F-4D97-AF65-F5344CB8AC3E}">
        <p14:creationId xmlns:p14="http://schemas.microsoft.com/office/powerpoint/2010/main" val="404934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48DA-4E6A-8832-EDD8-34B0484F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2E2F-F8AE-4968-2E6A-F21886DB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Require TLS 1.2+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00AF6-91B9-605F-252A-BB0CEC4F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Require TLS 1.2+ on all your relevant resources (</a:t>
            </a:r>
            <a:r>
              <a:rPr lang="en-US" dirty="0" err="1"/>
              <a:t>ie</a:t>
            </a:r>
            <a:r>
              <a:rPr lang="en-US" dirty="0"/>
              <a:t> app service, function apps, storage accounts,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Make sure you also enforce a good cipher suite</a:t>
            </a:r>
          </a:p>
          <a:p>
            <a:pPr lvl="1"/>
            <a:r>
              <a:rPr lang="en-US" dirty="0" err="1"/>
              <a:t>ie</a:t>
            </a:r>
            <a:r>
              <a:rPr lang="en-US" dirty="0"/>
              <a:t> TLS_ECDHE_RSA_WITH_AES_128_GCM_SHA256 and TLS_ECDHE_RSA_WITH_AES_256_GCM_SHA384 </a:t>
            </a:r>
          </a:p>
          <a:p>
            <a:r>
              <a:rPr lang="en-US" dirty="0"/>
              <a:t>TLS 1.3 is the latest, most browsers in the last 4-5 years support 1.3</a:t>
            </a:r>
          </a:p>
          <a:p>
            <a:r>
              <a:rPr lang="en-US" dirty="0"/>
              <a:t>SSL Labs to test your site - </a:t>
            </a:r>
            <a:r>
              <a:rPr lang="en-US" dirty="0">
                <a:hlinkClick r:id="rId3"/>
              </a:rPr>
              <a:t>https://www.ssllabs.com/ssltest/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422338-19E4-88EB-4944-3BF7F349EF18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7: Require TLS 1.2+</a:t>
            </a:r>
          </a:p>
        </p:txBody>
      </p:sp>
    </p:spTree>
    <p:extLst>
      <p:ext uri="{BB962C8B-B14F-4D97-AF65-F5344CB8AC3E}">
        <p14:creationId xmlns:p14="http://schemas.microsoft.com/office/powerpoint/2010/main" val="193034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2640C-D789-E140-3AEB-1B40E42E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48E4-901C-50A5-E8C1-315923257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 err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FederatedCredentials</a:t>
            </a:r>
            <a:endParaRPr lang="en-US" sz="96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218" name="Picture 2" descr="YARN | Credentials, please. | Dumb and Dumber To (2014) | Video gifs by  quotes | acfcbde7 | 紗">
            <a:extLst>
              <a:ext uri="{FF2B5EF4-FFF2-40B4-BE49-F238E27FC236}">
                <a16:creationId xmlns:a16="http://schemas.microsoft.com/office/drawing/2014/main" id="{1DC901F8-BB5A-4C38-B22F-D88950C77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053" y="3600108"/>
            <a:ext cx="4771894" cy="256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875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C415-0B82-F2F2-B801-3324B107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C44F-010D-E2BB-02E8-E99CF75C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Not using Federated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AF90-AE51-4C3B-4C5B-8B102C5EE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Your CI/CD pipelines need to auth to Azure to provision resources, deploy,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Without Federated Credentials, you’re managing a Client ID + Client Secret (most likely)</a:t>
            </a:r>
          </a:p>
          <a:p>
            <a:r>
              <a:rPr lang="en-US" dirty="0"/>
              <a:t>All the same issues managing credentials (create, store, rotate, revoke)</a:t>
            </a:r>
          </a:p>
          <a:p>
            <a:r>
              <a:rPr lang="en-US" dirty="0"/>
              <a:t>If someone gets these credentials, they can manipulate your Azure environment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5C4435-A356-6110-1DA3-0C44594D5DF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8: 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101488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5934-148A-50B6-9A17-0AF01A7F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D6B2-2619-285D-FE6C-C5235B8E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Federated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CB0EF-A855-9E7F-C5DB-66021CF9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95438"/>
          </a:xfrm>
        </p:spPr>
        <p:txBody>
          <a:bodyPr>
            <a:normAutofit/>
          </a:bodyPr>
          <a:lstStyle/>
          <a:p>
            <a:r>
              <a:rPr lang="en-US" dirty="0"/>
              <a:t>Federated Credentials allows you to “trust” repositories to push to Azure</a:t>
            </a:r>
          </a:p>
          <a:p>
            <a:r>
              <a:rPr lang="en-US" dirty="0" err="1"/>
              <a:t>Passwordless</a:t>
            </a:r>
            <a:endParaRPr lang="en-US" dirty="0"/>
          </a:p>
          <a:p>
            <a:r>
              <a:rPr lang="en-US" dirty="0"/>
              <a:t>Short-lived tokens (minutes)</a:t>
            </a:r>
          </a:p>
          <a:p>
            <a:r>
              <a:rPr lang="en-US" dirty="0">
                <a:hlinkClick r:id="rId3"/>
              </a:rPr>
              <a:t>How to do this with GitHub Actions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F75EDD-DA55-50A4-9857-E6F5240BEB3E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8: 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42373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99AF6-6B8F-717B-F8A3-0053AE38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8C26-EE8E-827B-7C87-8AC905E5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Federated Credentials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279DF-2BCE-161A-3DC5-8EB04B42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2" y="552765"/>
            <a:ext cx="10429951" cy="55721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DCF7CC-14D4-C497-D025-1410609BD396}"/>
              </a:ext>
            </a:extLst>
          </p:cNvPr>
          <p:cNvSpPr/>
          <p:nvPr/>
        </p:nvSpPr>
        <p:spPr>
          <a:xfrm>
            <a:off x="717893" y="4204970"/>
            <a:ext cx="4686942" cy="5086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A0E376-F8D7-FD2A-FE29-98F3352EFD54}"/>
              </a:ext>
            </a:extLst>
          </p:cNvPr>
          <p:cNvSpPr/>
          <p:nvPr/>
        </p:nvSpPr>
        <p:spPr>
          <a:xfrm>
            <a:off x="717891" y="4713668"/>
            <a:ext cx="5841748" cy="5086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14021F-3843-60E9-E091-0241ADCA69A1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8: 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40118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11772-FD7D-0E72-36EF-47370C0D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2B5F-36EE-0882-A5B0-54F66087F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Budgets and 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Cost Alerts</a:t>
            </a:r>
          </a:p>
        </p:txBody>
      </p:sp>
      <p:pic>
        <p:nvPicPr>
          <p:cNvPr id="10242" name="Picture 2" descr="Cost GIFs | Tenor">
            <a:extLst>
              <a:ext uri="{FF2B5EF4-FFF2-40B4-BE49-F238E27FC236}">
                <a16:creationId xmlns:a16="http://schemas.microsoft.com/office/drawing/2014/main" id="{6398803D-CC15-1D7F-4D9A-331E5ED2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684" y="3429000"/>
            <a:ext cx="2936631" cy="293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480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EFA5-9478-9A29-1ACB-63E9ECBE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8219-9E8E-E307-FEB2-8FE18257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Cost isn’t managed in Azure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27C40B-4F2A-9286-FFD2-1C50D7BCB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Sudden, unexpected bills</a:t>
            </a:r>
          </a:p>
          <a:p>
            <a:r>
              <a:rPr lang="en-US" dirty="0"/>
              <a:t>No early warning for forecast overrun</a:t>
            </a:r>
          </a:p>
          <a:p>
            <a:r>
              <a:rPr lang="en-US" dirty="0"/>
              <a:t>Lack of visibility across teams</a:t>
            </a:r>
          </a:p>
          <a:p>
            <a:r>
              <a:rPr lang="en-US" dirty="0"/>
              <a:t>Missed anomalies and fraud detection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53A98E-5947-CBA7-703E-3C43B14C6C71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9: Budgets and Cost Alerts</a:t>
            </a:r>
          </a:p>
        </p:txBody>
      </p:sp>
    </p:spTree>
    <p:extLst>
      <p:ext uri="{BB962C8B-B14F-4D97-AF65-F5344CB8AC3E}">
        <p14:creationId xmlns:p14="http://schemas.microsoft.com/office/powerpoint/2010/main" val="371884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B941-FF96-3C06-79EF-1EE6DE5B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15B4-DCAB-6C5C-F05B-0D0A3B21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Azure Budgets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96C3263-2A40-E602-658C-4CD7A4D0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Define a spending threshold for a scope (</a:t>
            </a:r>
            <a:r>
              <a:rPr lang="en-US" dirty="0" err="1"/>
              <a:t>ie</a:t>
            </a:r>
            <a:r>
              <a:rPr lang="en-US" dirty="0"/>
              <a:t> Subscription or Resource Group)</a:t>
            </a:r>
          </a:p>
          <a:p>
            <a:r>
              <a:rPr lang="en-US" dirty="0"/>
              <a:t>Tracks actual or forecasted against that target over a time period (monthly, quarterly, yearly)</a:t>
            </a:r>
          </a:p>
          <a:p>
            <a:r>
              <a:rPr lang="en-US" dirty="0"/>
              <a:t>Can have multiple thresholds, 50%, 80%, 100%</a:t>
            </a:r>
          </a:p>
          <a:p>
            <a:r>
              <a:rPr lang="en-US" dirty="0"/>
              <a:t>Can trigger Action Groups (email, Functions, Webhooks)</a:t>
            </a:r>
          </a:p>
          <a:p>
            <a:r>
              <a:rPr lang="en-US" dirty="0"/>
              <a:t>Budgets are a bad name – does not stop resources, only monitoring + triggers</a:t>
            </a:r>
          </a:p>
          <a:p>
            <a:r>
              <a:rPr lang="en-US" dirty="0"/>
              <a:t>Can lag by 24 hours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1A16D0-348B-1318-A277-E7AD8697BD9A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9: Budgets and Cost Alerts</a:t>
            </a:r>
          </a:p>
        </p:txBody>
      </p:sp>
    </p:spTree>
    <p:extLst>
      <p:ext uri="{BB962C8B-B14F-4D97-AF65-F5344CB8AC3E}">
        <p14:creationId xmlns:p14="http://schemas.microsoft.com/office/powerpoint/2010/main" val="7390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785C-1B53-7813-BB2E-818673B8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30CE-B65A-078A-1630-B7F53054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Azure Cost Alerts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FD7F98-5ACE-E9B2-24DC-BF62E2098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Anomaly Detection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F7F829-DA2A-1647-1A2E-FC0E1285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579" y="2309117"/>
            <a:ext cx="4680283" cy="45488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4F17B4-C59F-90BF-7B10-3E03170A791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9: Budgets and Cost Alerts</a:t>
            </a:r>
          </a:p>
        </p:txBody>
      </p:sp>
    </p:spTree>
    <p:extLst>
      <p:ext uri="{BB962C8B-B14F-4D97-AF65-F5344CB8AC3E}">
        <p14:creationId xmlns:p14="http://schemas.microsoft.com/office/powerpoint/2010/main" val="147559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820DC-D682-4EF0-3F1E-D344E6CE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AACB-6D44-FC01-AC67-55FF4303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Reservations</a:t>
            </a:r>
          </a:p>
        </p:txBody>
      </p:sp>
      <p:pic>
        <p:nvPicPr>
          <p:cNvPr id="11266" name="Picture 2" descr="YARN | I made a reservation. Do you have my reservation? | Seinfeld (1989)  - S06E14 Highlights of a Hundred (1) | Video gifs by quotes | a7b981b8 | 紗">
            <a:extLst>
              <a:ext uri="{FF2B5EF4-FFF2-40B4-BE49-F238E27FC236}">
                <a16:creationId xmlns:a16="http://schemas.microsoft.com/office/drawing/2014/main" id="{4A53D6E6-14EF-A215-44AE-084667E3E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537073"/>
            <a:ext cx="381000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378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2672-0016-61C5-398C-2B2B3BF6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EEF-AF97-AF01-302A-67C54308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Cost is getting too high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79C760-01F2-C237-1371-2B4DB31CD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Cloud isn’t always cheaper up front</a:t>
            </a:r>
          </a:p>
          <a:p>
            <a:r>
              <a:rPr lang="en-US" dirty="0"/>
              <a:t>Sometimes cloud is about speed, lower TCO, and more visibility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3C0A4-BE6C-C378-9A88-7DE6F66FE8C2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10a: Azure Reservations</a:t>
            </a:r>
          </a:p>
        </p:txBody>
      </p:sp>
    </p:spTree>
    <p:extLst>
      <p:ext uri="{BB962C8B-B14F-4D97-AF65-F5344CB8AC3E}">
        <p14:creationId xmlns:p14="http://schemas.microsoft.com/office/powerpoint/2010/main" val="409878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1B10-093A-8B01-04D7-D94ADB33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2916-6990-1535-68D9-1F88C1E2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Azure Reservations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58EB68-4353-60C8-7D9D-6018584E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Commit to using certain resources for 1 year or 3 years, get a discount between 20% - 70% depending on the resource (App Service Plans, SQL, VMs, Cosmos,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Downside – what if you get rid of the resource after 2 years but you committed to 3</a:t>
            </a:r>
          </a:p>
          <a:p>
            <a:r>
              <a:rPr lang="en-US" dirty="0"/>
              <a:t>Still pay monthly or up front (if you want)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618D6A-C987-1C12-4D1D-C7BE3BBF5768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10a: Azure Reservations</a:t>
            </a:r>
          </a:p>
        </p:txBody>
      </p:sp>
    </p:spTree>
    <p:extLst>
      <p:ext uri="{BB962C8B-B14F-4D97-AF65-F5344CB8AC3E}">
        <p14:creationId xmlns:p14="http://schemas.microsoft.com/office/powerpoint/2010/main" val="236432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5FF7E-E734-6B30-E5F0-C510AB73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2C9B-ADEF-A155-D276-0303156C4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Savings Plans</a:t>
            </a:r>
          </a:p>
        </p:txBody>
      </p:sp>
      <p:pic>
        <p:nvPicPr>
          <p:cNvPr id="12290" name="Picture 2" descr="Saving GIFs | Tenor">
            <a:extLst>
              <a:ext uri="{FF2B5EF4-FFF2-40B4-BE49-F238E27FC236}">
                <a16:creationId xmlns:a16="http://schemas.microsoft.com/office/drawing/2014/main" id="{885A517E-5C6D-029B-0CB9-2A435B32D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3648808"/>
            <a:ext cx="20955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903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1F81-BBF9-9A02-E5E0-5124E50E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8D47-E18F-822A-E08A-CDE2E771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Cost is getting too high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4EA81-5865-E593-86BC-977F957C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Cloud isn’t always cheaper up front</a:t>
            </a:r>
          </a:p>
          <a:p>
            <a:r>
              <a:rPr lang="en-US" dirty="0"/>
              <a:t>Sometimes cloud is about speed, lower TCO, and visibility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A2E117-25C5-49B7-C422-C4DBE7F1152B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10b: Savings Plans</a:t>
            </a:r>
          </a:p>
        </p:txBody>
      </p:sp>
    </p:spTree>
    <p:extLst>
      <p:ext uri="{BB962C8B-B14F-4D97-AF65-F5344CB8AC3E}">
        <p14:creationId xmlns:p14="http://schemas.microsoft.com/office/powerpoint/2010/main" val="157156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988E-A429-102C-5A75-777D4C3D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5FDE-4149-F6CE-3A16-BD0909B2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Azure Savings Plans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880027-1E79-A09B-1C39-C7FC7237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Commit to using certain spend $ for 1 yr or 3 yrs, get a discount</a:t>
            </a:r>
          </a:p>
          <a:p>
            <a:r>
              <a:rPr lang="en-US" dirty="0"/>
              <a:t>Can be used however you want across eligible resource types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D265BB-311F-6CDE-FF2A-36BDD70FF979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10b: Savings Plans</a:t>
            </a:r>
          </a:p>
        </p:txBody>
      </p:sp>
    </p:spTree>
    <p:extLst>
      <p:ext uri="{BB962C8B-B14F-4D97-AF65-F5344CB8AC3E}">
        <p14:creationId xmlns:p14="http://schemas.microsoft.com/office/powerpoint/2010/main" val="135747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80EA-4455-FC57-2D74-3B0E76B2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6A91-A05A-8DEE-54BB-4B61A270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Comparing Savings Plans vs Reservations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EC8A53-442B-D4F0-E80A-89E6C9A73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Reservations give you more savings, but more risk if you need to change your plans</a:t>
            </a:r>
          </a:p>
          <a:p>
            <a:r>
              <a:rPr lang="en-US" dirty="0"/>
              <a:t>I recommend everyone use at least Savings Plans</a:t>
            </a:r>
          </a:p>
          <a:p>
            <a:r>
              <a:rPr lang="en-US" dirty="0"/>
              <a:t>Go tell your boss you can cut the Azure bill by at least 20% and get a promotion</a:t>
            </a:r>
          </a:p>
          <a:p>
            <a:r>
              <a:rPr lang="en-US" dirty="0"/>
              <a:t>Comparison of a single P0V3 App Service Plan: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88A015-3739-A7BC-1EA6-27EE03F87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728588"/>
              </p:ext>
            </p:extLst>
          </p:nvPr>
        </p:nvGraphicFramePr>
        <p:xfrm>
          <a:off x="430924" y="4729656"/>
          <a:ext cx="11330152" cy="1771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538">
                  <a:extLst>
                    <a:ext uri="{9D8B030D-6E8A-4147-A177-3AD203B41FA5}">
                      <a16:colId xmlns:a16="http://schemas.microsoft.com/office/drawing/2014/main" val="1581085348"/>
                    </a:ext>
                  </a:extLst>
                </a:gridCol>
                <a:gridCol w="2832538">
                  <a:extLst>
                    <a:ext uri="{9D8B030D-6E8A-4147-A177-3AD203B41FA5}">
                      <a16:colId xmlns:a16="http://schemas.microsoft.com/office/drawing/2014/main" val="1748268926"/>
                    </a:ext>
                  </a:extLst>
                </a:gridCol>
                <a:gridCol w="2832538">
                  <a:extLst>
                    <a:ext uri="{9D8B030D-6E8A-4147-A177-3AD203B41FA5}">
                      <a16:colId xmlns:a16="http://schemas.microsoft.com/office/drawing/2014/main" val="4280214593"/>
                    </a:ext>
                  </a:extLst>
                </a:gridCol>
                <a:gridCol w="2832538">
                  <a:extLst>
                    <a:ext uri="{9D8B030D-6E8A-4147-A177-3AD203B41FA5}">
                      <a16:colId xmlns:a16="http://schemas.microsoft.com/office/drawing/2014/main" val="3729884455"/>
                    </a:ext>
                  </a:extLst>
                </a:gridCol>
              </a:tblGrid>
              <a:tr h="590436">
                <a:tc>
                  <a:txBody>
                    <a:bodyPr/>
                    <a:lstStyle/>
                    <a:p>
                      <a:endParaRPr lang="en-US" sz="2300" dirty="0"/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Pay As You Go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Savings Plan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Reservation</a:t>
                      </a:r>
                    </a:p>
                  </a:txBody>
                  <a:tcPr marL="115732" marR="115732" marT="57866" marB="57866"/>
                </a:tc>
                <a:extLst>
                  <a:ext uri="{0D108BD9-81ED-4DB2-BD59-A6C34878D82A}">
                    <a16:rowId xmlns:a16="http://schemas.microsoft.com/office/drawing/2014/main" val="4081595387"/>
                  </a:ext>
                </a:extLst>
              </a:tr>
              <a:tr h="590436">
                <a:tc>
                  <a:txBody>
                    <a:bodyPr/>
                    <a:lstStyle/>
                    <a:p>
                      <a:r>
                        <a:rPr lang="en-US" sz="2300" dirty="0"/>
                        <a:t>1 year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394.96 kr./</a:t>
                      </a:r>
                      <a:r>
                        <a:rPr lang="en-US" sz="2300" dirty="0" err="1"/>
                        <a:t>mo</a:t>
                      </a:r>
                      <a:endParaRPr lang="en-US" sz="2300" dirty="0"/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269.76 kr./</a:t>
                      </a:r>
                      <a:r>
                        <a:rPr lang="en-US" sz="2300" dirty="0" err="1"/>
                        <a:t>mo</a:t>
                      </a:r>
                      <a:r>
                        <a:rPr lang="en-US" sz="2300" dirty="0"/>
                        <a:t> (32%)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235.00 kr./</a:t>
                      </a:r>
                      <a:r>
                        <a:rPr lang="en-US" sz="2300" dirty="0" err="1"/>
                        <a:t>mo</a:t>
                      </a:r>
                      <a:r>
                        <a:rPr lang="en-US" sz="2300" dirty="0"/>
                        <a:t> (41%)</a:t>
                      </a:r>
                    </a:p>
                  </a:txBody>
                  <a:tcPr marL="115732" marR="115732" marT="57866" marB="57866"/>
                </a:tc>
                <a:extLst>
                  <a:ext uri="{0D108BD9-81ED-4DB2-BD59-A6C34878D82A}">
                    <a16:rowId xmlns:a16="http://schemas.microsoft.com/office/drawing/2014/main" val="1234696494"/>
                  </a:ext>
                </a:extLst>
              </a:tr>
              <a:tr h="590436">
                <a:tc>
                  <a:txBody>
                    <a:bodyPr/>
                    <a:lstStyle/>
                    <a:p>
                      <a:r>
                        <a:rPr lang="en-US" sz="2300" dirty="0"/>
                        <a:t>3 year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394.96 kr./</a:t>
                      </a:r>
                      <a:r>
                        <a:rPr lang="en-US" sz="2300" dirty="0" err="1"/>
                        <a:t>mo</a:t>
                      </a:r>
                      <a:endParaRPr lang="en-US" sz="2300" dirty="0"/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197.83 kr./</a:t>
                      </a:r>
                      <a:r>
                        <a:rPr lang="en-US" sz="2300" dirty="0" err="1"/>
                        <a:t>mo</a:t>
                      </a:r>
                      <a:r>
                        <a:rPr lang="en-US" sz="2300" dirty="0"/>
                        <a:t> (50%)</a:t>
                      </a:r>
                    </a:p>
                  </a:txBody>
                  <a:tcPr marL="115732" marR="115732" marT="57866" marB="57866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162.69 kr./</a:t>
                      </a:r>
                      <a:r>
                        <a:rPr lang="en-US" sz="2300" dirty="0" err="1"/>
                        <a:t>mo</a:t>
                      </a:r>
                      <a:r>
                        <a:rPr lang="en-US" sz="2300" dirty="0"/>
                        <a:t> (59%)</a:t>
                      </a:r>
                    </a:p>
                  </a:txBody>
                  <a:tcPr marL="115732" marR="115732" marT="57866" marB="57866"/>
                </a:tc>
                <a:extLst>
                  <a:ext uri="{0D108BD9-81ED-4DB2-BD59-A6C34878D82A}">
                    <a16:rowId xmlns:a16="http://schemas.microsoft.com/office/drawing/2014/main" val="194441007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0C005AA-D89B-CBDD-371C-2EBE3DF5B6B9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10: Reservations &amp;&amp; Savings Plans</a:t>
            </a:r>
          </a:p>
        </p:txBody>
      </p:sp>
    </p:spTree>
    <p:extLst>
      <p:ext uri="{BB962C8B-B14F-4D97-AF65-F5344CB8AC3E}">
        <p14:creationId xmlns:p14="http://schemas.microsoft.com/office/powerpoint/2010/main" val="304029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430DB-2B3C-B672-5796-5768D5EC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EA0F-D8AE-6D13-AEC7-D94F5A7D0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AI Coding Agent 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Tips for Azure</a:t>
            </a:r>
          </a:p>
        </p:txBody>
      </p:sp>
    </p:spTree>
    <p:extLst>
      <p:ext uri="{BB962C8B-B14F-4D97-AF65-F5344CB8AC3E}">
        <p14:creationId xmlns:p14="http://schemas.microsoft.com/office/powerpoint/2010/main" val="1618615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7419-55B4-35B0-64C6-4DE49C55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1ECE-AD84-F8B8-E2D1-A04C2100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Need Azure Context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BAFFC4-F1AA-BABA-B4E5-F374D8DB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Coding agents know about your codebase by default</a:t>
            </a:r>
          </a:p>
          <a:p>
            <a:r>
              <a:rPr lang="en-US" dirty="0"/>
              <a:t>They don’t know about Azure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21F44-7EF9-26C6-149A-3085D5B39D5E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11: AI Coding Tips for Azure</a:t>
            </a:r>
          </a:p>
        </p:txBody>
      </p:sp>
    </p:spTree>
    <p:extLst>
      <p:ext uri="{BB962C8B-B14F-4D97-AF65-F5344CB8AC3E}">
        <p14:creationId xmlns:p14="http://schemas.microsoft.com/office/powerpoint/2010/main" val="280978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ACF1-2AAC-298C-DE6E-34085F4A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98E5-4E55-C23C-CEA3-C8A1E383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az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CLI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95BA573-3A88-274D-2307-53E33780A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Azure CLI already exists to get you access to everything in Azure</a:t>
            </a:r>
          </a:p>
          <a:p>
            <a:r>
              <a:rPr lang="en-US" dirty="0"/>
              <a:t>Install and then `</a:t>
            </a:r>
            <a:r>
              <a:rPr lang="en-US" dirty="0" err="1"/>
              <a:t>az</a:t>
            </a:r>
            <a:r>
              <a:rPr lang="en-US" dirty="0"/>
              <a:t> login` </a:t>
            </a:r>
          </a:p>
          <a:p>
            <a:r>
              <a:rPr lang="en-US" dirty="0"/>
              <a:t>Don’t even need to tell your agent to do this, just login and then it’ll self-discover that.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461384-D10F-F42A-25AD-1CDF7CFCE9F7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11: AI Coding Tips for Azure</a:t>
            </a:r>
          </a:p>
        </p:txBody>
      </p:sp>
    </p:spTree>
    <p:extLst>
      <p:ext uri="{BB962C8B-B14F-4D97-AF65-F5344CB8AC3E}">
        <p14:creationId xmlns:p14="http://schemas.microsoft.com/office/powerpoint/2010/main" val="26971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61CF-EFE9-8780-AB01-4541C403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9DC8-0F39-1C8A-FEE9-1C59CF85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5938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I have error logs, but manually review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262E72-D921-39BD-908D-88C618AD6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Error logs sitting in Log Analytics Workspace or App Insights</a:t>
            </a:r>
          </a:p>
          <a:p>
            <a:r>
              <a:rPr lang="en-US" dirty="0"/>
              <a:t>Maybe you’ve got alerting set up, maybe not</a:t>
            </a:r>
          </a:p>
          <a:p>
            <a:r>
              <a:rPr lang="en-US" dirty="0"/>
              <a:t>What if you could…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FAA5AD-F938-C3F8-6629-704FA37AB1E5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11: AI Coding Tips for Azure</a:t>
            </a:r>
          </a:p>
        </p:txBody>
      </p:sp>
    </p:spTree>
    <p:extLst>
      <p:ext uri="{BB962C8B-B14F-4D97-AF65-F5344CB8AC3E}">
        <p14:creationId xmlns:p14="http://schemas.microsoft.com/office/powerpoint/2010/main" val="338446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DC54-71CC-0EE3-76A7-4CD9FDBF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CA0E9-C4A4-C8D5-A3D1-A8795758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5938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I have error logs, but manually review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FFBF33-9D63-E714-6D34-CA2990CA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Error logs sitting in Log Analytics Workspace or App Insights</a:t>
            </a:r>
          </a:p>
          <a:p>
            <a:r>
              <a:rPr lang="en-US" dirty="0"/>
              <a:t>Maybe you’ve got alerting set up, maybe not</a:t>
            </a:r>
          </a:p>
          <a:p>
            <a:r>
              <a:rPr lang="en-US" dirty="0"/>
              <a:t>Requires a human to see that alert, review the error, and send the fix</a:t>
            </a:r>
          </a:p>
          <a:p>
            <a:r>
              <a:rPr lang="en-US" dirty="0"/>
              <a:t>What if…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453B5C-428C-7669-B1B1-6DB07879089B}"/>
              </a:ext>
            </a:extLst>
          </p:cNvPr>
          <p:cNvSpPr txBox="1">
            <a:spLocks/>
          </p:cNvSpPr>
          <p:nvPr/>
        </p:nvSpPr>
        <p:spPr>
          <a:xfrm>
            <a:off x="0" y="36937"/>
            <a:ext cx="12192000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Tip 11: AI Coding Tips for Azure</a:t>
            </a:r>
          </a:p>
        </p:txBody>
      </p:sp>
    </p:spTree>
    <p:extLst>
      <p:ext uri="{BB962C8B-B14F-4D97-AF65-F5344CB8AC3E}">
        <p14:creationId xmlns:p14="http://schemas.microsoft.com/office/powerpoint/2010/main" val="167535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F3137-97C1-E063-814E-E4DF7DF6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4BA6-DED7-317D-9680-714B1AE52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human sees the alert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human reviews the error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human sends the fix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Another human reviews the fix</a:t>
            </a:r>
          </a:p>
        </p:txBody>
      </p:sp>
    </p:spTree>
    <p:extLst>
      <p:ext uri="{BB962C8B-B14F-4D97-AF65-F5344CB8AC3E}">
        <p14:creationId xmlns:p14="http://schemas.microsoft.com/office/powerpoint/2010/main" val="419202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88C3D-DDBA-DDC8-6AD6-FED8C86A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201F-A045-130A-5D4F-860880326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An AI sees the alert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An AI reviews the error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An AI sends the fix</a:t>
            </a:r>
            <a:b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human reviews the fix</a:t>
            </a:r>
          </a:p>
        </p:txBody>
      </p:sp>
    </p:spTree>
    <p:extLst>
      <p:ext uri="{BB962C8B-B14F-4D97-AF65-F5344CB8AC3E}">
        <p14:creationId xmlns:p14="http://schemas.microsoft.com/office/powerpoint/2010/main" val="2810005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6D342-4F5A-8249-D05A-86E4F67B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7F0E-7C48-45A0-6118-EB096EE15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r>
              <a:rPr lang="en-US" sz="7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38282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9F25-16BB-F788-08C6-58B1D236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03CF-FDBB-65BF-C3F4-ED261FDE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65BE-E4D3-95FF-0D03-8FD68F69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Hopefully you got at least one idea today you can take back to work</a:t>
            </a:r>
          </a:p>
          <a:p>
            <a:r>
              <a:rPr lang="en-US" dirty="0"/>
              <a:t>This slide deck is your resource – up at scottsauber.com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C6AADD-664D-2B9C-9995-05913E094E7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D0B9D65-1E58-AB42-DE76-A79D0087F41B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A1E316-F6BE-3F71-45A7-FD2D0A8BC03A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696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51" y="619712"/>
            <a:ext cx="7598536" cy="5772924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ssauber@leantechniques.com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@scottsauber.com on Bluesky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@scottsauber on Twitter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/</a:t>
            </a:r>
            <a:r>
              <a:rPr lang="en-US" sz="1800" dirty="0" err="1">
                <a:solidFill>
                  <a:schemeClr val="bg1"/>
                </a:solidFill>
                <a:latin typeface="+mn-lt"/>
              </a:rPr>
              <a:t>scottsauber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on LinkedIn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C7B134-F373-5096-3631-336CE013F949}"/>
              </a:ext>
            </a:extLst>
          </p:cNvPr>
          <p:cNvGrpSpPr/>
          <p:nvPr/>
        </p:nvGrpSpPr>
        <p:grpSpPr>
          <a:xfrm>
            <a:off x="10151901" y="6255713"/>
            <a:ext cx="2130724" cy="474323"/>
            <a:chOff x="9970651" y="6185410"/>
            <a:chExt cx="2130724" cy="474323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B1F15C01-A94B-195C-44DF-926DB370EDD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0804DA-6ABF-AAEB-9D14-398461D41A8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4ED80FB-FC1D-0B58-1010-04A2C2B40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851" y="1614584"/>
            <a:ext cx="3127420" cy="312742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3E1433C-846E-D92D-879B-DC4203FF05D6}"/>
              </a:ext>
            </a:extLst>
          </p:cNvPr>
          <p:cNvSpPr txBox="1">
            <a:spLocks/>
          </p:cNvSpPr>
          <p:nvPr/>
        </p:nvSpPr>
        <p:spPr>
          <a:xfrm>
            <a:off x="7483098" y="790224"/>
            <a:ext cx="3308926" cy="855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Book free time with me:</a:t>
            </a:r>
          </a:p>
        </p:txBody>
      </p:sp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0D3713-F3EF-9907-AE2C-81CAE8EE1032}"/>
              </a:ext>
            </a:extLst>
          </p:cNvPr>
          <p:cNvGrpSpPr/>
          <p:nvPr/>
        </p:nvGrpSpPr>
        <p:grpSpPr>
          <a:xfrm>
            <a:off x="10151901" y="6255713"/>
            <a:ext cx="2130724" cy="474323"/>
            <a:chOff x="9970651" y="6185410"/>
            <a:chExt cx="2130724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C058655-0A4D-A435-8AF1-E64E0CA276B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3CAB7E-EB4B-279D-5799-DD0F5243C89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2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2376B32-20EA-0C2E-8529-B3DD0295F79D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</p:spTree>
    <p:extLst>
      <p:ext uri="{BB962C8B-B14F-4D97-AF65-F5344CB8AC3E}">
        <p14:creationId xmlns:p14="http://schemas.microsoft.com/office/powerpoint/2010/main" val="1819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49185</TotalTime>
  <Words>1881</Words>
  <Application>Microsoft Macintosh PowerPoint</Application>
  <PresentationFormat>Widescreen</PresentationFormat>
  <Paragraphs>308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Open Sans</vt:lpstr>
      <vt:lpstr>Office Theme</vt:lpstr>
      <vt:lpstr>The 10 Most Common  Azure Mistakes  (and how to fix them)</vt:lpstr>
      <vt:lpstr>Audience</vt:lpstr>
      <vt:lpstr>Agenda</vt:lpstr>
      <vt:lpstr>Goals</vt:lpstr>
      <vt:lpstr>Who am I? </vt:lpstr>
      <vt:lpstr>Why this talk?</vt:lpstr>
      <vt:lpstr>Account Organization</vt:lpstr>
      <vt:lpstr>Problem: Account Organization is a mess</vt:lpstr>
      <vt:lpstr>Solution: Develop Account Organization Strategy</vt:lpstr>
      <vt:lpstr>Naming Standards</vt:lpstr>
      <vt:lpstr>Problem: Naming is a mess</vt:lpstr>
      <vt:lpstr>Solution: Implement a Naming Standard</vt:lpstr>
      <vt:lpstr>Tagging Standards</vt:lpstr>
      <vt:lpstr>Problem: Tagging is a mess</vt:lpstr>
      <vt:lpstr>Solution: Implement a Tagging Standard</vt:lpstr>
      <vt:lpstr>Azure Policies</vt:lpstr>
      <vt:lpstr>Problem: We aren’t enforcing our standards</vt:lpstr>
      <vt:lpstr>Solution: Azure Policies</vt:lpstr>
      <vt:lpstr>Managed Identities</vt:lpstr>
      <vt:lpstr>Problem: We are managing credentials</vt:lpstr>
      <vt:lpstr>Solution: Use Managed Identities</vt:lpstr>
      <vt:lpstr>DefaultAzureCredential</vt:lpstr>
      <vt:lpstr>Problem: People use DefaultAzureCredential…</vt:lpstr>
      <vt:lpstr>Problem: People use DefaultAzureCredential…</vt:lpstr>
      <vt:lpstr>Solution: Be explicit about credentials</vt:lpstr>
      <vt:lpstr>Solution: Be explicit about credentials</vt:lpstr>
      <vt:lpstr>Requiring TLS 1.2+</vt:lpstr>
      <vt:lpstr>Problem: Not requiring TLS 1.2+</vt:lpstr>
      <vt:lpstr>Solution: Require TLS 1.2+</vt:lpstr>
      <vt:lpstr>FederatedCredentials</vt:lpstr>
      <vt:lpstr>Problem: Not using Federated Credentials</vt:lpstr>
      <vt:lpstr>Solution: Use Federated Credentials</vt:lpstr>
      <vt:lpstr>Solution: Use Federated Credentials</vt:lpstr>
      <vt:lpstr>Budgets and  Cost Alerts</vt:lpstr>
      <vt:lpstr>Problem: Cost isn’t managed in Azure</vt:lpstr>
      <vt:lpstr>Solution: Use Azure Budgets</vt:lpstr>
      <vt:lpstr>Solution: Use Azure Cost Alerts</vt:lpstr>
      <vt:lpstr>Azure Reservations</vt:lpstr>
      <vt:lpstr>Problem: Cost is getting too high</vt:lpstr>
      <vt:lpstr>Solution: Azure Reservations</vt:lpstr>
      <vt:lpstr>Azure Savings Plans</vt:lpstr>
      <vt:lpstr>Problem: Cost is getting too high</vt:lpstr>
      <vt:lpstr>Solution: Azure Savings Plans</vt:lpstr>
      <vt:lpstr>Comparing Savings Plans vs Reservations</vt:lpstr>
      <vt:lpstr>AI Coding Agent  Tips for Azure</vt:lpstr>
      <vt:lpstr>Problem: Need Azure Context</vt:lpstr>
      <vt:lpstr>Solution: az CLI</vt:lpstr>
      <vt:lpstr>Problem: I have error logs, but manually review</vt:lpstr>
      <vt:lpstr>Problem: I have error logs, but manually review</vt:lpstr>
      <vt:lpstr>A human sees the alert A human reviews the error A human sends the fix Another human reviews the fix</vt:lpstr>
      <vt:lpstr>An AI sees the alert An AI reviews the error An AI sends the fix A human reviews the fix</vt:lpstr>
      <vt:lpstr>Demo</vt:lpstr>
      <vt:lpstr>Takeaways</vt:lpstr>
      <vt:lpstr>Questions?              ssauber@leantechniques.com              @scottsauber.com on Bluesky              @scottsauber on Twitter /scottsauber on LinkedIn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Most Common Azure Mistakes</dc:title>
  <dc:creator>Scott Sauber</dc:creator>
  <cp:lastModifiedBy>Scott Sauber</cp:lastModifiedBy>
  <cp:revision>487</cp:revision>
  <dcterms:created xsi:type="dcterms:W3CDTF">2020-03-08T20:31:35Z</dcterms:created>
  <dcterms:modified xsi:type="dcterms:W3CDTF">2026-09-16T12:01:56Z</dcterms:modified>
</cp:coreProperties>
</file>