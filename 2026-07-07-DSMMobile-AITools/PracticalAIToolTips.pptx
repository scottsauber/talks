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43"/>
  </p:notesMasterIdLst>
  <p:sldIdLst>
    <p:sldId id="257" r:id="rId2"/>
    <p:sldId id="531" r:id="rId3"/>
    <p:sldId id="570" r:id="rId4"/>
    <p:sldId id="686" r:id="rId5"/>
    <p:sldId id="642" r:id="rId6"/>
    <p:sldId id="369" r:id="rId7"/>
    <p:sldId id="410" r:id="rId8"/>
    <p:sldId id="574" r:id="rId9"/>
    <p:sldId id="603" r:id="rId10"/>
    <p:sldId id="645" r:id="rId11"/>
    <p:sldId id="648" r:id="rId12"/>
    <p:sldId id="647" r:id="rId13"/>
    <p:sldId id="644" r:id="rId14"/>
    <p:sldId id="649" r:id="rId15"/>
    <p:sldId id="650" r:id="rId16"/>
    <p:sldId id="651" r:id="rId17"/>
    <p:sldId id="652" r:id="rId18"/>
    <p:sldId id="684" r:id="rId19"/>
    <p:sldId id="685" r:id="rId20"/>
    <p:sldId id="681" r:id="rId21"/>
    <p:sldId id="676" r:id="rId22"/>
    <p:sldId id="654" r:id="rId23"/>
    <p:sldId id="655" r:id="rId24"/>
    <p:sldId id="656" r:id="rId25"/>
    <p:sldId id="669" r:id="rId26"/>
    <p:sldId id="668" r:id="rId27"/>
    <p:sldId id="670" r:id="rId28"/>
    <p:sldId id="679" r:id="rId29"/>
    <p:sldId id="675" r:id="rId30"/>
    <p:sldId id="657" r:id="rId31"/>
    <p:sldId id="678" r:id="rId32"/>
    <p:sldId id="666" r:id="rId33"/>
    <p:sldId id="674" r:id="rId34"/>
    <p:sldId id="682" r:id="rId35"/>
    <p:sldId id="673" r:id="rId36"/>
    <p:sldId id="663" r:id="rId37"/>
    <p:sldId id="664" r:id="rId38"/>
    <p:sldId id="596" r:id="rId39"/>
    <p:sldId id="627" r:id="rId40"/>
    <p:sldId id="400" r:id="rId41"/>
    <p:sldId id="621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69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8" autoAdjust="0"/>
    <p:restoredTop sz="85012" autoAdjust="0"/>
  </p:normalViewPr>
  <p:slideViewPr>
    <p:cSldViewPr snapToGrid="0">
      <p:cViewPr varScale="1">
        <p:scale>
          <a:sx n="122" d="100"/>
          <a:sy n="122" d="100"/>
        </p:scale>
        <p:origin x="1232" y="1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F47D1-607F-45EE-AE63-C10CF3AC8DD9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74461-D808-4EBD-B8B3-953FBFCC6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971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17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839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AFE2E-4FF1-34AA-1E0C-B13FC4E55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32EFA-4CEB-0975-CC72-A667A7671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243F7E-04E5-106C-63BA-C6E78A7377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F01EFB-C965-E8ED-E195-AC9761D3C5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535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4C2B8-8E20-C7DB-A552-3124E152F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4CF2A-C588-B781-8313-C38DFBC5D5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E31CB-D02B-9F45-915C-B19E5ED13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3ACB1-D9A8-23E9-2566-B7692ED933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9141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CDA9D-71A5-2EF6-C7FA-3C5C68C13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43B5-13E7-F16C-068A-2E14FE269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C68B0-AF82-6ED8-27F9-CAE1778454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91401-CE8E-23FC-C7C6-E8690256D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5800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5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37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63B85-5CCA-8D12-4BDD-A63C0F960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FFA1C-2D79-5F25-CC1B-93B39AAFB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2A04AB-5242-51A5-3609-59015F308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2350F-7547-AA00-BA4D-6413C94DC4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47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1A6A8-7ABA-8EB4-AF8E-B34BCC6D0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9C873-9935-45A0-58CD-2F1EA7FF6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7E4784-35D4-8E25-A7FC-10CC2BED1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FA60F-CD2E-8F7C-B860-F255BFEEFB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314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9B131-63C7-1CBF-379C-797EBC09D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1BE8B-446D-70BC-BCF0-BBED87B1C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7DB205-4CB9-87F6-3E3E-AB84AD5D5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D60DB-151B-92C4-7DB5-C390A9897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24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7BF4D-EA6A-89C6-B6B9-2AE6E9124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9F9E1-A419-54FF-E19D-BB8F08FCCC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C91AEA-A1D2-5F62-F6BA-EEF9C34AB9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829AB-9C91-9A9D-B7B2-47843DE5A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71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A4DFE-584C-5353-397D-44A678E9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3E6449-BC91-3A95-F555-5ED91E930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721DED-CC4A-F91F-3474-50DD23D44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6A3AF-F7B4-CE65-DD09-D2D98588B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196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98734-013F-E11C-EE1B-60F3B1753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2D810-B418-0160-4F18-30FE45924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723537-D3D4-E3F5-55A5-06807A196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25D435-047C-3169-DFD4-73E748D2BD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06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B5EC3-6E2C-9685-6B7C-0A427C863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18600-D297-A0E3-FAFD-2923D90CA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C245E-840A-00FD-0B1C-93ACECBBE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57E352-6A78-C4F1-74D6-1E3DA5C39E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141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7AEA5-9CD9-3F56-F455-A9AA0EB0D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DD1CA-3322-115F-DA51-18D9CCBFC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29C27-B683-92FB-27C8-6D286F71F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ECE25-AA33-AC4B-30B3-7E96E34BD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70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E5F73-4F25-3C8D-E68C-61EB8B356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55AD7B-1CF4-5D66-AE25-0E669BCD5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E83F2-6079-BC74-81BC-0D473A2BB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94F02F-5DCB-8474-9A92-BF51465DE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245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F320-E84C-241A-A1D8-7A209C015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DCBC7E-B28C-85F4-57CB-D426E7153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BBB426-6EB0-4AF0-FDD2-66CA9AB47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BE7BF-FDCD-8B43-3CB8-F447F74B68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5839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3EDC5-7801-4A17-4E8B-47BE0D672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9849A-2C17-9589-85AF-4394EBC60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A5A90-414A-03C0-3551-DFB0407CC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72323-0A53-25A4-95F8-8678A7F065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32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DCADE-3ABE-02B8-2FAC-6C2559B6F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BE41F-CD0F-FC3A-3493-4F7F6A962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F5E9A-7C0C-6BDD-EC2B-CCAF40470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327C2-A90C-22A5-2C16-E97BD71B64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5748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661F1-52DE-553A-7109-BA7EE0EB8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5FBE2C-BBD3-3803-0051-266BB5B0E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6B2DD-C162-4393-5153-BCADD0E17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3FEBD-9778-D9F4-40DE-B4CA19B6F0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168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44DDC-7777-BF76-B510-D983756A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E66E08-DF32-2065-7B78-9B18C3BA1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9708E-E7CD-EBE9-4CE3-EC2CF015E9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861AF-50D4-E45E-9E26-0D555EDCE9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080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30519-DE0F-A240-189F-40F394700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FA1CB-8A69-CFD4-C1E7-770F9598E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99805A-14F1-7CAC-47D9-7F1D63AF2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DE868-1C25-B21A-825B-B625D65F0B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6693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8392-F7E9-3F24-D67C-B642CC66A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B80D1-EBCB-0CE8-3EE9-0DD70C40D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EF170D-21FD-9A7A-A2C4-2389F0BE1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2AD4A-013F-9A00-D420-B0C4F385DF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8274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18B7C-8DDD-AE2A-AADE-FE01CF65C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BC668-C2DC-0C2B-27C1-8153D5E4B1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98CBE-0BFE-F611-81F8-37453D6978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A2F4B-69D3-7552-3EAE-9201FD037C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2831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F844E-1AD2-EB00-3028-D3200185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B343F9-77B5-23AB-756E-63898BC2C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F225F3-F831-86BA-67E8-EB456FCD3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630D8-38C0-E0B8-21E6-1D0F509CE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280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4D9BC-E5B3-0531-6A66-C0EE25890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CDC7C4-2D21-D502-602F-C3779C6DD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61509-F958-25E9-9D3E-F4F76A2EB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6FCF6-30C0-3488-8CC3-C3AE0D4B28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502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053EA-F9F2-10AA-E91C-28F006506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C5A708-CD2E-48E4-EBF0-5FDE2D18B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DB4F64-A068-1C9A-2FC6-4FF9D19815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44A2D-F6A0-AB4F-8CFE-75287A31F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4407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2581F-4EC1-E5EF-7C53-1117E8E1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8036B-1F14-99BE-3C2A-F1357EBFB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D06FCF-A5D8-D4AA-387A-549E0F4D3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A4A85-E367-E622-696E-31D224F805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814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B62C9-0256-06D4-5746-86C4BF779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BFED4-5094-AE38-FC91-8F5FBB159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E7FE14-6338-CCBA-4E32-8D9235BE66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AF3FA-8E62-E502-9643-182680761D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1100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72A75-A228-88F0-EBDB-B7788367A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A873E-D67D-E63B-46FB-1C2DEE74F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9DBC6-1568-1374-FEA5-4B6067A26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C55CD-93A0-0005-A6F0-C5FC7A75C4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40511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E7681-E323-6A6E-4E5F-C25D13279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908603-1BBB-450D-70C8-C67453DD5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1979A-99A2-FAE4-2BE8-0B661FE85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ED78A-4428-8C38-37BA-6606A469D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1798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661C4-7C65-D7C1-AF4D-D3F558E9A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BA738C-57B8-08BA-64C8-7C9968E85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C3AB7-9752-9345-9C88-640FCBB3A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8967F-6864-F2B9-083A-BA66E797D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20477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FC657-6130-963D-2CFF-DE00901F2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602E9-BC98-53F4-1FCA-5823AB6AA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0F4115-4481-192F-F52C-512B9B6E3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AAB3C-63DA-970B-8505-2E7AD5BBE1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6742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F7FB2-E691-A31A-EAA8-F8D1A30D8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C71F7-7396-77C5-E0B9-E8334EF836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F18E6-2D38-3FBC-5430-C5FE63343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43CE9-9664-DEA1-8D06-4D781FECF6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773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AD24-23EE-8FA8-E221-A6E655341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BF8B01-4F62-6172-7995-B20F26BF2A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C82B6-7549-1858-214E-31121E79CD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9AFA9-F120-C499-479E-828A8CC64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CEE071-6BA9-400B-8DDD-7178D39C29B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5936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999FD-D430-EF8A-9BF6-44C323EAC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EAF197-8AC7-6116-4EFE-48D27D034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BA9BF6-7B4E-2678-C035-1AC2F6418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6429B-FD19-68DF-C588-4D23AD442F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112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98DF0-36B5-7433-689E-57AAA609F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8F054B-5BDA-C49F-2540-8CC1DF1B3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44AB2-D8FF-F611-2E07-A6DAF90CB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24A27-B22D-805E-1DB0-5ACBBCAFB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463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7398C-B13A-8402-8D10-F75B459E8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23EECA-C4C1-C245-075D-EC841B0A09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56F33-C4A1-6B45-045C-A36B5B7328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CF259-A673-D964-004F-713163EDE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4431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E7B4A-C3FA-EA7E-E078-450120293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119990-9734-5F9A-3E06-B6A85ECED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E5379E-2ADE-D4AD-95DC-02DE981037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0B59C-A835-75FC-B211-0CCF00170A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57EC6A-F5A4-441D-B3C5-D1EF8312AF7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49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74461-D808-4EBD-B8B3-953FBFCC6ED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115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45F12-5B3B-918F-E061-70173364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FF449-C195-18AC-FC43-914700DBA7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E63422-DD81-6E68-3BF4-F4E578C2A9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30443-1221-CC65-29BA-99798E316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074461-D808-4EBD-B8B3-953FBFCC6ED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191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0D549-F609-4ED3-8963-AF0CBF368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CAA17A-1098-419A-8585-E680D8117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A151D-61BD-48D1-8C67-4C327383A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2C576-331D-4E09-88E2-6EB25C68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59541-EA62-4109-ABD5-F105A295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21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95D01-CAFE-4A1A-A804-F23913EB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BD820-3F0E-466E-9035-C5A24E697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017A9-4DF9-4FBC-8DFE-1AF8ABE96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C97CE-189D-45E0-91B2-04695DE2E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6EDA0-DDF2-410C-A702-40E5C32C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85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84772-8467-4E19-8A52-A529C7B3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8A9D6B-AA2E-41FA-BDFC-46C87BDCF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5F044-85E8-449D-A4F3-7EAC9AD0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68485-216E-4AEA-8404-05B4ACF61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7587-3E1F-480C-81BD-741C81CE4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865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0DC6-DE10-4E0B-BCBA-32E711C8A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8941-20E5-4343-8250-265C6DAC54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77973-E72E-4CC0-8D61-FCCC8406C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FF417-B339-40DE-B352-1ECEDBB7B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45B31E-728B-4DBE-8BD9-E37BC320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D743D7-ECE6-4EEE-A8EE-EFB4DBFE5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645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5A82E-579C-45F5-A951-1E10C98D1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72278-8C31-4955-BCB5-81132BB5F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B4B5AF-BC8F-4D55-B34E-3947255AE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4CE63-7562-4D15-BD15-363CDC2145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26435-DAAC-4A88-8E75-D1C9066E3A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6F1FBD-42A5-4A9E-8F95-934AAA62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3529DF-CBEB-4F8A-AE4A-1E17ED0E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11928E-44C3-496F-B06D-DE65B8B56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5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1837D-0203-44E9-A800-75FB3F0C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7691E0-63A3-4F58-8784-3CF3D4825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43B4FF-56D4-4561-8AA0-715AC2EF1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24245B-8F4F-4989-8B66-F14D9F46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474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97D826-C0CD-4DA3-9804-3B37794D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3DFA2-D509-44F1-BB96-FF03916E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F2E06-E28D-4612-9A89-EBD14774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0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EA060-F102-4A2F-A00A-664EF5480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E5B43-3611-4819-A036-8C5F1E42B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A2AB7-BFE4-490A-AFEB-5A016701B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585B19-24B8-4C1F-89D6-5412D092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179F1F-F5FB-498D-A4C7-6EDC1DD78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A78AB6-BF35-4C0B-B331-22ED520AE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7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6FE43-BAB1-41F0-BFF0-94DD8B3F4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C826E6-5590-4624-A426-EE1A424BC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4AF21-041F-4FA7-87E4-B870EDA36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47AF2C-DB15-4789-9385-B5DB53324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65690-CB51-4930-B426-18021D38F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4FFDAB-4B46-4100-A689-0064DB52B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72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74FE6-F914-41AA-88EC-E4EB246C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6D8E4-7B81-43C8-9E0C-E6D9BBE6A4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0A446-E986-479F-865A-253DDD95A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62C5E-6BC2-4157-896F-20C3B395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CA8BB-B7DC-49ED-A1F9-454493196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13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BD8934-B74E-4AE0-B765-ECE3C9A07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A56AB3-C0E0-4C3D-B3A4-916BF6C31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742220-AFF0-42C5-AF12-AD2AC576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F2526-C75C-47BE-928B-0135A92A66BE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ED1E5-E582-4C65-900E-24E56C398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EE9A6-F609-4B8B-AE51-59399BB00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95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6E2E7-5F4D-4B43-B201-1C682CF80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CA8DF1-9081-4F65-B36D-44EAFBA9C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121AD-9DC3-463F-98F7-B2E1CA5400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F2526-C75C-47BE-928B-0135A92A66BE}" type="datetimeFigureOut">
              <a:rPr lang="en-US" smtClean="0"/>
              <a:t>7/7/26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0C0D7-400D-4BA6-BC06-CFC5FBDCFC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E6C9D-08DD-4E4B-8A70-A4B32C36A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E6D87-DEBB-4D35-A363-8431759C7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25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leantechniques.com/" TargetMode="External"/><Relationship Id="rId7" Type="http://schemas.openxmlformats.org/officeDocument/2006/relationships/hyperlink" Target="https://www.red-gate.com/hub/events/friends-of-rg/friend/ScottSauber" TargetMode="External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meetup.com/iadnug/" TargetMode="External"/><Relationship Id="rId11" Type="http://schemas.openxmlformats.org/officeDocument/2006/relationships/image" Target="../media/image5.jpeg"/><Relationship Id="rId5" Type="http://schemas.openxmlformats.org/officeDocument/2006/relationships/hyperlink" Target="https://dometrain.com/author/scott-sauber/" TargetMode="External"/><Relationship Id="rId10" Type="http://schemas.openxmlformats.org/officeDocument/2006/relationships/image" Target="../media/image4.jpeg"/><Relationship Id="rId4" Type="http://schemas.openxmlformats.org/officeDocument/2006/relationships/hyperlink" Target="https://mvp.microsoft.com/en-us/PublicProfile/5005146?fullName=Scott%20%20Sauber" TargetMode="External"/><Relationship Id="rId9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ra.dev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microsoft.com/office/2007/relationships/hdphoto" Target="../media/hdphoto7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7.wd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8.wdp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9.wdp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thropics/skills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0.wdp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microsoft.com/office/2007/relationships/hdphoto" Target="../media/hdphoto7.wdp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microsoft.com/office/2007/relationships/hdphoto" Target="../media/hdphoto7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1.wdp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1.wdp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2.wd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3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4.wdp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scottsauber.com/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5.wdp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E7171-AFDD-4862-9A69-284665CD3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59924"/>
            <a:ext cx="12192000" cy="4303009"/>
          </a:xfrm>
        </p:spPr>
        <p:txBody>
          <a:bodyPr>
            <a:no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Practical </a:t>
            </a:r>
            <a:r>
              <a:rPr lang="en-US" sz="8000" b="1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AI Productivity </a:t>
            </a:r>
            <a: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Tips</a:t>
            </a:r>
            <a:b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80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For The Too Busy Developer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938EF936-BB12-46CA-86F7-049CEBB8D2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446" y="6295281"/>
            <a:ext cx="12192000" cy="525294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3332C9D-1D66-D0F1-B620-0AB68D7C6029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15" name="Subtitle 2">
              <a:extLst>
                <a:ext uri="{FF2B5EF4-FFF2-40B4-BE49-F238E27FC236}">
                  <a16:creationId xmlns:a16="http://schemas.microsoft.com/office/drawing/2014/main" id="{3EFDD6A2-435A-1B44-85EB-21338B4C6CD0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/>
                  </a:solidFill>
                </a:rPr>
                <a:t>@</a:t>
              </a:r>
              <a:r>
                <a:rPr lang="en-US" dirty="0" err="1">
                  <a:solidFill>
                    <a:schemeClr val="bg1"/>
                  </a:solidFill>
                </a:rPr>
                <a:t>scottsauber</a:t>
              </a:r>
              <a:endParaRPr lang="en-US" dirty="0">
                <a:solidFill>
                  <a:schemeClr val="bg1"/>
                </a:solidFill>
              </a:endParaRPr>
            </a:p>
          </p:txBody>
        </p:sp>
        <p:pic>
          <p:nvPicPr>
            <p:cNvPr id="16" name="Picture 2" descr="X Logo, symbol, meaning, history, PNG, brand">
              <a:extLst>
                <a:ext uri="{FF2B5EF4-FFF2-40B4-BE49-F238E27FC236}">
                  <a16:creationId xmlns:a16="http://schemas.microsoft.com/office/drawing/2014/main" id="{C22951A0-AAAE-FDD9-A5E5-A4765CD65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30679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9637"/>
          </a:xfrm>
        </p:spPr>
        <p:txBody>
          <a:bodyPr>
            <a:normAutofit/>
          </a:bodyPr>
          <a:lstStyle/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Looking for ideas how to best leverage AI 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Been too busy shipping value to pay attention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This’ll be a 100-200 level talk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More than just “AI in your IDE”</a:t>
            </a:r>
          </a:p>
          <a:p>
            <a:r>
              <a:rPr lang="en-US" dirty="0">
                <a:ea typeface="Open Sans" panose="020B0606030504020204" pitchFamily="34" charset="0"/>
                <a:cs typeface="Open Sans" panose="020B0606030504020204" pitchFamily="34" charset="0"/>
              </a:rPr>
              <a:t>This an all day workshop, but we have 60 mins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D7F641-CB01-95DB-8296-DC10EA77638C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5005ADEF-36BA-AD42-A5CC-68C0CDA5229C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FAC11573-4D22-65BC-9A9F-D0231BF1B1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9022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73CC-C2E5-AA8B-1F40-3BB0E1F90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A076-E9D5-72B4-6088-D762A40E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Poll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85BBB-D37B-3BF8-5AA1-E89AF1DDD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34600" cy="4351338"/>
          </a:xfrm>
        </p:spPr>
        <p:txBody>
          <a:bodyPr/>
          <a:lstStyle/>
          <a:p>
            <a:r>
              <a:rPr lang="en-US" dirty="0"/>
              <a:t>Who’s using AI tools? Every day?</a:t>
            </a:r>
          </a:p>
          <a:p>
            <a:r>
              <a:rPr lang="en-US" dirty="0"/>
              <a:t>Copilot?</a:t>
            </a:r>
          </a:p>
          <a:p>
            <a:r>
              <a:rPr lang="en-US" dirty="0"/>
              <a:t>Claude Code?</a:t>
            </a:r>
          </a:p>
          <a:p>
            <a:r>
              <a:rPr lang="en-US" dirty="0"/>
              <a:t>Codex?</a:t>
            </a:r>
          </a:p>
          <a:p>
            <a:r>
              <a:rPr lang="en-US" dirty="0"/>
              <a:t>Cursor?</a:t>
            </a:r>
          </a:p>
          <a:p>
            <a:r>
              <a:rPr lang="en-US" dirty="0"/>
              <a:t>Windsurf?</a:t>
            </a:r>
          </a:p>
          <a:p>
            <a:r>
              <a:rPr lang="en-US" dirty="0"/>
              <a:t>Something else?</a:t>
            </a:r>
          </a:p>
        </p:txBody>
      </p:sp>
    </p:spTree>
    <p:extLst>
      <p:ext uri="{BB962C8B-B14F-4D97-AF65-F5344CB8AC3E}">
        <p14:creationId xmlns:p14="http://schemas.microsoft.com/office/powerpoint/2010/main" val="152910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54F01-0D60-CE26-C2EC-3C00990C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A36B-92F3-0A4B-103C-47F9FC508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Poll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2836F4-F0F2-EFAC-83B6-0BEDE7E10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many people AI is writing 99%+ of their code?</a:t>
            </a:r>
          </a:p>
          <a:p>
            <a:r>
              <a:rPr lang="en-US" dirty="0"/>
              <a:t>Most of their code?</a:t>
            </a:r>
          </a:p>
        </p:txBody>
      </p:sp>
    </p:spTree>
    <p:extLst>
      <p:ext uri="{BB962C8B-B14F-4D97-AF65-F5344CB8AC3E}">
        <p14:creationId xmlns:p14="http://schemas.microsoft.com/office/powerpoint/2010/main" val="1330885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47ED6-43DB-0BAD-B15B-46C79D802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27FA-3D06-5D7E-65D1-9550D4564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AD13C-E280-F8C7-86CD-7B7B2EA85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134600" cy="4351338"/>
          </a:xfrm>
        </p:spPr>
        <p:txBody>
          <a:bodyPr/>
          <a:lstStyle/>
          <a:p>
            <a:r>
              <a:rPr lang="en-US" dirty="0"/>
              <a:t>Am I still going to have a job?</a:t>
            </a:r>
          </a:p>
          <a:p>
            <a:r>
              <a:rPr lang="en-US" dirty="0"/>
              <a:t>Define all the AI Buzzwords like Context, Instructions, Skills, and more</a:t>
            </a:r>
          </a:p>
          <a:p>
            <a:r>
              <a:rPr lang="en-US" dirty="0"/>
              <a:t>Talk about tools like Copilot and Claude Code</a:t>
            </a:r>
          </a:p>
          <a:p>
            <a:r>
              <a:rPr lang="en-US" dirty="0"/>
              <a:t>Show some demos</a:t>
            </a:r>
          </a:p>
          <a:p>
            <a:r>
              <a:rPr lang="en-US" dirty="0"/>
              <a:t>Practical Tips about where AI fits and where it doesn’t</a:t>
            </a:r>
          </a:p>
        </p:txBody>
      </p:sp>
    </p:spTree>
    <p:extLst>
      <p:ext uri="{BB962C8B-B14F-4D97-AF65-F5344CB8AC3E}">
        <p14:creationId xmlns:p14="http://schemas.microsoft.com/office/powerpoint/2010/main" val="1095751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Goals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F7A8C53-9310-C497-719C-5A3536D0FE56}"/>
              </a:ext>
            </a:extLst>
          </p:cNvPr>
          <p:cNvSpPr txBox="1">
            <a:spLocks/>
          </p:cNvSpPr>
          <p:nvPr/>
        </p:nvSpPr>
        <p:spPr>
          <a:xfrm>
            <a:off x="838200" y="1779905"/>
            <a:ext cx="10515600" cy="50780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Give you ideas you can start using today</a:t>
            </a:r>
          </a:p>
          <a:p>
            <a:r>
              <a:rPr lang="en-US" dirty="0"/>
              <a:t>Where AI tooling is going in the future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E081A59-1B6D-6351-AC95-51EE5B0DFB6A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D0CF7B9-40F6-7AA6-D951-A5001490847D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DEB73A5D-F06E-9B8E-0C93-DAFFC0E736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47538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Who am I?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056808" cy="4351338"/>
          </a:xfrm>
        </p:spPr>
        <p:txBody>
          <a:bodyPr/>
          <a:lstStyle/>
          <a:p>
            <a:r>
              <a:rPr lang="en-US" dirty="0"/>
              <a:t>Director of Engineering at </a:t>
            </a:r>
            <a:r>
              <a:rPr lang="en-US" dirty="0">
                <a:hlinkClick r:id="rId3"/>
              </a:rPr>
              <a:t>Lean </a:t>
            </a:r>
            <a:r>
              <a:rPr lang="en-US" dirty="0" err="1">
                <a:hlinkClick r:id="rId3"/>
              </a:rPr>
              <a:t>TECHniques</a:t>
            </a:r>
            <a:endParaRPr lang="en-US" dirty="0"/>
          </a:p>
          <a:p>
            <a:r>
              <a:rPr lang="en-US" dirty="0">
                <a:hlinkClick r:id="rId4"/>
              </a:rPr>
              <a:t>Microsoft MVP</a:t>
            </a:r>
            <a:endParaRPr lang="en-US" dirty="0"/>
          </a:p>
          <a:p>
            <a:r>
              <a:rPr lang="en-US" dirty="0" err="1">
                <a:hlinkClick r:id="rId5"/>
              </a:rPr>
              <a:t>Dometrain</a:t>
            </a:r>
            <a:r>
              <a:rPr lang="en-US" dirty="0">
                <a:hlinkClick r:id="rId5"/>
              </a:rPr>
              <a:t> Author</a:t>
            </a:r>
            <a:endParaRPr lang="en-US" dirty="0"/>
          </a:p>
          <a:p>
            <a:r>
              <a:rPr lang="en-US" dirty="0"/>
              <a:t>Redgate Community Ambassador</a:t>
            </a:r>
          </a:p>
          <a:p>
            <a:r>
              <a:rPr lang="en-US" dirty="0"/>
              <a:t>Co-organizer of </a:t>
            </a:r>
            <a:r>
              <a:rPr lang="en-US" dirty="0">
                <a:hlinkClick r:id="rId6"/>
              </a:rPr>
              <a:t>Iowa .NET User Group</a:t>
            </a:r>
            <a:endParaRPr lang="en-US" dirty="0">
              <a:hlinkClick r:id="rId7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7CC776C-DC3F-D0B5-5231-4112653EF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540000">
            <a:off x="8953197" y="4559863"/>
            <a:ext cx="2584299" cy="1589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6AE3F5-A57F-F976-3F78-41D6E87C25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793" y="4320570"/>
            <a:ext cx="2017351" cy="2017351"/>
          </a:xfrm>
          <a:prstGeom prst="rect">
            <a:avLst/>
          </a:prstGeom>
        </p:spPr>
      </p:pic>
      <p:pic>
        <p:nvPicPr>
          <p:cNvPr id="7" name="Picture 2" descr="Microsoft MVP Communities (@MVPAward) / X">
            <a:extLst>
              <a:ext uri="{FF2B5EF4-FFF2-40B4-BE49-F238E27FC236}">
                <a16:creationId xmlns:a16="http://schemas.microsoft.com/office/drawing/2014/main" id="{C67B11EE-26D8-F622-00D3-C0E2B30A3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204" y="4578246"/>
            <a:ext cx="1502000" cy="150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ourses crafted for the real world - Dometrain">
            <a:extLst>
              <a:ext uri="{FF2B5EF4-FFF2-40B4-BE49-F238E27FC236}">
                <a16:creationId xmlns:a16="http://schemas.microsoft.com/office/drawing/2014/main" id="{64A20FB0-C1F9-33B8-D3BE-E1825A53C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33" r="17323"/>
          <a:stretch/>
        </p:blipFill>
        <p:spPr bwMode="auto">
          <a:xfrm>
            <a:off x="5058153" y="4578245"/>
            <a:ext cx="1885907" cy="1508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irectory | Redgate Software">
            <a:extLst>
              <a:ext uri="{FF2B5EF4-FFF2-40B4-BE49-F238E27FC236}">
                <a16:creationId xmlns:a16="http://schemas.microsoft.com/office/drawing/2014/main" id="{E3052ACE-16D8-EE1A-A393-F0760EDE4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875" y="4588232"/>
            <a:ext cx="1117569" cy="1492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558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9EA72-7737-0DD7-9599-BC0C2F75A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3CEE-3A62-7771-FF5E-207E162BD4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Am I going to be 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out of a job?</a:t>
            </a:r>
          </a:p>
        </p:txBody>
      </p:sp>
    </p:spTree>
    <p:extLst>
      <p:ext uri="{BB962C8B-B14F-4D97-AF65-F5344CB8AC3E}">
        <p14:creationId xmlns:p14="http://schemas.microsoft.com/office/powerpoint/2010/main" val="14009314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C6BC1-3E86-0CD5-B80A-D8DDFDA4D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82A6-A542-E494-F0C5-790FC43CA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History Lesson (2000s – Present)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3C8CD-F51D-379B-A9D8-F3CAD2875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What set teams apart was their commitment to modern engineering practices and modern work practices – proven by </a:t>
            </a:r>
            <a:r>
              <a:rPr lang="en-US" dirty="0">
                <a:hlinkClick r:id="rId3"/>
              </a:rPr>
              <a:t>DORA</a:t>
            </a:r>
            <a:endParaRPr lang="en-US" dirty="0"/>
          </a:p>
          <a:p>
            <a:pPr fontAlgn="base"/>
            <a:r>
              <a:rPr lang="en-US" dirty="0"/>
              <a:t>Fast feedback</a:t>
            </a:r>
          </a:p>
          <a:p>
            <a:pPr fontAlgn="base"/>
            <a:r>
              <a:rPr lang="en-US" dirty="0"/>
              <a:t>Working in small batches</a:t>
            </a:r>
          </a:p>
          <a:p>
            <a:pPr fontAlgn="base"/>
            <a:r>
              <a:rPr lang="en-US" dirty="0"/>
              <a:t>Learning Culture</a:t>
            </a:r>
          </a:p>
          <a:p>
            <a:pPr fontAlgn="base"/>
            <a:r>
              <a:rPr lang="en-US" dirty="0"/>
              <a:t>Automated Tests</a:t>
            </a:r>
          </a:p>
          <a:p>
            <a:pPr fontAlgn="base"/>
            <a:r>
              <a:rPr lang="en-US" dirty="0"/>
              <a:t>CI/CD</a:t>
            </a:r>
          </a:p>
          <a:p>
            <a:pPr fontAlgn="base"/>
            <a:r>
              <a:rPr lang="en-US" dirty="0"/>
              <a:t>Cloud</a:t>
            </a:r>
          </a:p>
          <a:p>
            <a:pPr fontAlgn="base"/>
            <a:r>
              <a:rPr lang="en-US" dirty="0"/>
              <a:t>Database Automation</a:t>
            </a:r>
          </a:p>
          <a:p>
            <a:pPr fontAlgn="base"/>
            <a:r>
              <a:rPr lang="en-US" dirty="0"/>
              <a:t>Monitoring and Observability</a:t>
            </a:r>
          </a:p>
          <a:p>
            <a:pPr fontAlgn="base"/>
            <a:r>
              <a:rPr lang="en-US" dirty="0"/>
              <a:t>And more…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81EBBB2-F5A4-A120-88CE-FE409C53C76B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5CE189A9-7E1B-A492-8127-8A897CDFF725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7" name="Picture 2" descr="X Logo, symbol, meaning, history, PNG, brand">
              <a:extLst>
                <a:ext uri="{FF2B5EF4-FFF2-40B4-BE49-F238E27FC236}">
                  <a16:creationId xmlns:a16="http://schemas.microsoft.com/office/drawing/2014/main" id="{E6497534-F4F5-2CF8-C9EC-0A7702063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7757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9E9DDC-D5DE-BB1E-3113-69BBA62E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AC8C-3F5D-D9F2-4DEA-8605F3AFC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Which ones are still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relevant in an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AI-dominated world?</a:t>
            </a:r>
          </a:p>
        </p:txBody>
      </p:sp>
    </p:spTree>
    <p:extLst>
      <p:ext uri="{BB962C8B-B14F-4D97-AF65-F5344CB8AC3E}">
        <p14:creationId xmlns:p14="http://schemas.microsoft.com/office/powerpoint/2010/main" val="3672818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6DAA9-64D3-7771-7426-4B54CF0E8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B7018-7A9E-1458-805A-53C7D0E31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History Lesson (2000s – Present)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5ACF7-C1F8-6514-CEC8-8022FD997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What set teams apart was their commitment to modern engineering practices and modern work practices</a:t>
            </a:r>
          </a:p>
          <a:p>
            <a:pPr fontAlgn="base"/>
            <a:r>
              <a:rPr lang="en-US" dirty="0"/>
              <a:t>Fast feedback ✅</a:t>
            </a:r>
          </a:p>
          <a:p>
            <a:pPr fontAlgn="base"/>
            <a:r>
              <a:rPr lang="en-US" dirty="0"/>
              <a:t>Working in small batches ✅</a:t>
            </a:r>
          </a:p>
          <a:p>
            <a:pPr fontAlgn="base"/>
            <a:r>
              <a:rPr lang="en-US" dirty="0"/>
              <a:t>Learning Culture ✅</a:t>
            </a:r>
          </a:p>
          <a:p>
            <a:pPr fontAlgn="base"/>
            <a:r>
              <a:rPr lang="en-US" dirty="0"/>
              <a:t>Automated Tests ✅</a:t>
            </a:r>
          </a:p>
          <a:p>
            <a:pPr fontAlgn="base"/>
            <a:r>
              <a:rPr lang="en-US" dirty="0"/>
              <a:t>CI/CD ✅</a:t>
            </a:r>
          </a:p>
          <a:p>
            <a:pPr fontAlgn="base"/>
            <a:r>
              <a:rPr lang="en-US" dirty="0"/>
              <a:t>Cloud ✅</a:t>
            </a:r>
          </a:p>
          <a:p>
            <a:pPr fontAlgn="base"/>
            <a:r>
              <a:rPr lang="en-US" dirty="0"/>
              <a:t>Database Automation ✅</a:t>
            </a:r>
          </a:p>
          <a:p>
            <a:pPr fontAlgn="base"/>
            <a:r>
              <a:rPr lang="en-US" dirty="0"/>
              <a:t>Monitoring and Observability ✅</a:t>
            </a:r>
          </a:p>
          <a:p>
            <a:pPr fontAlgn="base"/>
            <a:r>
              <a:rPr lang="en-US" dirty="0"/>
              <a:t>And more…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161A391-AEE7-3A12-D82B-CF058EEBBB53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EFE69A56-48D7-B58E-D24B-19047680D01E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9717CEE1-E7AF-A3C0-8411-2925C4E981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41958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F3973C-F002-2BC4-D88C-394780053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CA9C7-9F04-2A86-E8B2-1234A50B0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The Fundamentals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Remain The Same</a:t>
            </a:r>
          </a:p>
        </p:txBody>
      </p:sp>
    </p:spTree>
    <p:extLst>
      <p:ext uri="{BB962C8B-B14F-4D97-AF65-F5344CB8AC3E}">
        <p14:creationId xmlns:p14="http://schemas.microsoft.com/office/powerpoint/2010/main" val="673953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3A80A-D824-1888-7AB6-AD6B8A8FB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F8B5-8CB6-7137-F4CA-114556EC0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Jevon’s Paradox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B7732-14EB-51BE-156D-38DCAC9B0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Economic Principle of increasing the the efficiency of a resource actually leads to more use, not less</a:t>
            </a:r>
          </a:p>
          <a:p>
            <a:pPr fontAlgn="base"/>
            <a:r>
              <a:rPr lang="en-US" dirty="0"/>
              <a:t>More fuel efficient engines, means cheaper travel, which encourages people to drive, which means more fuel consumption</a:t>
            </a:r>
          </a:p>
          <a:p>
            <a:pPr fontAlgn="base"/>
            <a:r>
              <a:rPr lang="en-US" dirty="0"/>
              <a:t>Faster Internet speeds has led to more internet usage not less (</a:t>
            </a:r>
            <a:r>
              <a:rPr lang="en-US" dirty="0" err="1"/>
              <a:t>ie</a:t>
            </a:r>
            <a:r>
              <a:rPr lang="en-US" dirty="0"/>
              <a:t> streaming)</a:t>
            </a:r>
          </a:p>
          <a:p>
            <a:pPr fontAlgn="base"/>
            <a:r>
              <a:rPr lang="en-US" dirty="0"/>
              <a:t>If history repeats itself - becoming more efficient with creating software will actually result in MORE software, not less</a:t>
            </a:r>
          </a:p>
          <a:p>
            <a:pPr fontAlgn="base"/>
            <a:r>
              <a:rPr lang="en-US" dirty="0"/>
              <a:t>Building faster changes the Build vs Buy equation</a:t>
            </a:r>
          </a:p>
          <a:p>
            <a:pPr fontAlgn="base"/>
            <a:r>
              <a:rPr lang="en-US" dirty="0"/>
              <a:t>We all still have jobs!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7B8C36-E375-CC29-E6E4-F35C6175C18D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7760C98A-D741-9234-12F6-522E075E1352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55515E3A-202F-962D-ACDC-3D8729D1E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41262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7B12D2-3926-3BF1-63B5-EA1134C87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848C5-00EB-B684-160E-C0C29B7B5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10185"/>
            <a:ext cx="8843749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“SaaS is Dead.”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3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- Satya Nadella, Microsoft CEO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ACD99D2-D4D1-91A5-159A-FEC7C933A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5699" y="1310185"/>
            <a:ext cx="94027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584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0FF30F-AAFD-B935-91CF-0DA7132B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43C3E-094B-31DC-5A18-C1A4B465E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These tools are the worst they will ever be today.</a:t>
            </a:r>
          </a:p>
        </p:txBody>
      </p:sp>
    </p:spTree>
    <p:extLst>
      <p:ext uri="{BB962C8B-B14F-4D97-AF65-F5344CB8AC3E}">
        <p14:creationId xmlns:p14="http://schemas.microsoft.com/office/powerpoint/2010/main" val="657913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0E3CF3-3B1A-6EAB-CB3C-365F3F89E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C2362-F597-8D66-443C-A091452970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Alright let’s talk </a:t>
            </a:r>
            <a:b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AI Tools</a:t>
            </a:r>
          </a:p>
        </p:txBody>
      </p:sp>
    </p:spTree>
    <p:extLst>
      <p:ext uri="{BB962C8B-B14F-4D97-AF65-F5344CB8AC3E}">
        <p14:creationId xmlns:p14="http://schemas.microsoft.com/office/powerpoint/2010/main" val="3741574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38699-E0A2-80D3-B4DC-ED4FABC77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FF63A-03C8-71E7-02DE-2E5950490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AI is an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C21EC-2F8D-2F0F-710D-B4E4D8633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Good practices – move faster at high quality</a:t>
            </a:r>
          </a:p>
          <a:p>
            <a:r>
              <a:rPr lang="en-US" dirty="0"/>
              <a:t>Bad practices – move faster at lower quality</a:t>
            </a:r>
          </a:p>
          <a:p>
            <a:r>
              <a:rPr lang="en-US" dirty="0"/>
              <a:t>How do you verify your app works? Compile, Tests, Lint, Format. Are you doing those things already?</a:t>
            </a:r>
          </a:p>
          <a:p>
            <a:r>
              <a:rPr lang="en-US" dirty="0"/>
              <a:t>Do you have judgement to know when AI went off the rails?</a:t>
            </a:r>
          </a:p>
          <a:p>
            <a:r>
              <a:rPr lang="en-US" dirty="0"/>
              <a:t>Your PR output might 2-10x when using AI correctly</a:t>
            </a:r>
          </a:p>
          <a:p>
            <a:r>
              <a:rPr lang="en-US" dirty="0"/>
              <a:t>Do your PRs sit for days without reviewing already?</a:t>
            </a:r>
          </a:p>
          <a:p>
            <a:r>
              <a:rPr lang="en-US" dirty="0"/>
              <a:t>Do you rubberstamp PRs?</a:t>
            </a:r>
          </a:p>
          <a:p>
            <a:r>
              <a:rPr lang="en-US" dirty="0"/>
              <a:t>You still own the code – not AI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49A37D8-899A-F489-46B8-A467B345675F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51906444-EFFC-1BAF-8D0A-1F99457E64AA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6904167E-B745-87E2-0BF0-4CF3637F06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1457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47268-7603-5E3F-5E98-C4AAB4A41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AB0E-A2D2-91B0-39F9-1DDF4185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Agent Ready Assessment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F4D993-55F4-9888-E655-EA51E3D4FE8F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D9948696-405D-85AF-49C7-FF36A7C0F5F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06E4225C-813F-44CA-263E-7842DADFBF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A5EBD47-8CD2-71DA-E013-A3AA0CFF1C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1258" y="1516233"/>
            <a:ext cx="67094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671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6D3A-D188-F335-5E15-31095B4AE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747CB-C3AB-0EEA-7480-AD916AA5B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Agent Ready Assessment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5470E4E-D406-B490-EF65-BD4A856078DF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C780C094-FB61-F68A-9638-7C94031A1C7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278011EC-E8F0-971F-F9B8-27B50038A22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0E874231-936C-1C01-6C47-55AED511D9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0" y="1896276"/>
            <a:ext cx="7772400" cy="408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863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AEA2E-9C05-6ACB-A6E7-67E7A77D3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0B828-4FF7-B515-0BFC-F9150D465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Where I’m at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03ADF-7E45-543E-076F-AA85D75AA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AI writes 99% of my code</a:t>
            </a:r>
          </a:p>
          <a:p>
            <a:r>
              <a:rPr lang="en-US" dirty="0"/>
              <a:t>I review every line – I’m still responsible</a:t>
            </a:r>
          </a:p>
          <a:p>
            <a:r>
              <a:rPr lang="en-US" dirty="0"/>
              <a:t>Speed is 10x faster, Quality is Higher – forced me to automate more</a:t>
            </a:r>
          </a:p>
          <a:p>
            <a:r>
              <a:rPr lang="en-US" dirty="0"/>
              <a:t>Running 2-4 agents at once</a:t>
            </a:r>
          </a:p>
          <a:p>
            <a:r>
              <a:rPr lang="en-US" dirty="0"/>
              <a:t>Mostly use the CLI – you should start here – starting to use Copilot App (when using Copilot)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78B197F-B1F7-68ED-FE27-EB028D6EDAE1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337BA3C9-86A5-3B1F-9433-3364AF2C26D1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9C944129-F13D-2E2C-3E11-A98F19D006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5123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B0BBF-03A5-8845-1474-1A59A6C78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592AF-8625-73D7-4E02-458A0BF6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Large Language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BDE9B-05FA-77B9-D87F-59E268CE69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Engine trained on massive amounts of text to learn patterns of meaning</a:t>
            </a:r>
          </a:p>
          <a:p>
            <a:pPr fontAlgn="base"/>
            <a:r>
              <a:rPr lang="en-US" dirty="0"/>
              <a:t>Literally just predicts one token at a time based on probabilities</a:t>
            </a:r>
          </a:p>
          <a:p>
            <a:pPr fontAlgn="base"/>
            <a:r>
              <a:rPr lang="en-US" dirty="0"/>
              <a:t>Best Models is a misnomer – it’s tradeoffs</a:t>
            </a:r>
          </a:p>
          <a:p>
            <a:pPr fontAlgn="base"/>
            <a:r>
              <a:rPr lang="en-US" dirty="0"/>
              <a:t>Accuracy vs Cost vs Speed</a:t>
            </a:r>
          </a:p>
          <a:p>
            <a:pPr fontAlgn="base"/>
            <a:r>
              <a:rPr lang="en-US" dirty="0"/>
              <a:t>Opus is the “best” model for one-shotting code in my experience, but it’s the most* expensive and often slow (* until Fable)</a:t>
            </a:r>
          </a:p>
          <a:p>
            <a:pPr fontAlgn="base"/>
            <a:r>
              <a:rPr lang="en-US" dirty="0"/>
              <a:t>Haiku responds very quickly, but isn’t as deep</a:t>
            </a:r>
          </a:p>
          <a:p>
            <a:pPr fontAlgn="base"/>
            <a:r>
              <a:rPr lang="en-US" dirty="0"/>
              <a:t>Sonnet tries to balance these two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C1C0BB6-5786-0C1E-9E9D-4671EA3F0158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87BAFD66-8DC8-F38A-F88F-AA16DC44DC35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C9F81660-3A78-40AF-7C11-C4FD319347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3763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479EF-A9C1-4287-C998-5B6B8E718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3778A-2243-099D-506B-EE1B790E8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C2721-FED0-E909-5D0F-BAAAEC512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The information an LLM is allowed to consider for a request</a:t>
            </a:r>
          </a:p>
          <a:p>
            <a:pPr fontAlgn="base"/>
            <a:r>
              <a:rPr lang="en-US" dirty="0"/>
              <a:t>LLMs have a limited Context Window</a:t>
            </a:r>
          </a:p>
          <a:p>
            <a:pPr fontAlgn="base"/>
            <a:r>
              <a:rPr lang="en-US" dirty="0"/>
              <a:t>What makes up Context:</a:t>
            </a:r>
          </a:p>
          <a:p>
            <a:pPr fontAlgn="base"/>
            <a:r>
              <a:rPr lang="en-US" dirty="0"/>
              <a:t>Conversation History</a:t>
            </a:r>
          </a:p>
          <a:p>
            <a:pPr fontAlgn="base"/>
            <a:r>
              <a:rPr lang="en-US" dirty="0"/>
              <a:t>Code in your repo</a:t>
            </a:r>
          </a:p>
          <a:p>
            <a:pPr fontAlgn="base"/>
            <a:r>
              <a:rPr lang="en-US" dirty="0"/>
              <a:t>User Prompt</a:t>
            </a:r>
          </a:p>
          <a:p>
            <a:pPr fontAlgn="base"/>
            <a:r>
              <a:rPr lang="en-US" dirty="0"/>
              <a:t>Instructions</a:t>
            </a:r>
          </a:p>
          <a:p>
            <a:pPr fontAlgn="base"/>
            <a:r>
              <a:rPr lang="en-US" dirty="0"/>
              <a:t>Clearing context is key – when one task is done, /clear</a:t>
            </a:r>
          </a:p>
          <a:p>
            <a:pPr fontAlgn="base"/>
            <a:r>
              <a:rPr lang="en-US" dirty="0"/>
              <a:t>Compacting can also lead to hallucinations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3478E9D-55C5-02F8-A783-EB7C309030E4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4D2980A8-8986-37C0-1320-8E10083564EE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C54A895B-4C4B-4F4C-4D2E-934F3D4BD1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8067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B83D9-CEF7-2B3C-D4D6-B80F40BDA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DBA23-A5C4-9C51-9D86-434FA0DA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AI Dev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DC83B-DEB4-3860-EF80-EF98FD2E3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Unifies LLMs with codebases to provide the most context to get the best results</a:t>
            </a:r>
          </a:p>
          <a:p>
            <a:pPr fontAlgn="base"/>
            <a:r>
              <a:rPr lang="en-US" dirty="0"/>
              <a:t>GitHub Copilot (most ubiquitous)</a:t>
            </a:r>
          </a:p>
          <a:p>
            <a:pPr fontAlgn="base"/>
            <a:r>
              <a:rPr lang="en-US" dirty="0"/>
              <a:t>Claude Code (best AI dev tool)</a:t>
            </a:r>
          </a:p>
          <a:p>
            <a:pPr lvl="1" fontAlgn="base"/>
            <a:r>
              <a:rPr lang="en-US" dirty="0"/>
              <a:t>Preview Feb ‘25, GA May ‘25</a:t>
            </a:r>
          </a:p>
          <a:p>
            <a:pPr fontAlgn="base"/>
            <a:r>
              <a:rPr lang="en-US" dirty="0"/>
              <a:t>Cursor (best autocomplete)</a:t>
            </a:r>
          </a:p>
          <a:p>
            <a:pPr fontAlgn="base"/>
            <a:r>
              <a:rPr lang="en-US" dirty="0"/>
              <a:t>Lots of others</a:t>
            </a:r>
          </a:p>
          <a:p>
            <a:pPr fontAlgn="base"/>
            <a:r>
              <a:rPr lang="en-US" dirty="0"/>
              <a:t>Best == my opinions and experiences</a:t>
            </a:r>
          </a:p>
          <a:p>
            <a:pPr fontAlgn="base"/>
            <a:r>
              <a:rPr lang="en-US" dirty="0"/>
              <a:t>Autocomplete is nice… but you shouldn’t be using it anymore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C084472-91FA-6AFE-546B-8738C0E6A80B}"/>
              </a:ext>
            </a:extLst>
          </p:cNvPr>
          <p:cNvGrpSpPr/>
          <p:nvPr/>
        </p:nvGrpSpPr>
        <p:grpSpPr>
          <a:xfrm>
            <a:off x="9807944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6611AE80-4FBE-20B6-82EB-88A547D0AFBD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B5A95445-1F98-B670-B493-B30D6EA3CE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833864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D33CF-A37E-8F1F-733F-75C6F1C0E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58383-0535-7E3D-D67F-121809C0C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0136B-1048-D60C-BC76-3F3A9D15B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Set of Markdown files to define your team’s/organization’s rules </a:t>
            </a:r>
          </a:p>
          <a:p>
            <a:pPr fontAlgn="base"/>
            <a:r>
              <a:rPr lang="en-US" dirty="0"/>
              <a:t>“Don’t use Arrange, Act, Assert comments in tests”</a:t>
            </a:r>
          </a:p>
          <a:p>
            <a:pPr fontAlgn="base"/>
            <a:r>
              <a:rPr lang="en-US" dirty="0"/>
              <a:t>Tip: anything the agent does wrong? Add it to your Instructions</a:t>
            </a:r>
          </a:p>
          <a:p>
            <a:pPr lvl="1" fontAlgn="base"/>
            <a:r>
              <a:rPr lang="en-US" dirty="0"/>
              <a:t>This is key</a:t>
            </a:r>
          </a:p>
          <a:p>
            <a:pPr fontAlgn="base"/>
            <a:r>
              <a:rPr lang="en-US" dirty="0"/>
              <a:t>Used to be you should tell AI about your standards, your folder structure, </a:t>
            </a:r>
            <a:r>
              <a:rPr lang="en-US" dirty="0" err="1"/>
              <a:t>etc</a:t>
            </a:r>
            <a:endParaRPr lang="en-US" dirty="0"/>
          </a:p>
          <a:p>
            <a:pPr fontAlgn="base"/>
            <a:r>
              <a:rPr lang="en-US" dirty="0"/>
              <a:t>Nowadays – delete everything except Don’ts per Boris Cherny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B6E303-D3AA-B43D-069E-4EE8AA6C02B3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EBB354BC-67B4-A388-73A0-99F2B8A17A8E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E6032B34-239D-3264-D877-7CB0F16622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5465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F7DB0-EA40-0934-8413-73A2E93B3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A4F1F0A4-896E-C092-7D46-00ECC291D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066800"/>
            <a:ext cx="85217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913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CECAF-4BD7-3C7A-256F-6A46C0B01A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CE47D-2DC2-43B3-CE6C-CFE65456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Instructions Everywhere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E677B-14B3-1472-C4C3-14F3A23A0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Every tool now respects </a:t>
            </a:r>
            <a:r>
              <a:rPr lang="en-US" dirty="0" err="1"/>
              <a:t>AGENTS.md</a:t>
            </a:r>
            <a:r>
              <a:rPr lang="en-US" dirty="0"/>
              <a:t> in the root – except Claude Code</a:t>
            </a:r>
          </a:p>
          <a:p>
            <a:pPr fontAlgn="base"/>
            <a:r>
              <a:rPr lang="en-US" dirty="0"/>
              <a:t>.</a:t>
            </a:r>
            <a:r>
              <a:rPr lang="en-US" dirty="0" err="1"/>
              <a:t>cursorrules</a:t>
            </a:r>
            <a:r>
              <a:rPr lang="en-US" dirty="0"/>
              <a:t>, .cursor/rules</a:t>
            </a:r>
          </a:p>
          <a:p>
            <a:pPr fontAlgn="base"/>
            <a:r>
              <a:rPr lang="en-US" dirty="0" err="1"/>
              <a:t>CLAUDE.md</a:t>
            </a:r>
            <a:endParaRPr lang="en-US" dirty="0"/>
          </a:p>
          <a:p>
            <a:pPr fontAlgn="base"/>
            <a:r>
              <a:rPr lang="en-US" dirty="0" err="1"/>
              <a:t>GEMINI.md</a:t>
            </a:r>
            <a:endParaRPr lang="en-US" dirty="0"/>
          </a:p>
          <a:p>
            <a:pPr fontAlgn="base"/>
            <a:r>
              <a:rPr lang="en-US" dirty="0"/>
              <a:t>.</a:t>
            </a:r>
            <a:r>
              <a:rPr lang="en-US" dirty="0" err="1"/>
              <a:t>github</a:t>
            </a:r>
            <a:r>
              <a:rPr lang="en-US" dirty="0"/>
              <a:t>/instructions/copilot-</a:t>
            </a:r>
            <a:r>
              <a:rPr lang="en-US" dirty="0" err="1"/>
              <a:t>instructions.md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FB286C0-75B0-5B28-FC89-E0CD1B391F6F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1A1DA7CE-F787-3B05-34B0-C0FE3EBAF684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5749FF17-A49C-1C8E-7F89-B73149CDF0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977388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614CD-B18C-F33C-F86C-01107939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xkcd: Standards">
            <a:extLst>
              <a:ext uri="{FF2B5EF4-FFF2-40B4-BE49-F238E27FC236}">
                <a16:creationId xmlns:a16="http://schemas.microsoft.com/office/drawing/2014/main" id="{6A6DFB54-FF9B-7F4B-2A06-DF67F16ED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3521" y="1015159"/>
            <a:ext cx="8529471" cy="4827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9482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7042A-9FA1-8692-C3A2-DEDDE5BD7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7B89-53B0-195D-B20F-72629F858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BBC064-A2EC-8714-F63E-31BF25D05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Rather than loading all those Instructions into context every time, what if we just did it selectively as needed?</a:t>
            </a:r>
          </a:p>
          <a:p>
            <a:pPr fontAlgn="base"/>
            <a:r>
              <a:rPr lang="en-US" dirty="0"/>
              <a:t>Also can be used to automate workflows</a:t>
            </a:r>
          </a:p>
          <a:p>
            <a:pPr fontAlgn="base"/>
            <a:r>
              <a:rPr lang="en-US" dirty="0"/>
              <a:t>.</a:t>
            </a:r>
            <a:r>
              <a:rPr lang="en-US" dirty="0" err="1"/>
              <a:t>github</a:t>
            </a:r>
            <a:r>
              <a:rPr lang="en-US" dirty="0"/>
              <a:t>/skills/&lt;skill name&gt;/</a:t>
            </a:r>
            <a:r>
              <a:rPr lang="en-US" dirty="0" err="1"/>
              <a:t>SKILL.md</a:t>
            </a:r>
            <a:endParaRPr lang="en-US" dirty="0"/>
          </a:p>
          <a:p>
            <a:pPr fontAlgn="base"/>
            <a:r>
              <a:rPr lang="en-US" dirty="0"/>
              <a:t>.</a:t>
            </a:r>
            <a:r>
              <a:rPr lang="en-US" dirty="0" err="1"/>
              <a:t>claude</a:t>
            </a:r>
            <a:r>
              <a:rPr lang="en-US" dirty="0"/>
              <a:t>/skills/&lt;skill name&gt;/</a:t>
            </a:r>
            <a:r>
              <a:rPr lang="en-US" dirty="0" err="1"/>
              <a:t>SKILL.md</a:t>
            </a:r>
            <a:endParaRPr lang="en-US" dirty="0"/>
          </a:p>
          <a:p>
            <a:pPr lvl="1" fontAlgn="base"/>
            <a:r>
              <a:rPr lang="en-US" dirty="0"/>
              <a:t>Recognized by Copilot too</a:t>
            </a:r>
          </a:p>
          <a:p>
            <a:pPr fontAlgn="base"/>
            <a:r>
              <a:rPr lang="en-US" dirty="0"/>
              <a:t>.agent/skills/&lt;skill name&gt;/</a:t>
            </a:r>
            <a:r>
              <a:rPr lang="en-US" dirty="0" err="1"/>
              <a:t>SKILL.md</a:t>
            </a:r>
            <a:endParaRPr lang="en-US" dirty="0"/>
          </a:p>
          <a:p>
            <a:pPr fontAlgn="base"/>
            <a:r>
              <a:rPr lang="en-US" dirty="0"/>
              <a:t>Just became a thing in October 2025</a:t>
            </a:r>
          </a:p>
          <a:p>
            <a:pPr fontAlgn="base"/>
            <a:r>
              <a:rPr lang="en-US" dirty="0">
                <a:hlinkClick r:id="rId3"/>
              </a:rPr>
              <a:t>https://github.com/anthropics/skills</a:t>
            </a:r>
            <a:r>
              <a:rPr lang="en-US" dirty="0"/>
              <a:t>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109E060-2F4A-BDBA-499B-1475DCDBEA36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2501D4EE-A90E-4C3C-B694-EC4C130A77C4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4FA9465D-0F97-DF10-F8A7-A67D65D88AE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87122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EB444-F72A-CB92-DFCD-C51845F48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F1897-E9EF-08A6-4CC7-7F9D09C6F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Skills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B7C17-342B-AFA0-A2AF-E41EACE94B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38" y="1690688"/>
            <a:ext cx="10392123" cy="4109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B8D820E6-AA59-15E4-C0BE-A6755BAC756A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E4F0C1B0-0484-A5A3-CDDA-3999D2EBA883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12" name="Picture 2" descr="X Logo, symbol, meaning, history, PNG, brand">
              <a:extLst>
                <a:ext uri="{FF2B5EF4-FFF2-40B4-BE49-F238E27FC236}">
                  <a16:creationId xmlns:a16="http://schemas.microsoft.com/office/drawing/2014/main" id="{3AB67E2A-8F61-1F62-6BE3-F75826F8C9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041251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05AB-18DA-F55E-A12E-7358EFA73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D9DE-7272-7779-8C92-5DB602B01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Skills vs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967-7ADF-B455-D82D-5EC1F94BA6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Both automate tasks or workflows</a:t>
            </a:r>
          </a:p>
          <a:p>
            <a:pPr fontAlgn="base"/>
            <a:r>
              <a:rPr lang="en-US" dirty="0"/>
              <a:t>Commands can only be invoked by a user by /command-name</a:t>
            </a:r>
          </a:p>
          <a:p>
            <a:pPr fontAlgn="base"/>
            <a:r>
              <a:rPr lang="en-US" dirty="0"/>
              <a:t>Skills can be invoked by a user (by /skill-name) </a:t>
            </a:r>
            <a:r>
              <a:rPr lang="en-US" b="1" dirty="0"/>
              <a:t>or an agent </a:t>
            </a:r>
          </a:p>
          <a:p>
            <a:pPr fontAlgn="base"/>
            <a:r>
              <a:rPr lang="en-US" dirty="0"/>
              <a:t>In general – prefer Skills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F8A7F93-6B22-67B5-9DE9-C28823FB0178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AC3E17E2-9342-4AF3-40CC-1399F8D7CAC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5F34C27D-DBA4-6005-6D98-2F99C9024D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82932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0096-9ED6-753B-5AE9-A8A1B6E8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03280-AE25-B8DC-8B66-D2B0F257A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Skills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433EF4-500C-EF51-0888-205E7E2908B7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A320DA3E-3E9D-33F4-E915-7ACBF3661C23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D96EA2A0-0531-D941-CF8D-0FC694E1B9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22295C8-BA30-BB9E-0DCE-BC65D68B8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817" y="3054946"/>
            <a:ext cx="10348366" cy="306758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AE57DD-0594-4542-08A8-23788CFF0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/grill-me &lt;abc-123&gt;</a:t>
            </a:r>
          </a:p>
          <a:p>
            <a:pPr fontAlgn="base"/>
            <a:r>
              <a:rPr lang="en-US" dirty="0"/>
              <a:t>/grill-me Add a button to this page </a:t>
            </a:r>
          </a:p>
        </p:txBody>
      </p:sp>
    </p:spTree>
    <p:extLst>
      <p:ext uri="{BB962C8B-B14F-4D97-AF65-F5344CB8AC3E}">
        <p14:creationId xmlns:p14="http://schemas.microsoft.com/office/powerpoint/2010/main" val="192581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885B2-5E12-CA3B-5571-45A1B473B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03931-9A5B-DA7C-745A-766E5D46C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Starter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7D654-F651-A9F7-B23C-E27C05397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pPr fontAlgn="base"/>
            <a:r>
              <a:rPr lang="en-US" dirty="0"/>
              <a:t>👨 Switch to Plan Mode</a:t>
            </a:r>
          </a:p>
          <a:p>
            <a:pPr fontAlgn="base"/>
            <a:r>
              <a:rPr lang="en-US" dirty="0"/>
              <a:t>👨 /grill-me &lt;Jira ID or Task&gt;</a:t>
            </a:r>
          </a:p>
          <a:p>
            <a:pPr fontAlgn="base"/>
            <a:r>
              <a:rPr lang="en-US" dirty="0"/>
              <a:t>👨 Answer any questions</a:t>
            </a:r>
          </a:p>
          <a:p>
            <a:pPr fontAlgn="base"/>
            <a:r>
              <a:rPr lang="en-US" dirty="0"/>
              <a:t>👨 Review and Approve AI generated Plan</a:t>
            </a:r>
          </a:p>
          <a:p>
            <a:pPr fontAlgn="base"/>
            <a:r>
              <a:rPr lang="en-US" dirty="0"/>
              <a:t>🤖 AI executes the code</a:t>
            </a:r>
          </a:p>
          <a:p>
            <a:pPr fontAlgn="base"/>
            <a:r>
              <a:rPr lang="en-US" dirty="0"/>
              <a:t>👨 Reviews what it did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67380C3-B74D-4A57-A476-9FF814F29B16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8E6D27A0-B235-C57F-B7D6-EEF99C35671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48D3D551-3018-49CD-314A-3F8FC6C988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46946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A8535-E5C8-D591-3F01-490509F0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AB21B-886E-DA15-1964-B90220373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5341088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20EF0-57C7-2430-D06B-177623633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39A37-EBC7-6A42-022F-98577F55D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Introducing /ship-it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FA429-A9D4-6958-EAB4-F288BC6D5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75657"/>
            <a:ext cx="10515600" cy="5682343"/>
          </a:xfrm>
        </p:spPr>
        <p:txBody>
          <a:bodyPr>
            <a:normAutofit fontScale="62500" lnSpcReduction="20000"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👨 /grill-me on a GH issue, Jira issue, or just free text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👨 Approve plan and go on auto/autopilot mode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🤖 Create a new </a:t>
            </a:r>
            <a:r>
              <a:rPr lang="en-US" dirty="0" err="1"/>
              <a:t>worktree</a:t>
            </a:r>
            <a:endParaRPr lang="en-US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🤖 Implement the plan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🤖 Run the verify script </a:t>
            </a:r>
            <a:r>
              <a:rPr lang="en-US" dirty="0" err="1"/>
              <a:t>til</a:t>
            </a:r>
            <a:r>
              <a:rPr lang="en-US" dirty="0"/>
              <a:t> it passes (formatting, linting, tests,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🤖 Run /code-review and fix anything you have a lot of confidence in. If it's a code style, back it up with reduced cyclomatic complexity or another metric that proves the code is better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❓👨 Present anything you're unsure about for approval (rare maybe 2% of the time)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🤖 Run /security-review and fix anything you have a lot of confidence in. If you're unsure then write a test to prove there's an issue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❓👨 Present anything you're unsure about for approval (rare maybe 1% of the time)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🤖 Open a Draft PR in my particular format using the /concise-pr skill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🤖 Watch CI and fix any build errors. If a test is flaky, root cause and fix it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🤖 Watch for the Copilot Code Review and fix any comments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❓👨 Present any comments you're unsure about for my review (uncommon, maybe 25% of the time).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🤖 Notify me when PR is green with no comments and ready for me to review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🤖 Mark PR ready for review (move out of Draft)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👨 Approve or request changes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719F6DE-D9FC-E4B6-926A-D445413CC338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D67EFE74-2485-425C-373C-24E579E04306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ACFC2589-6DBE-9119-536A-4650D992A7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C41745-ECB8-C6DB-3F5B-E31ED121BE9E}"/>
              </a:ext>
            </a:extLst>
          </p:cNvPr>
          <p:cNvSpPr txBox="1"/>
          <p:nvPr/>
        </p:nvSpPr>
        <p:spPr>
          <a:xfrm>
            <a:off x="7517081" y="-7956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770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C7560-2C3E-09B6-7DBF-B2A422AAC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529DB-398A-8B2C-BD73-2BD3F5273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6909"/>
            <a:ext cx="12192000" cy="6103073"/>
          </a:xfrm>
        </p:spPr>
        <p:txBody>
          <a:bodyPr anchor="ctr">
            <a:norm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5542221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05FD2-1DB6-E4FF-905A-01549C76E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1095F-11AA-282A-499F-F0BCCD8CA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Top 10 AI Tips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A9BE7-CE57-FE4D-91A0-494B7A690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Give AI a way to validate itself - compile, tests, format, lint, acceptance criteria, code quality, </a:t>
            </a:r>
            <a:r>
              <a:rPr lang="en-US" dirty="0" err="1"/>
              <a:t>etc</a:t>
            </a:r>
            <a:endParaRPr lang="en-US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Get good with the CLI first then graduate up (Copilot App is the best desktop UI imo)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Start with Plan Mode by default - graduate out of it when you feel comfortable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Auto Mode via `</a:t>
            </a:r>
            <a:r>
              <a:rPr lang="en-US" dirty="0" err="1"/>
              <a:t>claude</a:t>
            </a:r>
            <a:r>
              <a:rPr lang="en-US" dirty="0"/>
              <a:t> –enable-auto-mode` or autopilot in Copilot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Skills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CLIs over MCP servers - GitHub, Atlassian, Azure, </a:t>
            </a:r>
            <a:r>
              <a:rPr lang="en-US" dirty="0" err="1"/>
              <a:t>etc</a:t>
            </a:r>
            <a:endParaRPr lang="en-US" dirty="0"/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Be aggressive clearing context, &lt;200K tokens is the Smart Zone… &gt;200K is the Dumb Zone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Use AI to do code reviews - in GitHub and locally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Keep your </a:t>
            </a:r>
            <a:r>
              <a:rPr lang="en-US" dirty="0" err="1"/>
              <a:t>AGENTS.md</a:t>
            </a:r>
            <a:r>
              <a:rPr lang="en-US" dirty="0"/>
              <a:t> lean - cross cutting things, how to verify your app, not your code structure, delegate specific concerns to Skills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dirty="0"/>
              <a:t>Keep an 👀 on AI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68E8450-C4EE-B3B1-ABC8-6BB62C0493F0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8CC4F737-B24A-8102-B965-38D04D3433BC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2025052B-A07D-7E07-8D2A-177237580B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35967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546A-27EC-A0B0-0FA0-72B0E5856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BFB7-55C8-D751-FD2E-7318AD4D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How do I stay up to date?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AE92F-3233-7F54-4FD7-5BFC480EC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49836"/>
          </a:xfrm>
        </p:spPr>
        <p:txBody>
          <a:bodyPr>
            <a:normAutofit/>
          </a:bodyPr>
          <a:lstStyle/>
          <a:p>
            <a:r>
              <a:rPr lang="en-US" dirty="0"/>
              <a:t>Follow people on Twitter / LinkedIn</a:t>
            </a:r>
          </a:p>
          <a:p>
            <a:r>
              <a:rPr lang="en-US" dirty="0"/>
              <a:t>@</a:t>
            </a:r>
            <a:r>
              <a:rPr lang="en-US" dirty="0" err="1"/>
              <a:t>bcherny</a:t>
            </a:r>
            <a:r>
              <a:rPr lang="en-US" dirty="0"/>
              <a:t> – Boris Cherny who created Claude Code</a:t>
            </a:r>
          </a:p>
          <a:p>
            <a:r>
              <a:rPr lang="en-US" dirty="0"/>
              <a:t>@</a:t>
            </a:r>
            <a:r>
              <a:rPr lang="en-US" dirty="0" err="1"/>
              <a:t>claudedevs</a:t>
            </a:r>
            <a:r>
              <a:rPr lang="en-US" dirty="0"/>
              <a:t> – Claude Code Devs</a:t>
            </a:r>
          </a:p>
          <a:p>
            <a:r>
              <a:rPr lang="en-US" dirty="0"/>
              <a:t>@_</a:t>
            </a:r>
            <a:r>
              <a:rPr lang="en-US" dirty="0" err="1"/>
              <a:t>evan_boyle</a:t>
            </a:r>
            <a:r>
              <a:rPr lang="en-US" dirty="0"/>
              <a:t> – Evan Boyle, Copilot</a:t>
            </a:r>
          </a:p>
          <a:p>
            <a:r>
              <a:rPr lang="en-US" dirty="0"/>
              <a:t>@</a:t>
            </a:r>
            <a:r>
              <a:rPr lang="en-US" dirty="0" err="1"/>
              <a:t>leeerob</a:t>
            </a:r>
            <a:r>
              <a:rPr lang="en-US" dirty="0"/>
              <a:t> – Lee Robinson, Cursor</a:t>
            </a:r>
          </a:p>
          <a:p>
            <a:r>
              <a:rPr lang="en-US" dirty="0"/>
              <a:t>@code – VS Code </a:t>
            </a:r>
          </a:p>
          <a:p>
            <a:r>
              <a:rPr lang="en-US" dirty="0"/>
              <a:t>@</a:t>
            </a:r>
            <a:r>
              <a:rPr lang="en-US" dirty="0" err="1"/>
              <a:t>housecor</a:t>
            </a:r>
            <a:r>
              <a:rPr lang="en-US" dirty="0"/>
              <a:t> – Cory House, consultant</a:t>
            </a:r>
          </a:p>
          <a:p>
            <a:r>
              <a:rPr lang="en-US" dirty="0"/>
              <a:t>@</a:t>
            </a:r>
            <a:r>
              <a:rPr lang="en-US" dirty="0" err="1"/>
              <a:t>scottsauber</a:t>
            </a:r>
            <a:r>
              <a:rPr lang="en-US" dirty="0"/>
              <a:t> – a humble peasant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9CBE846-3FD6-FF79-EB23-01FC177CF558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8" name="Subtitle 2">
              <a:extLst>
                <a:ext uri="{FF2B5EF4-FFF2-40B4-BE49-F238E27FC236}">
                  <a16:creationId xmlns:a16="http://schemas.microsoft.com/office/drawing/2014/main" id="{9A4A55C2-5545-8F2B-5529-72D4F40633F0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" name="Picture 2" descr="X Logo, symbol, meaning, history, PNG, brand">
              <a:extLst>
                <a:ext uri="{FF2B5EF4-FFF2-40B4-BE49-F238E27FC236}">
                  <a16:creationId xmlns:a16="http://schemas.microsoft.com/office/drawing/2014/main" id="{094C320C-28CE-A805-2B47-B250130875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6616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A6A6A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3B7DF-1AE0-27F8-E7B7-BADB7D4EE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2584B-8A71-1A27-F7CF-D15042EA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7955-F0F2-9135-F362-F556F92E7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3876" cy="4779637"/>
          </a:xfrm>
        </p:spPr>
        <p:txBody>
          <a:bodyPr>
            <a:normAutofit/>
          </a:bodyPr>
          <a:lstStyle/>
          <a:p>
            <a:r>
              <a:rPr lang="en-US" dirty="0"/>
              <a:t>Ideas on where AI is and where it’s going</a:t>
            </a:r>
          </a:p>
          <a:p>
            <a:r>
              <a:rPr lang="en-US" dirty="0"/>
              <a:t>Ideas you can start using literally today</a:t>
            </a:r>
          </a:p>
          <a:p>
            <a:r>
              <a:rPr lang="en-US" dirty="0"/>
              <a:t>Now’s the time to jump in, because the productivity is real</a:t>
            </a:r>
          </a:p>
          <a:p>
            <a:r>
              <a:rPr lang="en-US" dirty="0"/>
              <a:t>“Change has never been this fast but will never be this slow again.”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390777D-C655-E71D-26C9-FC7BDE93D58A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3A957ECD-A957-C7BD-609D-C2D7F1D21407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7" name="Picture 2" descr="X Logo, symbol, meaning, history, PNG, brand">
              <a:extLst>
                <a:ext uri="{FF2B5EF4-FFF2-40B4-BE49-F238E27FC236}">
                  <a16:creationId xmlns:a16="http://schemas.microsoft.com/office/drawing/2014/main" id="{C32C33A2-0D19-51D8-5D15-E3AFC470E0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42222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B2B2B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40787-CAA1-20F6-DCDA-72E45C7FA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D63C-A0F2-A611-1B3D-9FCBE5BD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99262-8A14-8819-2427-515E343E5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63876" cy="4779637"/>
          </a:xfrm>
        </p:spPr>
        <p:txBody>
          <a:bodyPr>
            <a:normAutofit/>
          </a:bodyPr>
          <a:lstStyle/>
          <a:p>
            <a:r>
              <a:rPr lang="en-US" dirty="0"/>
              <a:t>This slide deck at </a:t>
            </a:r>
            <a:r>
              <a:rPr lang="en-US" dirty="0">
                <a:hlinkClick r:id="rId3"/>
              </a:rPr>
              <a:t>https://scottsauber.com</a:t>
            </a:r>
            <a:r>
              <a:rPr lang="en-US" dirty="0"/>
              <a:t> </a:t>
            </a:r>
          </a:p>
          <a:p>
            <a:r>
              <a:rPr lang="en-US" dirty="0"/>
              <a:t>If you’re interested in us 2x-ing your speed and uplifting your quality with AI Agents – talk to me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D5F990-413B-E6B6-5AB3-FCCF1211991B}"/>
              </a:ext>
            </a:extLst>
          </p:cNvPr>
          <p:cNvGrpSpPr/>
          <p:nvPr/>
        </p:nvGrpSpPr>
        <p:grpSpPr>
          <a:xfrm>
            <a:off x="9794296" y="6185410"/>
            <a:ext cx="2307079" cy="474323"/>
            <a:chOff x="9794296" y="6185410"/>
            <a:chExt cx="2307079" cy="474323"/>
          </a:xfrm>
        </p:grpSpPr>
        <p:sp>
          <p:nvSpPr>
            <p:cNvPr id="5" name="Subtitle 2">
              <a:extLst>
                <a:ext uri="{FF2B5EF4-FFF2-40B4-BE49-F238E27FC236}">
                  <a16:creationId xmlns:a16="http://schemas.microsoft.com/office/drawing/2014/main" id="{4BA38CF6-6BDB-C02A-B669-820F9DBBFB0D}"/>
                </a:ext>
              </a:extLst>
            </p:cNvPr>
            <p:cNvSpPr txBox="1">
              <a:spLocks/>
            </p:cNvSpPr>
            <p:nvPr/>
          </p:nvSpPr>
          <p:spPr>
            <a:xfrm>
              <a:off x="10041147" y="6185410"/>
              <a:ext cx="2060228" cy="4743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>
                  <a:solidFill>
                    <a:schemeClr val="bg1">
                      <a:lumMod val="65000"/>
                    </a:schemeClr>
                  </a:solidFill>
                </a:rPr>
                <a:t>@</a:t>
              </a:r>
              <a:r>
                <a:rPr lang="en-US" dirty="0" err="1">
                  <a:solidFill>
                    <a:schemeClr val="bg1">
                      <a:lumMod val="65000"/>
                    </a:schemeClr>
                  </a:solidFill>
                </a:rPr>
                <a:t>scottsauber</a:t>
              </a:r>
              <a:endParaRPr lang="en-US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7" name="Picture 2" descr="X Logo, symbol, meaning, history, PNG, brand">
              <a:extLst>
                <a:ext uri="{FF2B5EF4-FFF2-40B4-BE49-F238E27FC236}">
                  <a16:creationId xmlns:a16="http://schemas.microsoft.com/office/drawing/2014/main" id="{135CE0F9-A50A-D9AD-A835-C7EB85318F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4296" y="6234874"/>
              <a:ext cx="493701" cy="277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779284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61254-86DC-4239-85AC-F87EEB565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7511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n-lt"/>
              </a:rPr>
              <a:t>Questions?</a:t>
            </a:r>
            <a:br>
              <a:rPr lang="en-US" sz="7200" dirty="0">
                <a:solidFill>
                  <a:schemeClr val="bg1"/>
                </a:solidFill>
                <a:latin typeface="+mn-lt"/>
              </a:rPr>
            </a:br>
            <a:r>
              <a:rPr lang="en-US" sz="2400" dirty="0">
                <a:solidFill>
                  <a:schemeClr val="bg1"/>
                </a:solidFill>
                <a:latin typeface="+mn-lt"/>
              </a:rPr>
              <a:t>ssauber@leantechniques.com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97882A2-4820-4881-9C23-D09EE5DE1AF4}"/>
              </a:ext>
            </a:extLst>
          </p:cNvPr>
          <p:cNvSpPr txBox="1">
            <a:spLocks/>
          </p:cNvSpPr>
          <p:nvPr/>
        </p:nvSpPr>
        <p:spPr>
          <a:xfrm>
            <a:off x="90625" y="3418380"/>
            <a:ext cx="12192000" cy="337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4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7142A0-7D55-44AD-E129-1BB9F7B444D3}"/>
              </a:ext>
            </a:extLst>
          </p:cNvPr>
          <p:cNvSpPr txBox="1"/>
          <p:nvPr/>
        </p:nvSpPr>
        <p:spPr>
          <a:xfrm>
            <a:off x="9757202" y="2006898"/>
            <a:ext cx="2278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Add me on LinkedIn: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AEDCF79-6369-3312-C72B-E492C2FFC565}"/>
              </a:ext>
            </a:extLst>
          </p:cNvPr>
          <p:cNvSpPr txBox="1">
            <a:spLocks/>
          </p:cNvSpPr>
          <p:nvPr/>
        </p:nvSpPr>
        <p:spPr>
          <a:xfrm>
            <a:off x="9556546" y="5773504"/>
            <a:ext cx="2060228" cy="474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@scottsauber</a:t>
            </a:r>
          </a:p>
        </p:txBody>
      </p:sp>
      <p:pic>
        <p:nvPicPr>
          <p:cNvPr id="1026" name="Picture 2" descr="X Logo, symbol, meaning, history, PNG, brand">
            <a:extLst>
              <a:ext uri="{FF2B5EF4-FFF2-40B4-BE49-F238E27FC236}">
                <a16:creationId xmlns:a16="http://schemas.microsoft.com/office/drawing/2014/main" id="{F43D63E0-A688-C307-CCD2-BB6EF2506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717" y="5871813"/>
            <a:ext cx="493701" cy="27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luesky and your brand by Heidi Waterhouse">
            <a:extLst>
              <a:ext uri="{FF2B5EF4-FFF2-40B4-BE49-F238E27FC236}">
                <a16:creationId xmlns:a16="http://schemas.microsoft.com/office/drawing/2014/main" id="{1CC8890B-0833-1285-D911-117258AB3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6717" y="6313125"/>
            <a:ext cx="474323" cy="474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17DCEF15-AD0C-D5B5-B282-2784AFF9A20C}"/>
              </a:ext>
            </a:extLst>
          </p:cNvPr>
          <p:cNvSpPr txBox="1">
            <a:spLocks/>
          </p:cNvSpPr>
          <p:nvPr/>
        </p:nvSpPr>
        <p:spPr>
          <a:xfrm>
            <a:off x="9497554" y="6315097"/>
            <a:ext cx="2785071" cy="4743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@scottsauber.com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C1733D-8170-432C-81DC-7929E97F06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444" y="2403682"/>
            <a:ext cx="1950396" cy="195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887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69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D1A51A-875B-E07C-ABD9-AE99D9ED3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3368D-36C4-F85D-3772-FC6A8D968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64204"/>
            <a:ext cx="10515600" cy="5828432"/>
          </a:xfrm>
        </p:spPr>
        <p:txBody>
          <a:bodyPr>
            <a:norm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+mn-lt"/>
              </a:rPr>
              <a:t>Thanks!</a:t>
            </a:r>
            <a:br>
              <a:rPr lang="en-US" sz="7200" dirty="0">
                <a:solidFill>
                  <a:schemeClr val="bg1"/>
                </a:solidFill>
                <a:latin typeface="+mn-lt"/>
              </a:rPr>
            </a:br>
            <a:endParaRPr lang="en-US" sz="24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DCEFC7E-CC47-1B39-C15E-FB0E16973278}"/>
              </a:ext>
            </a:extLst>
          </p:cNvPr>
          <p:cNvSpPr txBox="1">
            <a:spLocks/>
          </p:cNvSpPr>
          <p:nvPr/>
        </p:nvSpPr>
        <p:spPr>
          <a:xfrm>
            <a:off x="90625" y="3418380"/>
            <a:ext cx="12192000" cy="3371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sz="4000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Slides at scottsauber.com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782246-6BA0-EDDE-DCF2-CF6EC464F74C}"/>
              </a:ext>
            </a:extLst>
          </p:cNvPr>
          <p:cNvSpPr txBox="1"/>
          <p:nvPr/>
        </p:nvSpPr>
        <p:spPr>
          <a:xfrm>
            <a:off x="9757202" y="2006898"/>
            <a:ext cx="2278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Add me on LinkedIn: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5A39A9-773B-FF19-A0F2-21293EE740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1444" y="2403682"/>
            <a:ext cx="1950396" cy="195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629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59104</TotalTime>
  <Words>1724</Words>
  <Application>Microsoft Macintosh PowerPoint</Application>
  <PresentationFormat>Widescreen</PresentationFormat>
  <Paragraphs>282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Open Sans</vt:lpstr>
      <vt:lpstr>Office Theme</vt:lpstr>
      <vt:lpstr>Practical AI Productivity Tips For The Too Busy Developer</vt:lpstr>
      <vt:lpstr>Audience</vt:lpstr>
      <vt:lpstr>Poll</vt:lpstr>
      <vt:lpstr>Poll</vt:lpstr>
      <vt:lpstr>Agenda</vt:lpstr>
      <vt:lpstr>Goals</vt:lpstr>
      <vt:lpstr>Who am I? </vt:lpstr>
      <vt:lpstr>Am I going to be  out of a job?</vt:lpstr>
      <vt:lpstr>History Lesson (2000s – Present)</vt:lpstr>
      <vt:lpstr>Which ones are still relevant in an AI-dominated world?</vt:lpstr>
      <vt:lpstr>History Lesson (2000s – Present)</vt:lpstr>
      <vt:lpstr>The Fundamentals Remain The Same</vt:lpstr>
      <vt:lpstr>Jevon’s Paradox</vt:lpstr>
      <vt:lpstr>“SaaS is Dead.”   - Satya Nadella, Microsoft CEO</vt:lpstr>
      <vt:lpstr>These tools are the worst they will ever be today.</vt:lpstr>
      <vt:lpstr>Alright let’s talk  AI Tools</vt:lpstr>
      <vt:lpstr>AI is an Amplifier</vt:lpstr>
      <vt:lpstr>Agent Ready Assessment</vt:lpstr>
      <vt:lpstr>Agent Ready Assessment</vt:lpstr>
      <vt:lpstr>Where I’m at today</vt:lpstr>
      <vt:lpstr>Large Language Models</vt:lpstr>
      <vt:lpstr>Context</vt:lpstr>
      <vt:lpstr>AI Dev Tools</vt:lpstr>
      <vt:lpstr>Instructions</vt:lpstr>
      <vt:lpstr>PowerPoint Presentation</vt:lpstr>
      <vt:lpstr>Instructions Everywhere</vt:lpstr>
      <vt:lpstr>PowerPoint Presentation</vt:lpstr>
      <vt:lpstr>Skills</vt:lpstr>
      <vt:lpstr>Skills</vt:lpstr>
      <vt:lpstr>Skills vs Commands</vt:lpstr>
      <vt:lpstr>Skills</vt:lpstr>
      <vt:lpstr>Starter Workflow</vt:lpstr>
      <vt:lpstr>Demo</vt:lpstr>
      <vt:lpstr>Introducing /ship-it</vt:lpstr>
      <vt:lpstr>Demo</vt:lpstr>
      <vt:lpstr>Top 10 AI Tips Today</vt:lpstr>
      <vt:lpstr>How do I stay up to date?</vt:lpstr>
      <vt:lpstr>Takeaways</vt:lpstr>
      <vt:lpstr>Resources</vt:lpstr>
      <vt:lpstr>Questions? ssauber@leantechniques.com</vt:lpstr>
      <vt:lpstr>Thanks!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Youre Doing Agile Right but agile wrong</dc:title>
  <dc:creator>Scott Sauber</dc:creator>
  <cp:lastModifiedBy>Scott Sauber</cp:lastModifiedBy>
  <cp:revision>810</cp:revision>
  <dcterms:created xsi:type="dcterms:W3CDTF">2020-03-08T20:31:35Z</dcterms:created>
  <dcterms:modified xsi:type="dcterms:W3CDTF">2026-07-08T17:00:33Z</dcterms:modified>
</cp:coreProperties>
</file>