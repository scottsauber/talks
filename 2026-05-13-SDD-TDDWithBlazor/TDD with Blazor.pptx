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54"/>
  </p:notesMasterIdLst>
  <p:sldIdLst>
    <p:sldId id="257" r:id="rId2"/>
    <p:sldId id="285" r:id="rId3"/>
    <p:sldId id="326" r:id="rId4"/>
    <p:sldId id="369" r:id="rId5"/>
    <p:sldId id="530" r:id="rId6"/>
    <p:sldId id="372" r:id="rId7"/>
    <p:sldId id="375" r:id="rId8"/>
    <p:sldId id="411" r:id="rId9"/>
    <p:sldId id="410" r:id="rId10"/>
    <p:sldId id="330" r:id="rId11"/>
    <p:sldId id="513" r:id="rId12"/>
    <p:sldId id="376" r:id="rId13"/>
    <p:sldId id="511" r:id="rId14"/>
    <p:sldId id="394" r:id="rId15"/>
    <p:sldId id="381" r:id="rId16"/>
    <p:sldId id="396" r:id="rId17"/>
    <p:sldId id="384" r:id="rId18"/>
    <p:sldId id="405" r:id="rId19"/>
    <p:sldId id="403" r:id="rId20"/>
    <p:sldId id="409" r:id="rId21"/>
    <p:sldId id="404" r:id="rId22"/>
    <p:sldId id="387" r:id="rId23"/>
    <p:sldId id="406" r:id="rId24"/>
    <p:sldId id="407" r:id="rId25"/>
    <p:sldId id="408" r:id="rId26"/>
    <p:sldId id="514" r:id="rId27"/>
    <p:sldId id="377" r:id="rId28"/>
    <p:sldId id="398" r:id="rId29"/>
    <p:sldId id="402" r:id="rId30"/>
    <p:sldId id="391" r:id="rId31"/>
    <p:sldId id="526" r:id="rId32"/>
    <p:sldId id="520" r:id="rId33"/>
    <p:sldId id="516" r:id="rId34"/>
    <p:sldId id="522" r:id="rId35"/>
    <p:sldId id="523" r:id="rId36"/>
    <p:sldId id="524" r:id="rId37"/>
    <p:sldId id="525" r:id="rId38"/>
    <p:sldId id="529" r:id="rId39"/>
    <p:sldId id="399" r:id="rId40"/>
    <p:sldId id="528" r:id="rId41"/>
    <p:sldId id="531" r:id="rId42"/>
    <p:sldId id="532" r:id="rId43"/>
    <p:sldId id="379" r:id="rId44"/>
    <p:sldId id="380" r:id="rId45"/>
    <p:sldId id="338" r:id="rId46"/>
    <p:sldId id="392" r:id="rId47"/>
    <p:sldId id="378" r:id="rId48"/>
    <p:sldId id="395" r:id="rId49"/>
    <p:sldId id="368" r:id="rId50"/>
    <p:sldId id="336" r:id="rId51"/>
    <p:sldId id="400" r:id="rId52"/>
    <p:sldId id="621"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69B6"/>
    <a:srgbClr val="5C2D91"/>
    <a:srgbClr val="2E97EE"/>
    <a:srgbClr val="0951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97" autoAdjust="0"/>
    <p:restoredTop sz="83946" autoAdjust="0"/>
  </p:normalViewPr>
  <p:slideViewPr>
    <p:cSldViewPr snapToGrid="0">
      <p:cViewPr varScale="1">
        <p:scale>
          <a:sx n="92" d="100"/>
          <a:sy n="92" d="100"/>
        </p:scale>
        <p:origin x="632"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BF47D1-607F-45EE-AE63-C10CF3AC8DD9}" type="datetimeFigureOut">
              <a:rPr lang="en-US" smtClean="0"/>
              <a:t>5/9/26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074461-D808-4EBD-B8B3-953FBFCC6ED3}" type="slidenum">
              <a:rPr lang="en-US" smtClean="0"/>
              <a:t>‹#›</a:t>
            </a:fld>
            <a:endParaRPr lang="en-US"/>
          </a:p>
        </p:txBody>
      </p:sp>
    </p:spTree>
    <p:extLst>
      <p:ext uri="{BB962C8B-B14F-4D97-AF65-F5344CB8AC3E}">
        <p14:creationId xmlns:p14="http://schemas.microsoft.com/office/powerpoint/2010/main" val="25389712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1</a:t>
            </a:fld>
            <a:endParaRPr lang="en-US"/>
          </a:p>
        </p:txBody>
      </p:sp>
    </p:spTree>
    <p:extLst>
      <p:ext uri="{BB962C8B-B14F-4D97-AF65-F5344CB8AC3E}">
        <p14:creationId xmlns:p14="http://schemas.microsoft.com/office/powerpoint/2010/main" val="3690817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a:t>
            </a:fld>
            <a:endParaRPr lang="en-US"/>
          </a:p>
        </p:txBody>
      </p:sp>
    </p:spTree>
    <p:extLst>
      <p:ext uri="{BB962C8B-B14F-4D97-AF65-F5344CB8AC3E}">
        <p14:creationId xmlns:p14="http://schemas.microsoft.com/office/powerpoint/2010/main" val="6365822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a:t>
            </a:fld>
            <a:endParaRPr lang="en-US"/>
          </a:p>
        </p:txBody>
      </p:sp>
    </p:spTree>
    <p:extLst>
      <p:ext uri="{BB962C8B-B14F-4D97-AF65-F5344CB8AC3E}">
        <p14:creationId xmlns:p14="http://schemas.microsoft.com/office/powerpoint/2010/main" val="3686764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4</a:t>
            </a:fld>
            <a:endParaRPr lang="en-US"/>
          </a:p>
        </p:txBody>
      </p:sp>
    </p:spTree>
    <p:extLst>
      <p:ext uri="{BB962C8B-B14F-4D97-AF65-F5344CB8AC3E}">
        <p14:creationId xmlns:p14="http://schemas.microsoft.com/office/powerpoint/2010/main" val="1627053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5</a:t>
            </a:fld>
            <a:endParaRPr lang="en-US"/>
          </a:p>
        </p:txBody>
      </p:sp>
    </p:spTree>
    <p:extLst>
      <p:ext uri="{BB962C8B-B14F-4D97-AF65-F5344CB8AC3E}">
        <p14:creationId xmlns:p14="http://schemas.microsoft.com/office/powerpoint/2010/main" val="18417374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6</a:t>
            </a:fld>
            <a:endParaRPr lang="en-US"/>
          </a:p>
        </p:txBody>
      </p:sp>
    </p:spTree>
    <p:extLst>
      <p:ext uri="{BB962C8B-B14F-4D97-AF65-F5344CB8AC3E}">
        <p14:creationId xmlns:p14="http://schemas.microsoft.com/office/powerpoint/2010/main" val="1666020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7</a:t>
            </a:fld>
            <a:endParaRPr lang="en-US"/>
          </a:p>
        </p:txBody>
      </p:sp>
    </p:spTree>
    <p:extLst>
      <p:ext uri="{BB962C8B-B14F-4D97-AF65-F5344CB8AC3E}">
        <p14:creationId xmlns:p14="http://schemas.microsoft.com/office/powerpoint/2010/main" val="10934519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8</a:t>
            </a:fld>
            <a:endParaRPr lang="en-US"/>
          </a:p>
        </p:txBody>
      </p:sp>
    </p:spTree>
    <p:extLst>
      <p:ext uri="{BB962C8B-B14F-4D97-AF65-F5344CB8AC3E}">
        <p14:creationId xmlns:p14="http://schemas.microsoft.com/office/powerpoint/2010/main" val="17992119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9</a:t>
            </a:fld>
            <a:endParaRPr lang="en-US"/>
          </a:p>
        </p:txBody>
      </p:sp>
    </p:spTree>
    <p:extLst>
      <p:ext uri="{BB962C8B-B14F-4D97-AF65-F5344CB8AC3E}">
        <p14:creationId xmlns:p14="http://schemas.microsoft.com/office/powerpoint/2010/main" val="42361196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10</a:t>
            </a:fld>
            <a:endParaRPr lang="en-US"/>
          </a:p>
        </p:txBody>
      </p:sp>
    </p:spTree>
    <p:extLst>
      <p:ext uri="{BB962C8B-B14F-4D97-AF65-F5344CB8AC3E}">
        <p14:creationId xmlns:p14="http://schemas.microsoft.com/office/powerpoint/2010/main" val="22061073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11</a:t>
            </a:fld>
            <a:endParaRPr lang="en-US"/>
          </a:p>
        </p:txBody>
      </p:sp>
    </p:spTree>
    <p:extLst>
      <p:ext uri="{BB962C8B-B14F-4D97-AF65-F5344CB8AC3E}">
        <p14:creationId xmlns:p14="http://schemas.microsoft.com/office/powerpoint/2010/main" val="21120645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12</a:t>
            </a:fld>
            <a:endParaRPr lang="en-US"/>
          </a:p>
        </p:txBody>
      </p:sp>
    </p:spTree>
    <p:extLst>
      <p:ext uri="{BB962C8B-B14F-4D97-AF65-F5344CB8AC3E}">
        <p14:creationId xmlns:p14="http://schemas.microsoft.com/office/powerpoint/2010/main" val="39731582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13</a:t>
            </a:fld>
            <a:endParaRPr lang="en-US"/>
          </a:p>
        </p:txBody>
      </p:sp>
    </p:spTree>
    <p:extLst>
      <p:ext uri="{BB962C8B-B14F-4D97-AF65-F5344CB8AC3E}">
        <p14:creationId xmlns:p14="http://schemas.microsoft.com/office/powerpoint/2010/main" val="40530131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14</a:t>
            </a:fld>
            <a:endParaRPr lang="en-US"/>
          </a:p>
        </p:txBody>
      </p:sp>
    </p:spTree>
    <p:extLst>
      <p:ext uri="{BB962C8B-B14F-4D97-AF65-F5344CB8AC3E}">
        <p14:creationId xmlns:p14="http://schemas.microsoft.com/office/powerpoint/2010/main" val="38653442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15</a:t>
            </a:fld>
            <a:endParaRPr lang="en-US"/>
          </a:p>
        </p:txBody>
      </p:sp>
    </p:spTree>
    <p:extLst>
      <p:ext uri="{BB962C8B-B14F-4D97-AF65-F5344CB8AC3E}">
        <p14:creationId xmlns:p14="http://schemas.microsoft.com/office/powerpoint/2010/main" val="8876759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16</a:t>
            </a:fld>
            <a:endParaRPr lang="en-US"/>
          </a:p>
        </p:txBody>
      </p:sp>
    </p:spTree>
    <p:extLst>
      <p:ext uri="{BB962C8B-B14F-4D97-AF65-F5344CB8AC3E}">
        <p14:creationId xmlns:p14="http://schemas.microsoft.com/office/powerpoint/2010/main" val="25052059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17</a:t>
            </a:fld>
            <a:endParaRPr lang="en-US"/>
          </a:p>
        </p:txBody>
      </p:sp>
    </p:spTree>
    <p:extLst>
      <p:ext uri="{BB962C8B-B14F-4D97-AF65-F5344CB8AC3E}">
        <p14:creationId xmlns:p14="http://schemas.microsoft.com/office/powerpoint/2010/main" val="41961320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18</a:t>
            </a:fld>
            <a:endParaRPr lang="en-US"/>
          </a:p>
        </p:txBody>
      </p:sp>
    </p:spTree>
    <p:extLst>
      <p:ext uri="{BB962C8B-B14F-4D97-AF65-F5344CB8AC3E}">
        <p14:creationId xmlns:p14="http://schemas.microsoft.com/office/powerpoint/2010/main" val="24262298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19</a:t>
            </a:fld>
            <a:endParaRPr lang="en-US"/>
          </a:p>
        </p:txBody>
      </p:sp>
    </p:spTree>
    <p:extLst>
      <p:ext uri="{BB962C8B-B14F-4D97-AF65-F5344CB8AC3E}">
        <p14:creationId xmlns:p14="http://schemas.microsoft.com/office/powerpoint/2010/main" val="15115268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20</a:t>
            </a:fld>
            <a:endParaRPr lang="en-US"/>
          </a:p>
        </p:txBody>
      </p:sp>
    </p:spTree>
    <p:extLst>
      <p:ext uri="{BB962C8B-B14F-4D97-AF65-F5344CB8AC3E}">
        <p14:creationId xmlns:p14="http://schemas.microsoft.com/office/powerpoint/2010/main" val="385283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21</a:t>
            </a:fld>
            <a:endParaRPr lang="en-US"/>
          </a:p>
        </p:txBody>
      </p:sp>
    </p:spTree>
    <p:extLst>
      <p:ext uri="{BB962C8B-B14F-4D97-AF65-F5344CB8AC3E}">
        <p14:creationId xmlns:p14="http://schemas.microsoft.com/office/powerpoint/2010/main" val="3978999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22</a:t>
            </a:fld>
            <a:endParaRPr lang="en-US"/>
          </a:p>
        </p:txBody>
      </p:sp>
    </p:spTree>
    <p:extLst>
      <p:ext uri="{BB962C8B-B14F-4D97-AF65-F5344CB8AC3E}">
        <p14:creationId xmlns:p14="http://schemas.microsoft.com/office/powerpoint/2010/main" val="15220271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23</a:t>
            </a:fld>
            <a:endParaRPr lang="en-US"/>
          </a:p>
        </p:txBody>
      </p:sp>
    </p:spTree>
    <p:extLst>
      <p:ext uri="{BB962C8B-B14F-4D97-AF65-F5344CB8AC3E}">
        <p14:creationId xmlns:p14="http://schemas.microsoft.com/office/powerpoint/2010/main" val="34874838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24</a:t>
            </a:fld>
            <a:endParaRPr lang="en-US"/>
          </a:p>
        </p:txBody>
      </p:sp>
    </p:spTree>
    <p:extLst>
      <p:ext uri="{BB962C8B-B14F-4D97-AF65-F5344CB8AC3E}">
        <p14:creationId xmlns:p14="http://schemas.microsoft.com/office/powerpoint/2010/main" val="14978841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25</a:t>
            </a:fld>
            <a:endParaRPr lang="en-US"/>
          </a:p>
        </p:txBody>
      </p:sp>
    </p:spTree>
    <p:extLst>
      <p:ext uri="{BB962C8B-B14F-4D97-AF65-F5344CB8AC3E}">
        <p14:creationId xmlns:p14="http://schemas.microsoft.com/office/powerpoint/2010/main" val="32306173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26</a:t>
            </a:fld>
            <a:endParaRPr lang="en-US"/>
          </a:p>
        </p:txBody>
      </p:sp>
    </p:spTree>
    <p:extLst>
      <p:ext uri="{BB962C8B-B14F-4D97-AF65-F5344CB8AC3E}">
        <p14:creationId xmlns:p14="http://schemas.microsoft.com/office/powerpoint/2010/main" val="41303857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27</a:t>
            </a:fld>
            <a:endParaRPr lang="en-US"/>
          </a:p>
        </p:txBody>
      </p:sp>
    </p:spTree>
    <p:extLst>
      <p:ext uri="{BB962C8B-B14F-4D97-AF65-F5344CB8AC3E}">
        <p14:creationId xmlns:p14="http://schemas.microsoft.com/office/powerpoint/2010/main" val="29723058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28</a:t>
            </a:fld>
            <a:endParaRPr lang="en-US"/>
          </a:p>
        </p:txBody>
      </p:sp>
    </p:spTree>
    <p:extLst>
      <p:ext uri="{BB962C8B-B14F-4D97-AF65-F5344CB8AC3E}">
        <p14:creationId xmlns:p14="http://schemas.microsoft.com/office/powerpoint/2010/main" val="31326928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29</a:t>
            </a:fld>
            <a:endParaRPr lang="en-US"/>
          </a:p>
        </p:txBody>
      </p:sp>
    </p:spTree>
    <p:extLst>
      <p:ext uri="{BB962C8B-B14F-4D97-AF65-F5344CB8AC3E}">
        <p14:creationId xmlns:p14="http://schemas.microsoft.com/office/powerpoint/2010/main" val="38465743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30</a:t>
            </a:fld>
            <a:endParaRPr lang="en-US"/>
          </a:p>
        </p:txBody>
      </p:sp>
    </p:spTree>
    <p:extLst>
      <p:ext uri="{BB962C8B-B14F-4D97-AF65-F5344CB8AC3E}">
        <p14:creationId xmlns:p14="http://schemas.microsoft.com/office/powerpoint/2010/main" val="12546345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31</a:t>
            </a:fld>
            <a:endParaRPr lang="en-US"/>
          </a:p>
        </p:txBody>
      </p:sp>
    </p:spTree>
    <p:extLst>
      <p:ext uri="{BB962C8B-B14F-4D97-AF65-F5344CB8AC3E}">
        <p14:creationId xmlns:p14="http://schemas.microsoft.com/office/powerpoint/2010/main" val="32726527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32</a:t>
            </a:fld>
            <a:endParaRPr lang="en-US"/>
          </a:p>
        </p:txBody>
      </p:sp>
    </p:spTree>
    <p:extLst>
      <p:ext uri="{BB962C8B-B14F-4D97-AF65-F5344CB8AC3E}">
        <p14:creationId xmlns:p14="http://schemas.microsoft.com/office/powerpoint/2010/main" val="49052727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33</a:t>
            </a:fld>
            <a:endParaRPr lang="en-US"/>
          </a:p>
        </p:txBody>
      </p:sp>
    </p:spTree>
    <p:extLst>
      <p:ext uri="{BB962C8B-B14F-4D97-AF65-F5344CB8AC3E}">
        <p14:creationId xmlns:p14="http://schemas.microsoft.com/office/powerpoint/2010/main" val="19627000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34</a:t>
            </a:fld>
            <a:endParaRPr lang="en-US"/>
          </a:p>
        </p:txBody>
      </p:sp>
    </p:spTree>
    <p:extLst>
      <p:ext uri="{BB962C8B-B14F-4D97-AF65-F5344CB8AC3E}">
        <p14:creationId xmlns:p14="http://schemas.microsoft.com/office/powerpoint/2010/main" val="34627229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35</a:t>
            </a:fld>
            <a:endParaRPr lang="en-US"/>
          </a:p>
        </p:txBody>
      </p:sp>
    </p:spTree>
    <p:extLst>
      <p:ext uri="{BB962C8B-B14F-4D97-AF65-F5344CB8AC3E}">
        <p14:creationId xmlns:p14="http://schemas.microsoft.com/office/powerpoint/2010/main" val="28584022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36</a:t>
            </a:fld>
            <a:endParaRPr lang="en-US"/>
          </a:p>
        </p:txBody>
      </p:sp>
    </p:spTree>
    <p:extLst>
      <p:ext uri="{BB962C8B-B14F-4D97-AF65-F5344CB8AC3E}">
        <p14:creationId xmlns:p14="http://schemas.microsoft.com/office/powerpoint/2010/main" val="30952284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37</a:t>
            </a:fld>
            <a:endParaRPr lang="en-US"/>
          </a:p>
        </p:txBody>
      </p:sp>
    </p:spTree>
    <p:extLst>
      <p:ext uri="{BB962C8B-B14F-4D97-AF65-F5344CB8AC3E}">
        <p14:creationId xmlns:p14="http://schemas.microsoft.com/office/powerpoint/2010/main" val="5899200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38</a:t>
            </a:fld>
            <a:endParaRPr lang="en-US"/>
          </a:p>
        </p:txBody>
      </p:sp>
    </p:spTree>
    <p:extLst>
      <p:ext uri="{BB962C8B-B14F-4D97-AF65-F5344CB8AC3E}">
        <p14:creationId xmlns:p14="http://schemas.microsoft.com/office/powerpoint/2010/main" val="25859940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39</a:t>
            </a:fld>
            <a:endParaRPr lang="en-US"/>
          </a:p>
        </p:txBody>
      </p:sp>
    </p:spTree>
    <p:extLst>
      <p:ext uri="{BB962C8B-B14F-4D97-AF65-F5344CB8AC3E}">
        <p14:creationId xmlns:p14="http://schemas.microsoft.com/office/powerpoint/2010/main" val="244210554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40</a:t>
            </a:fld>
            <a:endParaRPr lang="en-US"/>
          </a:p>
        </p:txBody>
      </p:sp>
    </p:spTree>
    <p:extLst>
      <p:ext uri="{BB962C8B-B14F-4D97-AF65-F5344CB8AC3E}">
        <p14:creationId xmlns:p14="http://schemas.microsoft.com/office/powerpoint/2010/main" val="5249552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FA197-8781-33D8-B59E-3AA4059A45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5BA7E6-BE8C-BA2A-1F05-A81724BDAE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23BE0B-368B-28B8-4D69-84D2734AC6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289D41-2B3A-75B3-3688-E020C5C2749D}"/>
              </a:ext>
            </a:extLst>
          </p:cNvPr>
          <p:cNvSpPr>
            <a:spLocks noGrp="1"/>
          </p:cNvSpPr>
          <p:nvPr>
            <p:ph type="sldNum" sz="quarter" idx="10"/>
          </p:nvPr>
        </p:nvSpPr>
        <p:spPr/>
        <p:txBody>
          <a:bodyPr/>
          <a:lstStyle/>
          <a:p>
            <a:fld id="{2B57EC6A-F5A4-441D-B3C5-D1EF8312AF7C}" type="slidenum">
              <a:rPr lang="en-US" smtClean="0"/>
              <a:t>41</a:t>
            </a:fld>
            <a:endParaRPr lang="en-US"/>
          </a:p>
        </p:txBody>
      </p:sp>
    </p:spTree>
    <p:extLst>
      <p:ext uri="{BB962C8B-B14F-4D97-AF65-F5344CB8AC3E}">
        <p14:creationId xmlns:p14="http://schemas.microsoft.com/office/powerpoint/2010/main" val="11844481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1C64C-621A-C378-4939-F230690A8C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7F45DB-048F-4E6D-135D-2A93E0B8F9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EC4A1-9296-5612-2928-26DC1A610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90749D-B16A-38BE-D773-48B97BE1492E}"/>
              </a:ext>
            </a:extLst>
          </p:cNvPr>
          <p:cNvSpPr>
            <a:spLocks noGrp="1"/>
          </p:cNvSpPr>
          <p:nvPr>
            <p:ph type="sldNum" sz="quarter" idx="5"/>
          </p:nvPr>
        </p:nvSpPr>
        <p:spPr/>
        <p:txBody>
          <a:bodyPr/>
          <a:lstStyle/>
          <a:p>
            <a:fld id="{EC074461-D808-4EBD-B8B3-953FBFCC6ED3}" type="slidenum">
              <a:rPr lang="en-US" smtClean="0"/>
              <a:t>42</a:t>
            </a:fld>
            <a:endParaRPr lang="en-US"/>
          </a:p>
        </p:txBody>
      </p:sp>
    </p:spTree>
    <p:extLst>
      <p:ext uri="{BB962C8B-B14F-4D97-AF65-F5344CB8AC3E}">
        <p14:creationId xmlns:p14="http://schemas.microsoft.com/office/powerpoint/2010/main" val="31944197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43</a:t>
            </a:fld>
            <a:endParaRPr lang="en-US"/>
          </a:p>
        </p:txBody>
      </p:sp>
    </p:spTree>
    <p:extLst>
      <p:ext uri="{BB962C8B-B14F-4D97-AF65-F5344CB8AC3E}">
        <p14:creationId xmlns:p14="http://schemas.microsoft.com/office/powerpoint/2010/main" val="9763590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44</a:t>
            </a:fld>
            <a:endParaRPr lang="en-US"/>
          </a:p>
        </p:txBody>
      </p:sp>
    </p:spTree>
    <p:extLst>
      <p:ext uri="{BB962C8B-B14F-4D97-AF65-F5344CB8AC3E}">
        <p14:creationId xmlns:p14="http://schemas.microsoft.com/office/powerpoint/2010/main" val="33414815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Too understaffed</a:t>
            </a:r>
          </a:p>
          <a:p>
            <a:pPr marL="171450" indent="-171450">
              <a:buFontTx/>
              <a:buChar char="-"/>
            </a:pPr>
            <a:r>
              <a:rPr lang="en-US" dirty="0"/>
              <a:t>Too much support work fixing bugs</a:t>
            </a:r>
          </a:p>
        </p:txBody>
      </p:sp>
      <p:sp>
        <p:nvSpPr>
          <p:cNvPr id="4" name="Slide Number Placeholder 3"/>
          <p:cNvSpPr>
            <a:spLocks noGrp="1"/>
          </p:cNvSpPr>
          <p:nvPr>
            <p:ph type="sldNum" sz="quarter" idx="5"/>
          </p:nvPr>
        </p:nvSpPr>
        <p:spPr/>
        <p:txBody>
          <a:bodyPr/>
          <a:lstStyle/>
          <a:p>
            <a:fld id="{EC074461-D808-4EBD-B8B3-953FBFCC6ED3}" type="slidenum">
              <a:rPr lang="en-US" smtClean="0"/>
              <a:t>45</a:t>
            </a:fld>
            <a:endParaRPr lang="en-US"/>
          </a:p>
        </p:txBody>
      </p:sp>
    </p:spTree>
    <p:extLst>
      <p:ext uri="{BB962C8B-B14F-4D97-AF65-F5344CB8AC3E}">
        <p14:creationId xmlns:p14="http://schemas.microsoft.com/office/powerpoint/2010/main" val="14292633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46</a:t>
            </a:fld>
            <a:endParaRPr lang="en-US"/>
          </a:p>
        </p:txBody>
      </p:sp>
    </p:spTree>
    <p:extLst>
      <p:ext uri="{BB962C8B-B14F-4D97-AF65-F5344CB8AC3E}">
        <p14:creationId xmlns:p14="http://schemas.microsoft.com/office/powerpoint/2010/main" val="126294055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you went to your surgeon and said “Hey I need this operation done” and he goes “Okay it’ll take 24 hours.” And if you respond “Okay but can you do it in 4?” …would you want to get surgery from the surgeon who agrees to that?</a:t>
            </a:r>
          </a:p>
          <a:p>
            <a:endParaRPr lang="en-US" dirty="0"/>
          </a:p>
          <a:p>
            <a:r>
              <a:rPr lang="en-US" dirty="0"/>
              <a:t>“Oh yeah I can totally do that surgery in 4 hours, I just need to not wash my hands, not wash the tools from the last surgery, and I’ll just use 5 stitches to sew you up instead of 50.”</a:t>
            </a:r>
          </a:p>
        </p:txBody>
      </p:sp>
      <p:sp>
        <p:nvSpPr>
          <p:cNvPr id="4" name="Slide Number Placeholder 3"/>
          <p:cNvSpPr>
            <a:spLocks noGrp="1"/>
          </p:cNvSpPr>
          <p:nvPr>
            <p:ph type="sldNum" sz="quarter" idx="5"/>
          </p:nvPr>
        </p:nvSpPr>
        <p:spPr/>
        <p:txBody>
          <a:bodyPr/>
          <a:lstStyle/>
          <a:p>
            <a:fld id="{EC074461-D808-4EBD-B8B3-953FBFCC6ED3}" type="slidenum">
              <a:rPr lang="en-US" smtClean="0"/>
              <a:t>47</a:t>
            </a:fld>
            <a:endParaRPr lang="en-US"/>
          </a:p>
        </p:txBody>
      </p:sp>
    </p:spTree>
    <p:extLst>
      <p:ext uri="{BB962C8B-B14F-4D97-AF65-F5344CB8AC3E}">
        <p14:creationId xmlns:p14="http://schemas.microsoft.com/office/powerpoint/2010/main" val="14372378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48</a:t>
            </a:fld>
            <a:endParaRPr lang="en-US"/>
          </a:p>
        </p:txBody>
      </p:sp>
    </p:spTree>
    <p:extLst>
      <p:ext uri="{BB962C8B-B14F-4D97-AF65-F5344CB8AC3E}">
        <p14:creationId xmlns:p14="http://schemas.microsoft.com/office/powerpoint/2010/main" val="10142986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49</a:t>
            </a:fld>
            <a:endParaRPr lang="en-US"/>
          </a:p>
        </p:txBody>
      </p:sp>
    </p:spTree>
    <p:extLst>
      <p:ext uri="{BB962C8B-B14F-4D97-AF65-F5344CB8AC3E}">
        <p14:creationId xmlns:p14="http://schemas.microsoft.com/office/powerpoint/2010/main" val="36103012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50</a:t>
            </a:fld>
            <a:endParaRPr lang="en-US"/>
          </a:p>
        </p:txBody>
      </p:sp>
    </p:spTree>
    <p:extLst>
      <p:ext uri="{BB962C8B-B14F-4D97-AF65-F5344CB8AC3E}">
        <p14:creationId xmlns:p14="http://schemas.microsoft.com/office/powerpoint/2010/main" val="23782867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51</a:t>
            </a:fld>
            <a:endParaRPr lang="en-US"/>
          </a:p>
        </p:txBody>
      </p:sp>
    </p:spTree>
    <p:extLst>
      <p:ext uri="{BB962C8B-B14F-4D97-AF65-F5344CB8AC3E}">
        <p14:creationId xmlns:p14="http://schemas.microsoft.com/office/powerpoint/2010/main" val="344261155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45F12-5B3B-918F-E061-701733648E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FF449-C195-18AC-FC43-914700DBA7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E63422-DD81-6E68-3BF4-F4E578C2A9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C30443-1221-CC65-29BA-99798E316B6C}"/>
              </a:ext>
            </a:extLst>
          </p:cNvPr>
          <p:cNvSpPr>
            <a:spLocks noGrp="1"/>
          </p:cNvSpPr>
          <p:nvPr>
            <p:ph type="sldNum" sz="quarter" idx="5"/>
          </p:nvPr>
        </p:nvSpPr>
        <p:spPr/>
        <p:txBody>
          <a:bodyPr/>
          <a:lstStyle/>
          <a:p>
            <a:fld id="{EC074461-D808-4EBD-B8B3-953FBFCC6ED3}" type="slidenum">
              <a:rPr lang="en-US" smtClean="0"/>
              <a:t>52</a:t>
            </a:fld>
            <a:endParaRPr lang="en-US"/>
          </a:p>
        </p:txBody>
      </p:sp>
    </p:spTree>
    <p:extLst>
      <p:ext uri="{BB962C8B-B14F-4D97-AF65-F5344CB8AC3E}">
        <p14:creationId xmlns:p14="http://schemas.microsoft.com/office/powerpoint/2010/main" val="42181910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0D549-F609-4ED3-8963-AF0CBF3680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CAA17A-1098-419A-8585-E680D81178E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59A151D-61BD-48D1-8C67-4C327383A45F}"/>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5" name="Footer Placeholder 4">
            <a:extLst>
              <a:ext uri="{FF2B5EF4-FFF2-40B4-BE49-F238E27FC236}">
                <a16:creationId xmlns:a16="http://schemas.microsoft.com/office/drawing/2014/main" id="{4572C576-331D-4E09-88E2-6EB25C684F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359541-EA62-4109-ABD5-F105A295B771}"/>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4293211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95D01-CAFE-4A1A-A804-F23913EB36CF}"/>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DBDBD820-3F0E-466E-9035-C5A24E697D8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D017A9-4DF9-4FBC-8DFE-1AF8ABE962B1}"/>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5" name="Footer Placeholder 4">
            <a:extLst>
              <a:ext uri="{FF2B5EF4-FFF2-40B4-BE49-F238E27FC236}">
                <a16:creationId xmlns:a16="http://schemas.microsoft.com/office/drawing/2014/main" id="{179C97CE-189D-45E0-91B2-04695DE2E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86EDA0-DDF2-410C-A702-40E5C32C20A6}"/>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3137285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4772-8467-4E19-8A52-A529C7B3DE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8A9D6B-AA2E-41FA-BDFC-46C87BDCF8D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2B5F044-85E8-449D-A4F3-7EAC9AD07B2A}"/>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5" name="Footer Placeholder 4">
            <a:extLst>
              <a:ext uri="{FF2B5EF4-FFF2-40B4-BE49-F238E27FC236}">
                <a16:creationId xmlns:a16="http://schemas.microsoft.com/office/drawing/2014/main" id="{0C068485-216E-4AEA-8404-05B4ACF615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557587-3E1F-480C-81BD-741C81CE4400}"/>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2786865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F0DC6-DE10-4E0B-BCBA-32E711C8A9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C68941-20E5-4343-8250-265C6DAC54E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0677973-E72E-4CC0-8D61-FCCC8406C1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4EFF417-B339-40DE-B352-1ECEDBB7BA2E}"/>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6" name="Footer Placeholder 5">
            <a:extLst>
              <a:ext uri="{FF2B5EF4-FFF2-40B4-BE49-F238E27FC236}">
                <a16:creationId xmlns:a16="http://schemas.microsoft.com/office/drawing/2014/main" id="{B145B31E-728B-4DBE-8BD9-E37BC320A5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D743D7-ECE6-4EEE-A8EE-EFB4DBFE537B}"/>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41146457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5A82E-579C-45F5-A951-1E10C98D14E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1672278-8C31-4955-BCB5-81132BB5FB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FB4B5AF-BC8F-4D55-B34E-3947255AEB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8C4CE63-7562-4D15-BD15-363CDC2145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0026435-DAAC-4A88-8E75-D1C9066E3A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66F1FBD-42A5-4A9E-8F95-934AAA624C4A}"/>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8" name="Footer Placeholder 7">
            <a:extLst>
              <a:ext uri="{FF2B5EF4-FFF2-40B4-BE49-F238E27FC236}">
                <a16:creationId xmlns:a16="http://schemas.microsoft.com/office/drawing/2014/main" id="{263529DF-CBEB-4F8A-AE4A-1E17ED0E3F6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A11928E-44C3-496F-B06D-DE65B8B56D50}"/>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13492585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1837D-0203-44E9-A800-75FB3F0C900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F7691E0-63A3-4F58-8784-3CF3D4825FEC}"/>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4" name="Footer Placeholder 3">
            <a:extLst>
              <a:ext uri="{FF2B5EF4-FFF2-40B4-BE49-F238E27FC236}">
                <a16:creationId xmlns:a16="http://schemas.microsoft.com/office/drawing/2014/main" id="{A543B4FF-56D4-4561-8AA0-715AC2EF17A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A24245B-8F4F-4989-8B66-F14D9F460DCC}"/>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1401474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97D826-C0CD-4DA3-9804-3B37794D9B46}"/>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3" name="Footer Placeholder 2">
            <a:extLst>
              <a:ext uri="{FF2B5EF4-FFF2-40B4-BE49-F238E27FC236}">
                <a16:creationId xmlns:a16="http://schemas.microsoft.com/office/drawing/2014/main" id="{DB73DFA2-D509-44F1-BB96-FF03916E0E9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2BF2E06-E28D-4612-9A89-EBD147748F41}"/>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41892002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EA060-F102-4A2F-A00A-664EF54800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F9E5B43-3611-4819-A036-8C5F1E42BE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EA2AB7-BFE4-490A-AFEB-5A016701BA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585B19-24B8-4C1F-89D6-5412D092758A}"/>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6" name="Footer Placeholder 5">
            <a:extLst>
              <a:ext uri="{FF2B5EF4-FFF2-40B4-BE49-F238E27FC236}">
                <a16:creationId xmlns:a16="http://schemas.microsoft.com/office/drawing/2014/main" id="{F9179F1F-F5FB-498D-A4C7-6EDC1DD78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A78AB6-BF35-4C0B-B331-22ED520AE9E2}"/>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33038721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6FE43-BAB1-41F0-BFF0-94DD8B3F4B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2C826E6-5590-4624-A426-EE1A424BC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5D4AF21-041F-4FA7-87E4-B870EDA36B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47AF2C-DB15-4789-9385-B5DB53324498}"/>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6" name="Footer Placeholder 5">
            <a:extLst>
              <a:ext uri="{FF2B5EF4-FFF2-40B4-BE49-F238E27FC236}">
                <a16:creationId xmlns:a16="http://schemas.microsoft.com/office/drawing/2014/main" id="{C2F65690-CB51-4930-B426-18021D38FB0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4FFDAB-4B46-4100-A689-0064DB52B04E}"/>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21407250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74FE6-F914-41AA-88EC-E4EB246CE95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B76D8E4-7B81-43C8-9E0C-E6D9BBE6A4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C0A446-E986-479F-865A-253DDD95AAF0}"/>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5" name="Footer Placeholder 4">
            <a:extLst>
              <a:ext uri="{FF2B5EF4-FFF2-40B4-BE49-F238E27FC236}">
                <a16:creationId xmlns:a16="http://schemas.microsoft.com/office/drawing/2014/main" id="{61962C5E-6BC2-4157-896F-20C3B39561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2CA8BB-B7DC-49ED-A1F9-454493196321}"/>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1764913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1BD8934-B74E-4AE0-B765-ECE3C9A074F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A56AB3-C0E0-4C3D-B3A4-916BF6C313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742220-AFF0-42C5-AF12-AD2AC576987C}"/>
              </a:ext>
            </a:extLst>
          </p:cNvPr>
          <p:cNvSpPr>
            <a:spLocks noGrp="1"/>
          </p:cNvSpPr>
          <p:nvPr>
            <p:ph type="dt" sz="half" idx="10"/>
          </p:nvPr>
        </p:nvSpPr>
        <p:spPr/>
        <p:txBody>
          <a:bodyPr/>
          <a:lstStyle/>
          <a:p>
            <a:fld id="{A4BF2526-C75C-47BE-928B-0135A92A66BE}" type="datetimeFigureOut">
              <a:rPr lang="en-US" smtClean="0"/>
              <a:t>5/9/26</a:t>
            </a:fld>
            <a:endParaRPr lang="en-US"/>
          </a:p>
        </p:txBody>
      </p:sp>
      <p:sp>
        <p:nvSpPr>
          <p:cNvPr id="5" name="Footer Placeholder 4">
            <a:extLst>
              <a:ext uri="{FF2B5EF4-FFF2-40B4-BE49-F238E27FC236}">
                <a16:creationId xmlns:a16="http://schemas.microsoft.com/office/drawing/2014/main" id="{04BED1E5-E582-4C65-900E-24E56C3987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9EE9A6-F609-4B8B-AE51-59399BB00C90}"/>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2695595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D6E2E7-5F4D-4B43-B201-1C682CF80B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DCA8DF1-9081-4F65-B36D-44EAFBA9C7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3121AD-9DC3-463F-98F7-B2E1CA5400C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4BF2526-C75C-47BE-928B-0135A92A66BE}" type="datetimeFigureOut">
              <a:rPr lang="en-US" smtClean="0"/>
              <a:t>5/9/26</a:t>
            </a:fld>
            <a:endParaRPr lang="en-US"/>
          </a:p>
        </p:txBody>
      </p:sp>
      <p:sp>
        <p:nvSpPr>
          <p:cNvPr id="5" name="Footer Placeholder 4">
            <a:extLst>
              <a:ext uri="{FF2B5EF4-FFF2-40B4-BE49-F238E27FC236}">
                <a16:creationId xmlns:a16="http://schemas.microsoft.com/office/drawing/2014/main" id="{2800C0D7-400D-4BA6-BC06-CFC5FBDCFCE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72E6C9D-08DD-4E4B-8A70-A4B32C36A21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E6D87-DEBB-4D35-A363-8431759C78C9}" type="slidenum">
              <a:rPr lang="en-US" smtClean="0"/>
              <a:t>‹#›</a:t>
            </a:fld>
            <a:endParaRPr lang="en-US"/>
          </a:p>
        </p:txBody>
      </p:sp>
    </p:spTree>
    <p:extLst>
      <p:ext uri="{BB962C8B-B14F-4D97-AF65-F5344CB8AC3E}">
        <p14:creationId xmlns:p14="http://schemas.microsoft.com/office/powerpoint/2010/main" val="59232541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leantechniques.com/" TargetMode="External"/><Relationship Id="rId7" Type="http://schemas.openxmlformats.org/officeDocument/2006/relationships/hyperlink" Target="https://www.red-gate.com/hub/events/friends-of-rg/friend/ScottSauber" TargetMode="External"/><Relationship Id="rId12"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www.meetup.com/iadnug/" TargetMode="External"/><Relationship Id="rId11" Type="http://schemas.openxmlformats.org/officeDocument/2006/relationships/image" Target="../media/image6.jpeg"/><Relationship Id="rId5" Type="http://schemas.openxmlformats.org/officeDocument/2006/relationships/hyperlink" Target="https://dometrain.com/author/scott-sauber/" TargetMode="External"/><Relationship Id="rId10" Type="http://schemas.openxmlformats.org/officeDocument/2006/relationships/image" Target="../media/image5.jpeg"/><Relationship Id="rId4" Type="http://schemas.openxmlformats.org/officeDocument/2006/relationships/hyperlink" Target="https://mvp.microsoft.com/en-us/PublicProfile/5005146?fullName=Scott%20%20Sauber" TargetMode="External"/><Relationship Id="rId9"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kentcdodds.com/blog/write-tests"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image" Target="../media/image2.png"/><Relationship Id="rId4" Type="http://schemas.openxmlformats.org/officeDocument/2006/relationships/hyperlink" Target="https://github.com/scottsauber/talks"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jpeg"/></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28.jpe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E7171-AFDD-4862-9A69-284665CD3345}"/>
              </a:ext>
            </a:extLst>
          </p:cNvPr>
          <p:cNvSpPr>
            <a:spLocks noGrp="1"/>
          </p:cNvSpPr>
          <p:nvPr>
            <p:ph type="ctrTitle"/>
          </p:nvPr>
        </p:nvSpPr>
        <p:spPr>
          <a:xfrm>
            <a:off x="0" y="1434242"/>
            <a:ext cx="12192000" cy="3344984"/>
          </a:xfrm>
        </p:spPr>
        <p:txBody>
          <a:bodyPr>
            <a:normAutofit/>
          </a:bodyPr>
          <a:lstStyle/>
          <a:p>
            <a:r>
              <a:rPr lang="en-US" sz="7700" b="1" dirty="0">
                <a:solidFill>
                  <a:schemeClr val="bg1"/>
                </a:solidFill>
                <a:latin typeface="+mn-lt"/>
                <a:ea typeface="Open Sans" panose="020B0606030504020204" pitchFamily="34" charset="0"/>
                <a:cs typeface="Open Sans" panose="020B0606030504020204" pitchFamily="34" charset="0"/>
              </a:rPr>
              <a:t>Test Driven Development</a:t>
            </a:r>
            <a:br>
              <a:rPr lang="en-US" sz="7700" b="1" dirty="0">
                <a:solidFill>
                  <a:schemeClr val="bg1"/>
                </a:solidFill>
                <a:latin typeface="+mn-lt"/>
                <a:ea typeface="Open Sans" panose="020B0606030504020204" pitchFamily="34" charset="0"/>
                <a:cs typeface="Open Sans" panose="020B0606030504020204" pitchFamily="34" charset="0"/>
              </a:rPr>
            </a:br>
            <a:r>
              <a:rPr lang="en-US" sz="7700" b="1" dirty="0">
                <a:solidFill>
                  <a:schemeClr val="bg1"/>
                </a:solidFill>
                <a:latin typeface="+mn-lt"/>
                <a:ea typeface="Open Sans" panose="020B0606030504020204" pitchFamily="34" charset="0"/>
                <a:cs typeface="Open Sans" panose="020B0606030504020204" pitchFamily="34" charset="0"/>
              </a:rPr>
              <a:t>with </a:t>
            </a:r>
            <a:r>
              <a:rPr lang="en-US" sz="7700" b="1" dirty="0" err="1">
                <a:solidFill>
                  <a:schemeClr val="bg1"/>
                </a:solidFill>
                <a:latin typeface="+mn-lt"/>
                <a:ea typeface="Open Sans" panose="020B0606030504020204" pitchFamily="34" charset="0"/>
                <a:cs typeface="Open Sans" panose="020B0606030504020204" pitchFamily="34" charset="0"/>
              </a:rPr>
              <a:t>Blazor</a:t>
            </a:r>
            <a:endParaRPr lang="en-US" sz="7700" b="1" dirty="0">
              <a:solidFill>
                <a:schemeClr val="bg1"/>
              </a:solidFill>
              <a:latin typeface="+mn-lt"/>
              <a:ea typeface="Open Sans" panose="020B0606030504020204" pitchFamily="34" charset="0"/>
              <a:cs typeface="Open Sans" panose="020B0606030504020204" pitchFamily="34" charset="0"/>
            </a:endParaRPr>
          </a:p>
        </p:txBody>
      </p:sp>
      <p:sp>
        <p:nvSpPr>
          <p:cNvPr id="4" name="Subtitle 2">
            <a:extLst>
              <a:ext uri="{FF2B5EF4-FFF2-40B4-BE49-F238E27FC236}">
                <a16:creationId xmlns:a16="http://schemas.microsoft.com/office/drawing/2014/main" id="{938EF936-BB12-46CA-86F7-049CEBB8D29A}"/>
              </a:ext>
            </a:extLst>
          </p:cNvPr>
          <p:cNvSpPr>
            <a:spLocks noGrp="1"/>
          </p:cNvSpPr>
          <p:nvPr>
            <p:ph type="subTitle" idx="1"/>
          </p:nvPr>
        </p:nvSpPr>
        <p:spPr>
          <a:xfrm>
            <a:off x="0" y="6295281"/>
            <a:ext cx="4184374" cy="525294"/>
          </a:xfrm>
        </p:spPr>
        <p:txBody>
          <a:bodyPr>
            <a:normAutofit/>
          </a:bodyPr>
          <a:lstStyle/>
          <a:p>
            <a:pPr algn="l"/>
            <a:r>
              <a:rPr lang="en-US" dirty="0">
                <a:solidFill>
                  <a:schemeClr val="bg1"/>
                </a:solidFill>
                <a:ea typeface="Open Sans" panose="020B0606030504020204" pitchFamily="34" charset="0"/>
                <a:cs typeface="Open Sans" panose="020B0606030504020204" pitchFamily="34" charset="0"/>
              </a:rPr>
              <a:t>Slides up at scottsauber.com</a:t>
            </a:r>
          </a:p>
        </p:txBody>
      </p:sp>
      <p:grpSp>
        <p:nvGrpSpPr>
          <p:cNvPr id="5" name="Group 4">
            <a:extLst>
              <a:ext uri="{FF2B5EF4-FFF2-40B4-BE49-F238E27FC236}">
                <a16:creationId xmlns:a16="http://schemas.microsoft.com/office/drawing/2014/main" id="{48F464C5-3076-4402-9791-59D524AC8DC8}"/>
              </a:ext>
            </a:extLst>
          </p:cNvPr>
          <p:cNvGrpSpPr/>
          <p:nvPr/>
        </p:nvGrpSpPr>
        <p:grpSpPr>
          <a:xfrm>
            <a:off x="10158636" y="6320767"/>
            <a:ext cx="2106544" cy="474323"/>
            <a:chOff x="9994831" y="6185410"/>
            <a:chExt cx="2106544" cy="474323"/>
          </a:xfrm>
        </p:grpSpPr>
        <p:pic>
          <p:nvPicPr>
            <p:cNvPr id="6" name="Picture 2" descr="Image result for twitter logo">
              <a:extLst>
                <a:ext uri="{FF2B5EF4-FFF2-40B4-BE49-F238E27FC236}">
                  <a16:creationId xmlns:a16="http://schemas.microsoft.com/office/drawing/2014/main" id="{BF5CBA11-98FF-4FEC-A8EF-50E5FADF0F94}"/>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9994831" y="6267602"/>
              <a:ext cx="328512" cy="266762"/>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9B9DABC1-AB03-4BB4-80DE-954141378043}"/>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solidFill>
                </a:rPr>
                <a:t>scottsauber</a:t>
              </a:r>
              <a:endParaRPr lang="en-US" dirty="0">
                <a:solidFill>
                  <a:schemeClr val="bg1"/>
                </a:solidFill>
              </a:endParaRPr>
            </a:p>
          </p:txBody>
        </p:sp>
        <p:pic>
          <p:nvPicPr>
            <p:cNvPr id="8" name="Picture 2" descr="Image result for twitter logo">
              <a:extLst>
                <a:ext uri="{FF2B5EF4-FFF2-40B4-BE49-F238E27FC236}">
                  <a16:creationId xmlns:a16="http://schemas.microsoft.com/office/drawing/2014/main" id="{9312450C-A15A-4CF9-8CFC-DDCA027CB85A}"/>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9994831" y="6290606"/>
              <a:ext cx="328512" cy="26676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430679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ea typeface="Open Sans" panose="020B0606030504020204" pitchFamily="34" charset="0"/>
                <a:cs typeface="Open Sans" panose="020B0606030504020204" pitchFamily="34" charset="0"/>
              </a:rPr>
              <a:t>Audience</a:t>
            </a:r>
          </a:p>
        </p:txBody>
      </p:sp>
      <p:sp>
        <p:nvSpPr>
          <p:cNvPr id="3" name="Content Placeholder 2"/>
          <p:cNvSpPr>
            <a:spLocks noGrp="1"/>
          </p:cNvSpPr>
          <p:nvPr>
            <p:ph idx="1"/>
          </p:nvPr>
        </p:nvSpPr>
        <p:spPr>
          <a:xfrm>
            <a:off x="838200" y="1825624"/>
            <a:ext cx="10515600" cy="4779637"/>
          </a:xfrm>
        </p:spPr>
        <p:txBody>
          <a:bodyPr>
            <a:normAutofit/>
          </a:bodyPr>
          <a:lstStyle/>
          <a:p>
            <a:r>
              <a:rPr lang="en-US" dirty="0">
                <a:ea typeface="Open Sans" panose="020B0606030504020204" pitchFamily="34" charset="0"/>
                <a:cs typeface="Open Sans" panose="020B0606030504020204" pitchFamily="34" charset="0"/>
              </a:rPr>
              <a:t>Familiar with </a:t>
            </a:r>
            <a:r>
              <a:rPr lang="en-US" dirty="0" err="1">
                <a:ea typeface="Open Sans" panose="020B0606030504020204" pitchFamily="34" charset="0"/>
                <a:cs typeface="Open Sans" panose="020B0606030504020204" pitchFamily="34" charset="0"/>
              </a:rPr>
              <a:t>Blazor</a:t>
            </a:r>
            <a:endParaRPr lang="en-US" dirty="0">
              <a:ea typeface="Open Sans" panose="020B0606030504020204" pitchFamily="34" charset="0"/>
              <a:cs typeface="Open Sans" panose="020B0606030504020204" pitchFamily="34" charset="0"/>
            </a:endParaRPr>
          </a:p>
          <a:p>
            <a:r>
              <a:rPr lang="en-US" dirty="0">
                <a:ea typeface="Open Sans" panose="020B0606030504020204" pitchFamily="34" charset="0"/>
                <a:cs typeface="Open Sans" panose="020B0606030504020204" pitchFamily="34" charset="0"/>
              </a:rPr>
              <a:t>Interested in learning TDD</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64105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Agenda</a:t>
            </a:r>
          </a:p>
        </p:txBody>
      </p:sp>
      <p:sp>
        <p:nvSpPr>
          <p:cNvPr id="3" name="Content Placeholder 2"/>
          <p:cNvSpPr>
            <a:spLocks noGrp="1"/>
          </p:cNvSpPr>
          <p:nvPr>
            <p:ph idx="1"/>
          </p:nvPr>
        </p:nvSpPr>
        <p:spPr>
          <a:xfrm>
            <a:off x="838200" y="1825625"/>
            <a:ext cx="10515600" cy="4834108"/>
          </a:xfrm>
        </p:spPr>
        <p:txBody>
          <a:bodyPr>
            <a:normAutofit/>
          </a:bodyPr>
          <a:lstStyle/>
          <a:p>
            <a:r>
              <a:rPr lang="en-US" dirty="0"/>
              <a:t>What is TDD?</a:t>
            </a:r>
          </a:p>
          <a:p>
            <a:r>
              <a:rPr lang="en-US" dirty="0"/>
              <a:t>Why TDD? </a:t>
            </a:r>
          </a:p>
          <a:p>
            <a:r>
              <a:rPr lang="en-US" dirty="0"/>
              <a:t>Tools you can use</a:t>
            </a:r>
          </a:p>
          <a:p>
            <a:r>
              <a:rPr lang="en-US" dirty="0"/>
              <a:t>What do I test?</a:t>
            </a:r>
          </a:p>
          <a:p>
            <a:r>
              <a:rPr lang="en-US" dirty="0"/>
              <a:t>Live Demos</a:t>
            </a:r>
          </a:p>
        </p:txBody>
      </p:sp>
      <p:grpSp>
        <p:nvGrpSpPr>
          <p:cNvPr id="8" name="Group 7">
            <a:extLst>
              <a:ext uri="{FF2B5EF4-FFF2-40B4-BE49-F238E27FC236}">
                <a16:creationId xmlns:a16="http://schemas.microsoft.com/office/drawing/2014/main" id="{E239A9CE-C7EB-4E97-86E4-7038185B0547}"/>
              </a:ext>
            </a:extLst>
          </p:cNvPr>
          <p:cNvGrpSpPr/>
          <p:nvPr/>
        </p:nvGrpSpPr>
        <p:grpSpPr>
          <a:xfrm>
            <a:off x="9970651" y="6185410"/>
            <a:ext cx="2130724" cy="474323"/>
            <a:chOff x="9970651" y="6185410"/>
            <a:chExt cx="2130724" cy="474323"/>
          </a:xfrm>
        </p:grpSpPr>
        <p:sp>
          <p:nvSpPr>
            <p:cNvPr id="9" name="Subtitle 2">
              <a:extLst>
                <a:ext uri="{FF2B5EF4-FFF2-40B4-BE49-F238E27FC236}">
                  <a16:creationId xmlns:a16="http://schemas.microsoft.com/office/drawing/2014/main" id="{2229353B-AF80-4FA1-A290-889FFCA819EF}"/>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10" name="Rectangle 9">
              <a:extLst>
                <a:ext uri="{FF2B5EF4-FFF2-40B4-BE49-F238E27FC236}">
                  <a16:creationId xmlns:a16="http://schemas.microsoft.com/office/drawing/2014/main" id="{8AA5A6B6-4F71-4CAB-A81F-16ECC8919324}"/>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76743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Goals</a:t>
            </a:r>
          </a:p>
        </p:txBody>
      </p:sp>
      <p:sp>
        <p:nvSpPr>
          <p:cNvPr id="3" name="Content Placeholder 2"/>
          <p:cNvSpPr>
            <a:spLocks noGrp="1"/>
          </p:cNvSpPr>
          <p:nvPr>
            <p:ph idx="1"/>
          </p:nvPr>
        </p:nvSpPr>
        <p:spPr>
          <a:xfrm>
            <a:off x="838200" y="1825625"/>
            <a:ext cx="10515600" cy="4834108"/>
          </a:xfrm>
        </p:spPr>
        <p:txBody>
          <a:bodyPr>
            <a:normAutofit/>
          </a:bodyPr>
          <a:lstStyle/>
          <a:p>
            <a:r>
              <a:rPr lang="en-US" dirty="0"/>
              <a:t>Learn “best practices</a:t>
            </a:r>
            <a:r>
              <a:rPr lang="en-US" baseline="30000" dirty="0"/>
              <a:t>*</a:t>
            </a:r>
            <a:r>
              <a:rPr lang="en-US" dirty="0"/>
              <a:t>” for writing frontend tests</a:t>
            </a:r>
          </a:p>
          <a:p>
            <a:r>
              <a:rPr lang="en-US" dirty="0"/>
              <a:t>Share with .NET community testing learnings from React community</a:t>
            </a:r>
          </a:p>
          <a:p>
            <a:r>
              <a:rPr lang="en-US" dirty="0"/>
              <a:t>Learn how to TDD (with </a:t>
            </a:r>
            <a:r>
              <a:rPr lang="en-US" dirty="0" err="1"/>
              <a:t>Blazor</a:t>
            </a:r>
            <a:r>
              <a:rPr lang="en-US" dirty="0"/>
              <a:t>!)</a:t>
            </a:r>
          </a:p>
          <a:p>
            <a:endParaRPr lang="en-US" dirty="0"/>
          </a:p>
          <a:p>
            <a:endParaRPr lang="en-US" dirty="0"/>
          </a:p>
          <a:p>
            <a:endParaRPr lang="en-US" dirty="0"/>
          </a:p>
          <a:p>
            <a:endParaRPr lang="en-US" dirty="0"/>
          </a:p>
          <a:p>
            <a:endParaRPr lang="en-US" dirty="0"/>
          </a:p>
          <a:p>
            <a:pPr marL="0" indent="0">
              <a:buNone/>
            </a:pPr>
            <a:endParaRPr lang="en-US" sz="1600" dirty="0"/>
          </a:p>
          <a:p>
            <a:pPr marL="0" indent="0">
              <a:buNone/>
            </a:pPr>
            <a:r>
              <a:rPr lang="en-US" sz="1600" dirty="0"/>
              <a:t>* Synonym for “Just My Opinions” and I’ll probably find a way I like better in the future</a:t>
            </a:r>
          </a:p>
        </p:txBody>
      </p:sp>
      <p:grpSp>
        <p:nvGrpSpPr>
          <p:cNvPr id="8" name="Group 7">
            <a:extLst>
              <a:ext uri="{FF2B5EF4-FFF2-40B4-BE49-F238E27FC236}">
                <a16:creationId xmlns:a16="http://schemas.microsoft.com/office/drawing/2014/main" id="{E239A9CE-C7EB-4E97-86E4-7038185B0547}"/>
              </a:ext>
            </a:extLst>
          </p:cNvPr>
          <p:cNvGrpSpPr/>
          <p:nvPr/>
        </p:nvGrpSpPr>
        <p:grpSpPr>
          <a:xfrm>
            <a:off x="9970651" y="6185410"/>
            <a:ext cx="2130724" cy="474323"/>
            <a:chOff x="9970651" y="6185410"/>
            <a:chExt cx="2130724" cy="474323"/>
          </a:xfrm>
        </p:grpSpPr>
        <p:sp>
          <p:nvSpPr>
            <p:cNvPr id="9" name="Subtitle 2">
              <a:extLst>
                <a:ext uri="{FF2B5EF4-FFF2-40B4-BE49-F238E27FC236}">
                  <a16:creationId xmlns:a16="http://schemas.microsoft.com/office/drawing/2014/main" id="{2229353B-AF80-4FA1-A290-889FFCA819EF}"/>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10" name="Rectangle 9">
              <a:extLst>
                <a:ext uri="{FF2B5EF4-FFF2-40B4-BE49-F238E27FC236}">
                  <a16:creationId xmlns:a16="http://schemas.microsoft.com/office/drawing/2014/main" id="{8AA5A6B6-4F71-4CAB-A81F-16ECC8919324}"/>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475384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Who am I?	</a:t>
            </a:r>
          </a:p>
        </p:txBody>
      </p:sp>
      <p:sp>
        <p:nvSpPr>
          <p:cNvPr id="3" name="Content Placeholder 2"/>
          <p:cNvSpPr>
            <a:spLocks noGrp="1"/>
          </p:cNvSpPr>
          <p:nvPr>
            <p:ph idx="1"/>
          </p:nvPr>
        </p:nvSpPr>
        <p:spPr>
          <a:xfrm>
            <a:off x="838200" y="1825625"/>
            <a:ext cx="8056808" cy="4351338"/>
          </a:xfrm>
        </p:spPr>
        <p:txBody>
          <a:bodyPr/>
          <a:lstStyle/>
          <a:p>
            <a:r>
              <a:rPr lang="en-US" dirty="0"/>
              <a:t>Director of Engineering at </a:t>
            </a:r>
            <a:r>
              <a:rPr lang="en-US" dirty="0">
                <a:hlinkClick r:id="rId3"/>
              </a:rPr>
              <a:t>Lean </a:t>
            </a:r>
            <a:r>
              <a:rPr lang="en-US" dirty="0" err="1">
                <a:hlinkClick r:id="rId3"/>
              </a:rPr>
              <a:t>TECHniques</a:t>
            </a:r>
            <a:endParaRPr lang="en-US" dirty="0"/>
          </a:p>
          <a:p>
            <a:r>
              <a:rPr lang="en-US" dirty="0">
                <a:hlinkClick r:id="rId4"/>
              </a:rPr>
              <a:t>Microsoft MVP</a:t>
            </a:r>
            <a:endParaRPr lang="en-US" dirty="0"/>
          </a:p>
          <a:p>
            <a:r>
              <a:rPr lang="en-US" dirty="0" err="1">
                <a:hlinkClick r:id="rId5"/>
              </a:rPr>
              <a:t>Dometrain</a:t>
            </a:r>
            <a:r>
              <a:rPr lang="en-US" dirty="0">
                <a:hlinkClick r:id="rId5"/>
              </a:rPr>
              <a:t> Author</a:t>
            </a:r>
            <a:endParaRPr lang="en-US" dirty="0"/>
          </a:p>
          <a:p>
            <a:r>
              <a:rPr lang="en-US" dirty="0"/>
              <a:t>Redgate Community Ambassador</a:t>
            </a:r>
          </a:p>
          <a:p>
            <a:r>
              <a:rPr lang="en-US" dirty="0"/>
              <a:t>Co-organizer of </a:t>
            </a:r>
            <a:r>
              <a:rPr lang="en-US" dirty="0">
                <a:hlinkClick r:id="rId6"/>
              </a:rPr>
              <a:t>Iowa .NET User Group</a:t>
            </a:r>
            <a:endParaRPr lang="en-US" dirty="0"/>
          </a:p>
          <a:p>
            <a:r>
              <a:rPr lang="en-US" dirty="0"/>
              <a:t>Used Blazor, Angular, or React since 2015</a:t>
            </a:r>
            <a:endParaRPr lang="en-US" dirty="0">
              <a:hlinkClick r:id="rId7"/>
            </a:endParaRPr>
          </a:p>
        </p:txBody>
      </p:sp>
      <p:pic>
        <p:nvPicPr>
          <p:cNvPr id="5" name="Picture 2">
            <a:extLst>
              <a:ext uri="{FF2B5EF4-FFF2-40B4-BE49-F238E27FC236}">
                <a16:creationId xmlns:a16="http://schemas.microsoft.com/office/drawing/2014/main" id="{E7CC776C-DC3F-D0B5-5231-4112653EFC3B}"/>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rot="21540000">
            <a:off x="8953197" y="5113237"/>
            <a:ext cx="2584299" cy="158934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E6AE3F5-A57F-F976-3F78-41D6E87C255F}"/>
              </a:ext>
            </a:extLst>
          </p:cNvPr>
          <p:cNvPicPr>
            <a:picLocks noChangeAspect="1"/>
          </p:cNvPicPr>
          <p:nvPr/>
        </p:nvPicPr>
        <p:blipFill>
          <a:blip r:embed="rId9"/>
          <a:stretch>
            <a:fillRect/>
          </a:stretch>
        </p:blipFill>
        <p:spPr>
          <a:xfrm>
            <a:off x="824793" y="4873944"/>
            <a:ext cx="2017351" cy="2017351"/>
          </a:xfrm>
          <a:prstGeom prst="rect">
            <a:avLst/>
          </a:prstGeom>
        </p:spPr>
      </p:pic>
      <p:pic>
        <p:nvPicPr>
          <p:cNvPr id="7" name="Picture 2" descr="Microsoft MVP Communities (@MVPAward) / X">
            <a:extLst>
              <a:ext uri="{FF2B5EF4-FFF2-40B4-BE49-F238E27FC236}">
                <a16:creationId xmlns:a16="http://schemas.microsoft.com/office/drawing/2014/main" id="{C67B11EE-26D8-F622-00D3-C0E2B30A304D}"/>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144204" y="5131620"/>
            <a:ext cx="1502000" cy="15020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Courses crafted for the real world - Dometrain">
            <a:extLst>
              <a:ext uri="{FF2B5EF4-FFF2-40B4-BE49-F238E27FC236}">
                <a16:creationId xmlns:a16="http://schemas.microsoft.com/office/drawing/2014/main" id="{64A20FB0-C1F9-33B8-D3BE-E1825A53CA81}"/>
              </a:ext>
            </a:extLst>
          </p:cNvPr>
          <p:cNvPicPr>
            <a:picLocks noChangeAspect="1" noChangeArrowheads="1"/>
          </p:cNvPicPr>
          <p:nvPr/>
        </p:nvPicPr>
        <p:blipFill rotWithShape="1">
          <a:blip r:embed="rId11" cstate="print">
            <a:extLst>
              <a:ext uri="{28A0092B-C50C-407E-A947-70E740481C1C}">
                <a14:useLocalDpi xmlns:a14="http://schemas.microsoft.com/office/drawing/2010/main" val="0"/>
              </a:ext>
            </a:extLst>
          </a:blip>
          <a:srcRect l="17033" r="17323"/>
          <a:stretch/>
        </p:blipFill>
        <p:spPr bwMode="auto">
          <a:xfrm>
            <a:off x="5058153" y="5131619"/>
            <a:ext cx="1885907" cy="150825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Directory | Redgate Software">
            <a:extLst>
              <a:ext uri="{FF2B5EF4-FFF2-40B4-BE49-F238E27FC236}">
                <a16:creationId xmlns:a16="http://schemas.microsoft.com/office/drawing/2014/main" id="{E3052ACE-16D8-EE1A-A393-F0760EDE4763}"/>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7369875" y="5141606"/>
            <a:ext cx="1117569" cy="1492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5307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fade">
                                      <p:cBhvr>
                                        <p:cTn id="31"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par>
                                <p:cTn id="32" presetID="10" presetClass="entr" presetSubtype="0"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
                                            <p:txEl>
                                              <p:pRg st="4" end="4"/>
                                            </p:txEl>
                                          </p:spTgt>
                                        </p:tgtEl>
                                        <p:attrNameLst>
                                          <p:attrName>style.visibility</p:attrName>
                                        </p:attrNameLst>
                                      </p:cBhvr>
                                      <p:to>
                                        <p:strVal val="visible"/>
                                      </p:to>
                                    </p:set>
                                    <p:animEffect transition="in" filter="fade">
                                      <p:cBhvr>
                                        <p:cTn id="39"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
                                            <p:txEl>
                                              <p:pRg st="5" end="5"/>
                                            </p:txEl>
                                          </p:spTgt>
                                        </p:tgtEl>
                                        <p:attrNameLst>
                                          <p:attrName>style.visibility</p:attrName>
                                        </p:attrNameLst>
                                      </p:cBhvr>
                                      <p:to>
                                        <p:strVal val="visible"/>
                                      </p:to>
                                    </p:set>
                                    <p:animEffect transition="in" filter="fade">
                                      <p:cBhvr>
                                        <p:cTn id="44"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par>
                                <p:cTn id="45" presetID="10" presetClass="entr" presetSubtype="0" fill="hold" nodeType="with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Why do we write tests?</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We want confidence our application works</a:t>
            </a:r>
          </a:p>
          <a:p>
            <a:r>
              <a:rPr lang="en-US" dirty="0"/>
              <a:t>Minimize manual verification</a:t>
            </a:r>
          </a:p>
          <a:p>
            <a:r>
              <a:rPr lang="en-US" dirty="0"/>
              <a:t>Document behavior through tests</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85417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is TDD?</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Picture 2">
            <a:extLst>
              <a:ext uri="{FF2B5EF4-FFF2-40B4-BE49-F238E27FC236}">
                <a16:creationId xmlns:a16="http://schemas.microsoft.com/office/drawing/2014/main" id="{7DFC0D24-D455-A020-8583-AA0B1D9FCE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09124" y="1739900"/>
            <a:ext cx="3800475" cy="4752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65821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is TDD?</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Methodology for writing code (not just tests)</a:t>
            </a:r>
          </a:p>
          <a:p>
            <a:r>
              <a:rPr lang="en-US" dirty="0"/>
              <a:t>You write the test BEFORE you write the production code</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40618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How to TDD?</a:t>
            </a:r>
          </a:p>
        </p:txBody>
      </p:sp>
      <p:sp>
        <p:nvSpPr>
          <p:cNvPr id="3" name="Content Placeholder 2"/>
          <p:cNvSpPr>
            <a:spLocks noGrp="1"/>
          </p:cNvSpPr>
          <p:nvPr>
            <p:ph idx="1"/>
          </p:nvPr>
        </p:nvSpPr>
        <p:spPr>
          <a:xfrm>
            <a:off x="838199" y="1825624"/>
            <a:ext cx="11263175" cy="4779637"/>
          </a:xfrm>
        </p:spPr>
        <p:txBody>
          <a:bodyPr>
            <a:normAutofit/>
          </a:bodyPr>
          <a:lstStyle/>
          <a:p>
            <a:pPr marL="514350" indent="-514350">
              <a:buAutoNum type="arabicPeriod"/>
            </a:pPr>
            <a:r>
              <a:rPr lang="en-US" dirty="0"/>
              <a:t>Think</a:t>
            </a:r>
          </a:p>
          <a:p>
            <a:pPr marL="514350" indent="-514350">
              <a:buAutoNum type="arabicPeriod"/>
            </a:pPr>
            <a:r>
              <a:rPr lang="en-US" dirty="0"/>
              <a:t>Write a test that describes the behavior you want to see</a:t>
            </a:r>
          </a:p>
          <a:p>
            <a:pPr marL="514350" indent="-514350">
              <a:buAutoNum type="arabicPeriod"/>
            </a:pPr>
            <a:r>
              <a:rPr lang="en-US" dirty="0"/>
              <a:t>Run the test and watch it fail </a:t>
            </a:r>
            <a:r>
              <a:rPr lang="en-US" i="1" dirty="0"/>
              <a:t>for the right reason</a:t>
            </a:r>
          </a:p>
          <a:p>
            <a:pPr marL="514350" indent="-514350">
              <a:buAutoNum type="arabicPeriod"/>
            </a:pPr>
            <a:r>
              <a:rPr lang="en-US" dirty="0"/>
              <a:t>Write code to make it pass</a:t>
            </a:r>
          </a:p>
          <a:p>
            <a:pPr marL="514350" indent="-514350">
              <a:buAutoNum type="arabicPeriod"/>
            </a:pPr>
            <a:r>
              <a:rPr lang="en-US" dirty="0"/>
              <a:t>Refactor</a:t>
            </a:r>
          </a:p>
          <a:p>
            <a:pPr marL="514350" indent="-514350">
              <a:buAutoNum type="arabicPeriod"/>
            </a:pPr>
            <a:r>
              <a:rPr lang="en-US" dirty="0"/>
              <a:t>Repeat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10801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How to TDD?</a:t>
            </a:r>
          </a:p>
        </p:txBody>
      </p:sp>
      <p:pic>
        <p:nvPicPr>
          <p:cNvPr id="3" name="Picture 6" descr="What is Test Driven Development (TDD)? – Kaizenko">
            <a:extLst>
              <a:ext uri="{FF2B5EF4-FFF2-40B4-BE49-F238E27FC236}">
                <a16:creationId xmlns:a16="http://schemas.microsoft.com/office/drawing/2014/main" id="{3D992B7F-4A2C-E8C9-551E-3E8185EF25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94701" y="1600253"/>
            <a:ext cx="6353175" cy="4629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57008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BB283152-FBC1-C977-C049-07878CAA1033}"/>
              </a:ext>
            </a:extLst>
          </p:cNvPr>
          <p:cNvSpPr>
            <a:spLocks noChangeArrowheads="1"/>
          </p:cNvSpPr>
          <p:nvPr/>
        </p:nvSpPr>
        <p:spPr bwMode="auto">
          <a:xfrm>
            <a:off x="741680" y="1420247"/>
            <a:ext cx="11002907" cy="4647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6500" b="1" dirty="0">
                <a:solidFill>
                  <a:srgbClr val="FFFFFF"/>
                </a:solidFill>
              </a:rPr>
              <a:t>“</a:t>
            </a:r>
            <a:r>
              <a:rPr kumimoji="0" lang="en-US" altLang="en-US" sz="6500" b="1" i="0" u="none" strike="noStrike" cap="none" normalizeH="0" baseline="0" dirty="0">
                <a:ln>
                  <a:noFill/>
                </a:ln>
                <a:solidFill>
                  <a:srgbClr val="FFFFFF"/>
                </a:solidFill>
                <a:effectLst/>
              </a:rPr>
              <a:t>If you haven’t seen a test fail, you don’t know if it works.”    </a:t>
            </a:r>
            <a:endParaRPr kumimoji="0" lang="en-US" altLang="en-US" sz="65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000" b="1" i="0" u="none" strike="noStrike" cap="none" normalizeH="0" baseline="0" dirty="0">
                <a:ln>
                  <a:noFill/>
                </a:ln>
                <a:solidFill>
                  <a:srgbClr val="FFFFFF"/>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3000" b="1" dirty="0">
              <a:solidFill>
                <a:srgbClr val="FFFFFF"/>
              </a:solidFill>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dirty="0">
                <a:ln>
                  <a:noFill/>
                </a:ln>
                <a:solidFill>
                  <a:schemeClr val="tx1"/>
                </a:solidFill>
                <a:effectLst/>
              </a:rPr>
            </a:b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000" b="1" i="0" u="none" strike="noStrike" cap="none" normalizeH="0" baseline="0" dirty="0">
                <a:ln>
                  <a:noFill/>
                </a:ln>
                <a:solidFill>
                  <a:srgbClr val="FFFFFF"/>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3000" b="1" dirty="0">
                <a:solidFill>
                  <a:srgbClr val="FFFFFF"/>
                </a:solidFill>
              </a:rPr>
              <a:t>						     </a:t>
            </a:r>
            <a:r>
              <a:rPr kumimoji="0" lang="en-US" altLang="en-US" sz="3600" b="1" i="0" u="none" strike="noStrike" cap="none" normalizeH="0" baseline="0" dirty="0">
                <a:ln>
                  <a:noFill/>
                </a:ln>
                <a:solidFill>
                  <a:srgbClr val="FFFFFF"/>
                </a:solidFill>
                <a:effectLst/>
              </a:rPr>
              <a:t>Eric Evans</a:t>
            </a:r>
            <a:endParaRPr kumimoji="0" lang="en-US" altLang="en-US" sz="3600" b="0" i="0" u="none" strike="noStrike" cap="none" normalizeH="0" baseline="0" dirty="0">
              <a:ln>
                <a:noFill/>
              </a:ln>
              <a:solidFill>
                <a:schemeClr val="tx1"/>
              </a:solidFill>
              <a:effectLst/>
            </a:endParaRPr>
          </a:p>
        </p:txBody>
      </p:sp>
      <p:pic>
        <p:nvPicPr>
          <p:cNvPr id="1026" name="Picture 2">
            <a:extLst>
              <a:ext uri="{FF2B5EF4-FFF2-40B4-BE49-F238E27FC236}">
                <a16:creationId xmlns:a16="http://schemas.microsoft.com/office/drawing/2014/main" id="{92449862-2455-B2FF-E8BF-E9600AFBAD33}"/>
              </a:ext>
            </a:extLst>
          </p:cNvPr>
          <p:cNvPicPr>
            <a:picLocks noChangeAspect="1" noChangeArrowheads="1"/>
          </p:cNvPicPr>
          <p:nvPr/>
        </p:nvPicPr>
        <p:blipFill>
          <a:blip r:embed="rId3">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593503" y="3612874"/>
            <a:ext cx="4547683" cy="34619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3434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Why Test Driven Development?</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Work in small steps (minimizes waste, minimizes WIP)</a:t>
            </a:r>
          </a:p>
          <a:p>
            <a:r>
              <a:rPr lang="en-US" dirty="0"/>
              <a:t>Focus</a:t>
            </a:r>
          </a:p>
          <a:p>
            <a:r>
              <a:rPr lang="en-US" dirty="0"/>
              <a:t>Much less time in the debugger</a:t>
            </a:r>
          </a:p>
          <a:p>
            <a:r>
              <a:rPr lang="en-US" dirty="0"/>
              <a:t>Thinking through failure states</a:t>
            </a:r>
          </a:p>
          <a:p>
            <a:r>
              <a:rPr lang="en-US" dirty="0"/>
              <a:t>Confidence</a:t>
            </a:r>
          </a:p>
          <a:p>
            <a:r>
              <a:rPr lang="en-US" dirty="0"/>
              <a:t>Design feedback, hard to write test? Design might be wrong</a:t>
            </a:r>
          </a:p>
          <a:p>
            <a:r>
              <a:rPr lang="en-US" dirty="0"/>
              <a:t>Oh yeah… regression tests are nice too</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70335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subTnLst>
                                    <p:animClr clrSpc="rgb" dir="cw">
                                      <p:cBhvr override="childStyle">
                                        <p:cTn dur="1" fill="hold" display="0" masterRel="nextClick" afterEffect="1"/>
                                        <p:tgtEl>
                                          <p:spTgt spid="3">
                                            <p:txEl>
                                              <p:pRg st="6" end="6"/>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is NOT TDD?</a:t>
            </a:r>
          </a:p>
        </p:txBody>
      </p:sp>
      <p:sp>
        <p:nvSpPr>
          <p:cNvPr id="3" name="Content Placeholder 2"/>
          <p:cNvSpPr>
            <a:spLocks noGrp="1"/>
          </p:cNvSpPr>
          <p:nvPr>
            <p:ph idx="1"/>
          </p:nvPr>
        </p:nvSpPr>
        <p:spPr>
          <a:xfrm>
            <a:off x="838200" y="1825625"/>
            <a:ext cx="10515600" cy="4749836"/>
          </a:xfrm>
        </p:spPr>
        <p:txBody>
          <a:bodyPr>
            <a:normAutofit/>
          </a:bodyPr>
          <a:lstStyle/>
          <a:p>
            <a:r>
              <a:rPr lang="en-US" dirty="0"/>
              <a:t>TDD is NOT a synonym for writing tests</a:t>
            </a:r>
          </a:p>
          <a:p>
            <a:r>
              <a:rPr lang="en-US" dirty="0"/>
              <a:t>TDD is NOT writing multiple tests up front before writing any production code</a:t>
            </a:r>
          </a:p>
          <a:p>
            <a:r>
              <a:rPr lang="en-US" dirty="0"/>
              <a:t>TDD does NOT mean no bugs ever (just less)</a:t>
            </a:r>
          </a:p>
          <a:p>
            <a:r>
              <a:rPr lang="en-US" dirty="0"/>
              <a:t>TDD is not good for adding tests to existing production code</a:t>
            </a:r>
          </a:p>
          <a:p>
            <a:r>
              <a:rPr lang="en-US" dirty="0"/>
              <a:t>TDD zealots do more harm than good</a:t>
            </a:r>
          </a:p>
        </p:txBody>
      </p:sp>
      <p:grpSp>
        <p:nvGrpSpPr>
          <p:cNvPr id="4" name="Group 3">
            <a:extLst>
              <a:ext uri="{FF2B5EF4-FFF2-40B4-BE49-F238E27FC236}">
                <a16:creationId xmlns:a16="http://schemas.microsoft.com/office/drawing/2014/main" id="{62B5E2B8-6DB5-E579-DCF6-CEA0B73209AC}"/>
              </a:ext>
            </a:extLst>
          </p:cNvPr>
          <p:cNvGrpSpPr/>
          <p:nvPr/>
        </p:nvGrpSpPr>
        <p:grpSpPr>
          <a:xfrm>
            <a:off x="9970651" y="6185410"/>
            <a:ext cx="2130724" cy="474323"/>
            <a:chOff x="9970651" y="6185410"/>
            <a:chExt cx="2130724" cy="474323"/>
          </a:xfrm>
        </p:grpSpPr>
        <p:sp>
          <p:nvSpPr>
            <p:cNvPr id="5" name="Subtitle 2">
              <a:extLst>
                <a:ext uri="{FF2B5EF4-FFF2-40B4-BE49-F238E27FC236}">
                  <a16:creationId xmlns:a16="http://schemas.microsoft.com/office/drawing/2014/main" id="{39E6DB0C-F73B-398E-DF73-1948DD15BB43}"/>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6" name="Rectangle 5">
              <a:extLst>
                <a:ext uri="{FF2B5EF4-FFF2-40B4-BE49-F238E27FC236}">
                  <a16:creationId xmlns:a16="http://schemas.microsoft.com/office/drawing/2014/main" id="{32CF94CF-02D6-634F-37FE-EDC871002EE5}"/>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66889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A6A6A6"/>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A6A6A6"/>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A6A6A6"/>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A6A6A6"/>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A6A6A6"/>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Applying TDD</a:t>
            </a:r>
            <a:br>
              <a:rPr lang="en-US" sz="10000" dirty="0">
                <a:solidFill>
                  <a:schemeClr val="bg1"/>
                </a:solidFill>
                <a:latin typeface="+mn-lt"/>
              </a:rPr>
            </a:br>
            <a:r>
              <a:rPr lang="en-US" sz="10000" dirty="0">
                <a:solidFill>
                  <a:schemeClr val="bg1"/>
                </a:solidFill>
                <a:latin typeface="+mn-lt"/>
              </a:rPr>
              <a:t>to </a:t>
            </a:r>
            <a:r>
              <a:rPr lang="en-US" sz="10000" dirty="0" err="1">
                <a:solidFill>
                  <a:schemeClr val="bg1"/>
                </a:solidFill>
                <a:latin typeface="+mn-lt"/>
              </a:rPr>
              <a:t>Blazor</a:t>
            </a:r>
            <a:endParaRPr lang="en-US" sz="10000" dirty="0">
              <a:solidFill>
                <a:schemeClr val="bg1"/>
              </a:solidFill>
              <a:latin typeface="+mn-lt"/>
            </a:endParaRPr>
          </a:p>
        </p:txBody>
      </p:sp>
      <p:pic>
        <p:nvPicPr>
          <p:cNvPr id="3" name="Picture 2" descr="Bootstrap+Blazor essentials - DEV Community">
            <a:extLst>
              <a:ext uri="{FF2B5EF4-FFF2-40B4-BE49-F238E27FC236}">
                <a16:creationId xmlns:a16="http://schemas.microsoft.com/office/drawing/2014/main" id="{E9E2DD8B-906A-F3DA-F26B-92BFA379BB24}"/>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14115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Introduction to Tools</a:t>
            </a:r>
          </a:p>
        </p:txBody>
      </p:sp>
      <p:sp>
        <p:nvSpPr>
          <p:cNvPr id="3" name="Content Placeholder 2"/>
          <p:cNvSpPr>
            <a:spLocks noGrp="1"/>
          </p:cNvSpPr>
          <p:nvPr>
            <p:ph idx="1"/>
          </p:nvPr>
        </p:nvSpPr>
        <p:spPr>
          <a:xfrm>
            <a:off x="838199" y="1825624"/>
            <a:ext cx="11263175" cy="4779637"/>
          </a:xfrm>
        </p:spPr>
        <p:txBody>
          <a:bodyPr>
            <a:normAutofit/>
          </a:bodyPr>
          <a:lstStyle/>
          <a:p>
            <a:r>
              <a:rPr lang="en-US" dirty="0" err="1"/>
              <a:t>xUnit</a:t>
            </a:r>
            <a:endParaRPr lang="en-US" dirty="0"/>
          </a:p>
          <a:p>
            <a:r>
              <a:rPr lang="en-US" dirty="0" err="1"/>
              <a:t>Shouldly</a:t>
            </a:r>
            <a:endParaRPr lang="en-US" dirty="0"/>
          </a:p>
          <a:p>
            <a:r>
              <a:rPr lang="en-US" dirty="0" err="1"/>
              <a:t>bUnit</a:t>
            </a:r>
            <a:endParaRPr lang="en-US" dirty="0"/>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232639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xUnit</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Test framework</a:t>
            </a:r>
          </a:p>
          <a:p>
            <a:r>
              <a:rPr lang="en-US" dirty="0"/>
              <a:t>Used by Microsoft to test .NET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11531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B5E7855-536D-EC33-3FC5-996C20955F27}"/>
              </a:ext>
            </a:extLst>
          </p:cNvPr>
          <p:cNvPicPr>
            <a:picLocks noChangeAspect="1"/>
          </p:cNvPicPr>
          <p:nvPr/>
        </p:nvPicPr>
        <p:blipFill>
          <a:blip r:embed="rId3"/>
          <a:stretch>
            <a:fillRect/>
          </a:stretch>
        </p:blipFill>
        <p:spPr>
          <a:xfrm>
            <a:off x="1827279" y="1815611"/>
            <a:ext cx="9332704" cy="4244875"/>
          </a:xfrm>
          <a:prstGeom prst="rect">
            <a:avLst/>
          </a:prstGeom>
        </p:spPr>
      </p:pic>
      <p:sp>
        <p:nvSpPr>
          <p:cNvPr id="2" name="Title 1"/>
          <p:cNvSpPr>
            <a:spLocks noGrp="1"/>
          </p:cNvSpPr>
          <p:nvPr>
            <p:ph type="title"/>
          </p:nvPr>
        </p:nvSpPr>
        <p:spPr/>
        <p:txBody>
          <a:bodyPr/>
          <a:lstStyle/>
          <a:p>
            <a:r>
              <a:rPr lang="en-US" dirty="0" err="1">
                <a:solidFill>
                  <a:schemeClr val="bg1">
                    <a:lumMod val="65000"/>
                  </a:schemeClr>
                </a:solidFill>
              </a:rPr>
              <a:t>xUnit</a:t>
            </a:r>
            <a:endParaRPr lang="en-US" dirty="0">
              <a:solidFill>
                <a:schemeClr val="bg1">
                  <a:lumMod val="65000"/>
                </a:schemeClr>
              </a:solidFill>
            </a:endParaRP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 name="Straight Arrow Connector 11">
            <a:extLst>
              <a:ext uri="{FF2B5EF4-FFF2-40B4-BE49-F238E27FC236}">
                <a16:creationId xmlns:a16="http://schemas.microsoft.com/office/drawing/2014/main" id="{3E49E464-5756-DBE1-B14C-E105000E5BB7}"/>
              </a:ext>
            </a:extLst>
          </p:cNvPr>
          <p:cNvCxnSpPr>
            <a:cxnSpLocks/>
          </p:cNvCxnSpPr>
          <p:nvPr/>
        </p:nvCxnSpPr>
        <p:spPr>
          <a:xfrm>
            <a:off x="763674" y="2017228"/>
            <a:ext cx="1166972"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443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Shouldly</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Assertion library</a:t>
            </a:r>
          </a:p>
          <a:p>
            <a:r>
              <a:rPr lang="en-US" dirty="0"/>
              <a:t>~80M downloads on NuGet</a:t>
            </a:r>
          </a:p>
          <a:p>
            <a:r>
              <a:rPr lang="en-US" dirty="0"/>
              <a:t>Cleaner assertions</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9634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Shouldly</a:t>
            </a:r>
            <a:endParaRPr lang="en-US" dirty="0">
              <a:solidFill>
                <a:schemeClr val="bg1">
                  <a:lumMod val="65000"/>
                </a:schemeClr>
              </a:solidFill>
            </a:endParaRP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C6873F79-420F-6537-BB60-8EADEE0D2E87}"/>
              </a:ext>
            </a:extLst>
          </p:cNvPr>
          <p:cNvPicPr>
            <a:picLocks noChangeAspect="1"/>
          </p:cNvPicPr>
          <p:nvPr/>
        </p:nvPicPr>
        <p:blipFill>
          <a:blip r:embed="rId4"/>
          <a:stretch>
            <a:fillRect/>
          </a:stretch>
        </p:blipFill>
        <p:spPr>
          <a:xfrm>
            <a:off x="1827279" y="1815611"/>
            <a:ext cx="9332704" cy="4244875"/>
          </a:xfrm>
          <a:prstGeom prst="rect">
            <a:avLst/>
          </a:prstGeom>
        </p:spPr>
      </p:pic>
      <p:cxnSp>
        <p:nvCxnSpPr>
          <p:cNvPr id="3" name="Straight Arrow Connector 2">
            <a:extLst>
              <a:ext uri="{FF2B5EF4-FFF2-40B4-BE49-F238E27FC236}">
                <a16:creationId xmlns:a16="http://schemas.microsoft.com/office/drawing/2014/main" id="{361687FD-3599-F627-FBEA-4C50E40495B0}"/>
              </a:ext>
            </a:extLst>
          </p:cNvPr>
          <p:cNvCxnSpPr>
            <a:cxnSpLocks/>
          </p:cNvCxnSpPr>
          <p:nvPr/>
        </p:nvCxnSpPr>
        <p:spPr>
          <a:xfrm>
            <a:off x="1153287" y="5485695"/>
            <a:ext cx="1166972"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56324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bUnit</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Helper library for testing </a:t>
            </a:r>
            <a:r>
              <a:rPr lang="en-US" dirty="0" err="1"/>
              <a:t>Blazor</a:t>
            </a:r>
            <a:endParaRPr lang="en-US" dirty="0"/>
          </a:p>
          <a:p>
            <a:r>
              <a:rPr lang="en-US" dirty="0"/>
              <a:t>Renders components</a:t>
            </a:r>
          </a:p>
          <a:p>
            <a:r>
              <a:rPr lang="en-US" dirty="0"/>
              <a:t>Queries for the DOM</a:t>
            </a:r>
          </a:p>
          <a:p>
            <a:r>
              <a:rPr lang="en-US" dirty="0"/>
              <a:t>Inject fake dependencies</a:t>
            </a:r>
          </a:p>
          <a:p>
            <a:r>
              <a:rPr lang="en-US" dirty="0"/>
              <a:t>Fakes for various things (i.e. </a:t>
            </a:r>
            <a:r>
              <a:rPr lang="en-US" dirty="0" err="1"/>
              <a:t>NavigationManager</a:t>
            </a:r>
            <a:r>
              <a:rPr lang="en-US" dirty="0"/>
              <a: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32304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1A88828-5E33-19A7-AA3C-C2CCE39C4CA5}"/>
              </a:ext>
            </a:extLst>
          </p:cNvPr>
          <p:cNvPicPr>
            <a:picLocks noChangeAspect="1"/>
          </p:cNvPicPr>
          <p:nvPr/>
        </p:nvPicPr>
        <p:blipFill>
          <a:blip r:embed="rId3"/>
          <a:stretch>
            <a:fillRect/>
          </a:stretch>
        </p:blipFill>
        <p:spPr>
          <a:xfrm>
            <a:off x="1827279" y="1815611"/>
            <a:ext cx="9332704" cy="4244875"/>
          </a:xfrm>
          <a:prstGeom prst="rect">
            <a:avLst/>
          </a:prstGeom>
        </p:spPr>
      </p:pic>
      <p:sp>
        <p:nvSpPr>
          <p:cNvPr id="2" name="Title 1"/>
          <p:cNvSpPr>
            <a:spLocks noGrp="1"/>
          </p:cNvSpPr>
          <p:nvPr>
            <p:ph type="title"/>
          </p:nvPr>
        </p:nvSpPr>
        <p:spPr/>
        <p:txBody>
          <a:bodyPr/>
          <a:lstStyle/>
          <a:p>
            <a:r>
              <a:rPr lang="en-US" dirty="0" err="1">
                <a:solidFill>
                  <a:schemeClr val="bg1">
                    <a:lumMod val="65000"/>
                  </a:schemeClr>
                </a:solidFill>
              </a:rPr>
              <a:t>bUnit</a:t>
            </a:r>
            <a:endParaRPr lang="en-US" dirty="0">
              <a:solidFill>
                <a:schemeClr val="bg1">
                  <a:lumMod val="65000"/>
                </a:schemeClr>
              </a:solidFill>
            </a:endParaRP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9774468E-00A8-CC5E-4A6B-AC60D7499755}"/>
              </a:ext>
            </a:extLst>
          </p:cNvPr>
          <p:cNvSpPr/>
          <p:nvPr/>
        </p:nvSpPr>
        <p:spPr>
          <a:xfrm>
            <a:off x="2170446" y="2813538"/>
            <a:ext cx="8989537" cy="2513836"/>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00669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should I test?</a:t>
            </a:r>
          </a:p>
        </p:txBody>
      </p:sp>
      <p:sp>
        <p:nvSpPr>
          <p:cNvPr id="3" name="Content Placeholder 2"/>
          <p:cNvSpPr>
            <a:spLocks noGrp="1"/>
          </p:cNvSpPr>
          <p:nvPr>
            <p:ph idx="1"/>
          </p:nvPr>
        </p:nvSpPr>
        <p:spPr>
          <a:xfrm>
            <a:off x="838199" y="1825624"/>
            <a:ext cx="11263175" cy="5032376"/>
          </a:xfrm>
        </p:spPr>
        <p:txBody>
          <a:bodyPr>
            <a:normAutofit/>
          </a:bodyPr>
          <a:lstStyle/>
          <a:p>
            <a:r>
              <a:rPr lang="en-US" dirty="0"/>
              <a:t>Behavior</a:t>
            </a:r>
          </a:p>
          <a:p>
            <a:r>
              <a:rPr lang="en-US" dirty="0"/>
              <a:t>Not that CSS classes exist or any other attributes directly exist</a:t>
            </a:r>
          </a:p>
          <a:p>
            <a:r>
              <a:rPr lang="en-US" dirty="0"/>
              <a:t>You can’t prove your app looks good with tests</a:t>
            </a:r>
          </a:p>
          <a:p>
            <a:r>
              <a:rPr lang="en-US" dirty="0"/>
              <a:t>Behavior</a:t>
            </a:r>
          </a:p>
          <a:p>
            <a:r>
              <a:rPr lang="en-US" dirty="0"/>
              <a:t>If I can delete code that breaks your app, but your tests don’t – that’s a problem</a:t>
            </a:r>
          </a:p>
          <a:p>
            <a:r>
              <a:rPr lang="en-US" dirty="0"/>
              <a:t>If my tests break but my application isn’t broken - that’s a problem</a:t>
            </a:r>
          </a:p>
          <a:p>
            <a:pPr lvl="1"/>
            <a:r>
              <a:rPr lang="en-US" dirty="0"/>
              <a:t>Flaky Test?</a:t>
            </a:r>
          </a:p>
          <a:p>
            <a:pPr lvl="1"/>
            <a:r>
              <a:rPr lang="en-US" dirty="0"/>
              <a:t>Implementation detail?</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333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subTnLst>
                                    <p:animClr clrSpc="rgb" dir="cw">
                                      <p:cBhvr override="childStyle">
                                        <p:cTn dur="1" fill="hold" display="0" masterRel="nextClick" afterEffect="1"/>
                                        <p:tgtEl>
                                          <p:spTgt spid="3">
                                            <p:txEl>
                                              <p:pRg st="6" end="6"/>
                                            </p:txEl>
                                          </p:spTgt>
                                        </p:tgtEl>
                                        <p:attrNameLst>
                                          <p:attrName>ppt_c</p:attrName>
                                        </p:attrNameLst>
                                      </p:cBhvr>
                                      <p:to>
                                        <a:srgbClr val="B2B2B2"/>
                                      </p:to>
                                    </p:animClr>
                                  </p:subTnLst>
                                </p:cTn>
                              </p:par>
                              <p:par>
                                <p:cTn id="36" presetID="10" presetClass="entr" presetSubtype="0" fill="hold" grpId="0"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500"/>
                                        <p:tgtEl>
                                          <p:spTgt spid="3">
                                            <p:txEl>
                                              <p:pRg st="7" end="7"/>
                                            </p:txEl>
                                          </p:spTgt>
                                        </p:tgtEl>
                                      </p:cBhvr>
                                    </p:animEffect>
                                  </p:childTnLst>
                                  <p:subTnLst>
                                    <p:animClr clrSpc="rgb" dir="cw">
                                      <p:cBhvr override="childStyle">
                                        <p:cTn dur="1" fill="hold" display="0" masterRel="nextClick" afterEffect="1"/>
                                        <p:tgtEl>
                                          <p:spTgt spid="3">
                                            <p:txEl>
                                              <p:pRg st="7" end="7"/>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 name="Picture 9">
            <a:extLst>
              <a:ext uri="{FF2B5EF4-FFF2-40B4-BE49-F238E27FC236}">
                <a16:creationId xmlns:a16="http://schemas.microsoft.com/office/drawing/2014/main" id="{AB2A7FE8-B853-F131-B77C-9ECEA24EBB72}"/>
              </a:ext>
            </a:extLst>
          </p:cNvPr>
          <p:cNvPicPr>
            <a:picLocks noChangeAspect="1"/>
          </p:cNvPicPr>
          <p:nvPr/>
        </p:nvPicPr>
        <p:blipFill>
          <a:blip r:embed="rId4"/>
          <a:stretch>
            <a:fillRect/>
          </a:stretch>
        </p:blipFill>
        <p:spPr>
          <a:xfrm>
            <a:off x="1466715" y="810952"/>
            <a:ext cx="6944694" cy="3467584"/>
          </a:xfrm>
          <a:prstGeom prst="rect">
            <a:avLst/>
          </a:prstGeom>
        </p:spPr>
      </p:pic>
      <p:sp>
        <p:nvSpPr>
          <p:cNvPr id="2" name="Title 1"/>
          <p:cNvSpPr>
            <a:spLocks noGrp="1"/>
          </p:cNvSpPr>
          <p:nvPr>
            <p:ph type="title"/>
          </p:nvPr>
        </p:nvSpPr>
        <p:spPr>
          <a:xfrm>
            <a:off x="1466715" y="2644745"/>
            <a:ext cx="8720937" cy="3467584"/>
          </a:xfrm>
        </p:spPr>
        <p:txBody>
          <a:bodyPr>
            <a:normAutofit/>
          </a:body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br>
              <a:rPr lang="en-US" sz="2400" dirty="0">
                <a:solidFill>
                  <a:schemeClr val="bg1">
                    <a:lumMod val="65000"/>
                  </a:schemeClr>
                </a:solidFill>
                <a:latin typeface="+mn-lt"/>
              </a:rPr>
            </a:br>
            <a:r>
              <a:rPr lang="en-US" sz="2800" dirty="0">
                <a:latin typeface="+mn-lt"/>
              </a:rPr>
              <a:t>Current Count is an implementation detail, not behavior</a:t>
            </a: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3450652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a:extLst>
              <a:ext uri="{FF2B5EF4-FFF2-40B4-BE49-F238E27FC236}">
                <a16:creationId xmlns:a16="http://schemas.microsoft.com/office/drawing/2014/main" id="{F9BC5333-8ECE-EB3E-0AB7-043D0B14ECEF}"/>
              </a:ext>
            </a:extLst>
          </p:cNvPr>
          <p:cNvPicPr>
            <a:picLocks noChangeAspect="1"/>
          </p:cNvPicPr>
          <p:nvPr/>
        </p:nvPicPr>
        <p:blipFill>
          <a:blip r:embed="rId4"/>
          <a:stretch>
            <a:fillRect/>
          </a:stretch>
        </p:blipFill>
        <p:spPr>
          <a:xfrm>
            <a:off x="1446619" y="861717"/>
            <a:ext cx="8083519" cy="3465576"/>
          </a:xfrm>
          <a:prstGeom prst="rect">
            <a:avLst/>
          </a:prstGeom>
        </p:spPr>
      </p:pic>
      <p:sp>
        <p:nvSpPr>
          <p:cNvPr id="2" name="Title 1"/>
          <p:cNvSpPr>
            <a:spLocks noGrp="1"/>
          </p:cNvSpPr>
          <p:nvPr>
            <p:ph type="title"/>
          </p:nvPr>
        </p:nvSpPr>
        <p:spPr>
          <a:xfrm>
            <a:off x="1466715" y="2644745"/>
            <a:ext cx="8720937" cy="3467584"/>
          </a:xfrm>
        </p:spPr>
        <p:txBody>
          <a:bodyPr>
            <a:normAutofit/>
          </a:body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br>
              <a:rPr lang="en-US" sz="2400" dirty="0">
                <a:solidFill>
                  <a:schemeClr val="bg1">
                    <a:lumMod val="65000"/>
                  </a:schemeClr>
                </a:solidFill>
                <a:latin typeface="+mn-lt"/>
              </a:rPr>
            </a:br>
            <a:r>
              <a:rPr lang="en-US" sz="2800" dirty="0">
                <a:latin typeface="+mn-lt"/>
              </a:rPr>
              <a:t>The HTML  is an implementation detail, not behavior</a:t>
            </a: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1532397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E66949D-4A29-8A13-E77A-BD8EB9C49C5F}"/>
              </a:ext>
            </a:extLst>
          </p:cNvPr>
          <p:cNvPicPr>
            <a:picLocks noChangeAspect="1"/>
          </p:cNvPicPr>
          <p:nvPr/>
        </p:nvPicPr>
        <p:blipFill>
          <a:blip r:embed="rId3"/>
          <a:stretch>
            <a:fillRect/>
          </a:stretch>
        </p:blipFill>
        <p:spPr>
          <a:xfrm>
            <a:off x="1466714" y="445273"/>
            <a:ext cx="8486927" cy="3860183"/>
          </a:xfrm>
          <a:prstGeom prst="rect">
            <a:avLst/>
          </a:prstGeom>
        </p:spPr>
      </p:pic>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itle 1">
            <a:extLst>
              <a:ext uri="{FF2B5EF4-FFF2-40B4-BE49-F238E27FC236}">
                <a16:creationId xmlns:a16="http://schemas.microsoft.com/office/drawing/2014/main" id="{A007C0E2-0F27-1F92-FBA8-5923C1CCF770}"/>
              </a:ext>
            </a:extLst>
          </p:cNvPr>
          <p:cNvSpPr txBox="1">
            <a:spLocks/>
          </p:cNvSpPr>
          <p:nvPr/>
        </p:nvSpPr>
        <p:spPr>
          <a:xfrm>
            <a:off x="1466715" y="2644745"/>
            <a:ext cx="8720937" cy="34675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br>
              <a:rPr lang="en-US" sz="2400" dirty="0">
                <a:solidFill>
                  <a:schemeClr val="bg1">
                    <a:lumMod val="65000"/>
                  </a:schemeClr>
                </a:solidFill>
                <a:latin typeface="+mn-lt"/>
              </a:rPr>
            </a:br>
            <a:r>
              <a:rPr lang="en-US" sz="2800" dirty="0">
                <a:latin typeface="+mn-lt"/>
              </a:rPr>
              <a:t>This is the behavior you care about!</a:t>
            </a: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73176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up 1">
            <a:extLst>
              <a:ext uri="{FF2B5EF4-FFF2-40B4-BE49-F238E27FC236}">
                <a16:creationId xmlns:a16="http://schemas.microsoft.com/office/drawing/2014/main" id="{5F7F7958-544D-5CAE-9C35-6D64AFDAAA78}"/>
              </a:ext>
            </a:extLst>
          </p:cNvPr>
          <p:cNvGrpSpPr/>
          <p:nvPr/>
        </p:nvGrpSpPr>
        <p:grpSpPr>
          <a:xfrm>
            <a:off x="2450813" y="3333179"/>
            <a:ext cx="8720937" cy="4476992"/>
            <a:chOff x="1064141" y="1042154"/>
            <a:chExt cx="8720937" cy="4476992"/>
          </a:xfrm>
        </p:grpSpPr>
        <p:pic>
          <p:nvPicPr>
            <p:cNvPr id="7" name="Picture 6">
              <a:extLst>
                <a:ext uri="{FF2B5EF4-FFF2-40B4-BE49-F238E27FC236}">
                  <a16:creationId xmlns:a16="http://schemas.microsoft.com/office/drawing/2014/main" id="{4ACC0E85-103C-AE60-7D9C-6D041BA41A50}"/>
                </a:ext>
              </a:extLst>
            </p:cNvPr>
            <p:cNvPicPr>
              <a:picLocks noChangeAspect="1"/>
            </p:cNvPicPr>
            <p:nvPr/>
          </p:nvPicPr>
          <p:blipFill>
            <a:blip r:embed="rId4"/>
            <a:stretch>
              <a:fillRect/>
            </a:stretch>
          </p:blipFill>
          <p:spPr>
            <a:xfrm>
              <a:off x="1157513" y="1042154"/>
              <a:ext cx="6227064" cy="2743200"/>
            </a:xfrm>
            <a:prstGeom prst="rect">
              <a:avLst/>
            </a:prstGeom>
          </p:spPr>
        </p:pic>
        <p:sp>
          <p:nvSpPr>
            <p:cNvPr id="10" name="Title 1">
              <a:extLst>
                <a:ext uri="{FF2B5EF4-FFF2-40B4-BE49-F238E27FC236}">
                  <a16:creationId xmlns:a16="http://schemas.microsoft.com/office/drawing/2014/main" id="{A007C0E2-0F27-1F92-FBA8-5923C1CCF770}"/>
                </a:ext>
              </a:extLst>
            </p:cNvPr>
            <p:cNvSpPr txBox="1">
              <a:spLocks/>
            </p:cNvSpPr>
            <p:nvPr/>
          </p:nvSpPr>
          <p:spPr>
            <a:xfrm>
              <a:off x="1064141" y="2051562"/>
              <a:ext cx="8720937" cy="34675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endParaRPr lang="en-US" sz="2800" dirty="0">
                <a:solidFill>
                  <a:schemeClr val="bg1">
                    <a:lumMod val="65000"/>
                  </a:schemeClr>
                </a:solidFill>
                <a:latin typeface="+mn-lt"/>
              </a:endParaRPr>
            </a:p>
          </p:txBody>
        </p:sp>
      </p:grpSp>
      <p:pic>
        <p:nvPicPr>
          <p:cNvPr id="3" name="Picture 2">
            <a:extLst>
              <a:ext uri="{FF2B5EF4-FFF2-40B4-BE49-F238E27FC236}">
                <a16:creationId xmlns:a16="http://schemas.microsoft.com/office/drawing/2014/main" id="{30B400E3-A835-A281-1BF8-2124019BCE09}"/>
              </a:ext>
            </a:extLst>
          </p:cNvPr>
          <p:cNvPicPr>
            <a:picLocks noChangeAspect="1"/>
          </p:cNvPicPr>
          <p:nvPr/>
        </p:nvPicPr>
        <p:blipFill>
          <a:blip r:embed="rId5"/>
          <a:stretch>
            <a:fillRect/>
          </a:stretch>
        </p:blipFill>
        <p:spPr>
          <a:xfrm>
            <a:off x="0" y="257811"/>
            <a:ext cx="5493936" cy="2743200"/>
          </a:xfrm>
          <a:prstGeom prst="rect">
            <a:avLst/>
          </a:prstGeom>
        </p:spPr>
      </p:pic>
      <p:sp>
        <p:nvSpPr>
          <p:cNvPr id="4" name="Title 1">
            <a:extLst>
              <a:ext uri="{FF2B5EF4-FFF2-40B4-BE49-F238E27FC236}">
                <a16:creationId xmlns:a16="http://schemas.microsoft.com/office/drawing/2014/main" id="{4D89D62C-DD49-47A9-E539-8BEDD77A0B0C}"/>
              </a:ext>
            </a:extLst>
          </p:cNvPr>
          <p:cNvSpPr>
            <a:spLocks noGrp="1"/>
          </p:cNvSpPr>
          <p:nvPr>
            <p:ph type="title"/>
          </p:nvPr>
        </p:nvSpPr>
        <p:spPr>
          <a:xfrm>
            <a:off x="-100483" y="1142549"/>
            <a:ext cx="8720937" cy="3467584"/>
          </a:xfrm>
        </p:spPr>
        <p:txBody>
          <a:bodyPr>
            <a:normAutofit/>
          </a:bodyPr>
          <a:lstStyle/>
          <a:p>
            <a:r>
              <a:rPr lang="en-US" sz="2400" dirty="0">
                <a:solidFill>
                  <a:schemeClr val="bg1">
                    <a:lumMod val="65000"/>
                  </a:schemeClr>
                </a:solidFill>
                <a:latin typeface="+mn-lt"/>
              </a:rPr>
              <a:t>❌</a:t>
            </a:r>
            <a:br>
              <a:rPr lang="en-US" sz="2400" dirty="0">
                <a:solidFill>
                  <a:schemeClr val="bg1">
                    <a:lumMod val="65000"/>
                  </a:schemeClr>
                </a:solidFill>
                <a:latin typeface="+mn-lt"/>
              </a:rPr>
            </a:br>
            <a:endParaRPr lang="en-US" sz="2800" dirty="0">
              <a:solidFill>
                <a:schemeClr val="bg1">
                  <a:lumMod val="65000"/>
                </a:schemeClr>
              </a:solidFill>
              <a:latin typeface="+mn-lt"/>
            </a:endParaRPr>
          </a:p>
        </p:txBody>
      </p:sp>
      <p:pic>
        <p:nvPicPr>
          <p:cNvPr id="5" name="Picture 4">
            <a:extLst>
              <a:ext uri="{FF2B5EF4-FFF2-40B4-BE49-F238E27FC236}">
                <a16:creationId xmlns:a16="http://schemas.microsoft.com/office/drawing/2014/main" id="{F1EEEA22-05ED-ADBC-1BC8-3F3622048F2A}"/>
              </a:ext>
            </a:extLst>
          </p:cNvPr>
          <p:cNvPicPr>
            <a:picLocks noChangeAspect="1"/>
          </p:cNvPicPr>
          <p:nvPr/>
        </p:nvPicPr>
        <p:blipFill>
          <a:blip r:embed="rId6"/>
          <a:stretch>
            <a:fillRect/>
          </a:stretch>
        </p:blipFill>
        <p:spPr>
          <a:xfrm>
            <a:off x="5657717" y="279936"/>
            <a:ext cx="6398564" cy="2743200"/>
          </a:xfrm>
          <a:prstGeom prst="rect">
            <a:avLst/>
          </a:prstGeom>
        </p:spPr>
      </p:pic>
      <p:sp>
        <p:nvSpPr>
          <p:cNvPr id="11" name="Title 1">
            <a:extLst>
              <a:ext uri="{FF2B5EF4-FFF2-40B4-BE49-F238E27FC236}">
                <a16:creationId xmlns:a16="http://schemas.microsoft.com/office/drawing/2014/main" id="{860BC049-6206-7793-702D-7D4357E3A248}"/>
              </a:ext>
            </a:extLst>
          </p:cNvPr>
          <p:cNvSpPr txBox="1">
            <a:spLocks/>
          </p:cNvSpPr>
          <p:nvPr/>
        </p:nvSpPr>
        <p:spPr>
          <a:xfrm>
            <a:off x="5550295" y="1217219"/>
            <a:ext cx="5701842" cy="34675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11217602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8" y="1391478"/>
            <a:ext cx="12209669" cy="4343400"/>
          </a:xfrm>
        </p:spPr>
        <p:txBody>
          <a:bodyPr>
            <a:normAutofit/>
          </a:bodyPr>
          <a:lstStyle/>
          <a:p>
            <a:pPr algn="ctr"/>
            <a:r>
              <a:rPr lang="en-US" sz="6000" dirty="0">
                <a:solidFill>
                  <a:schemeClr val="bg1"/>
                </a:solidFill>
                <a:latin typeface="+mn-lt"/>
              </a:rPr>
              <a:t>“The more your tests resemble the way your software is used the more confidence they can give you.”</a:t>
            </a:r>
            <a:br>
              <a:rPr lang="en-US" sz="5200" dirty="0">
                <a:solidFill>
                  <a:schemeClr val="bg1"/>
                </a:solidFill>
                <a:latin typeface="+mn-lt"/>
              </a:rPr>
            </a:br>
            <a:br>
              <a:rPr lang="en-US" sz="5200" dirty="0">
                <a:solidFill>
                  <a:schemeClr val="bg1"/>
                </a:solidFill>
                <a:latin typeface="+mn-lt"/>
              </a:rPr>
            </a:br>
            <a:endParaRPr lang="en-US" sz="4000" dirty="0">
              <a:solidFill>
                <a:schemeClr val="bg1"/>
              </a:solidFill>
              <a:latin typeface="+mn-lt"/>
            </a:endParaRPr>
          </a:p>
        </p:txBody>
      </p:sp>
      <p:sp>
        <p:nvSpPr>
          <p:cNvPr id="6" name="Title 1">
            <a:extLst>
              <a:ext uri="{FF2B5EF4-FFF2-40B4-BE49-F238E27FC236}">
                <a16:creationId xmlns:a16="http://schemas.microsoft.com/office/drawing/2014/main" id="{45B3AC00-E78B-86A9-776B-19CF9B4BE935}"/>
              </a:ext>
            </a:extLst>
          </p:cNvPr>
          <p:cNvSpPr txBox="1">
            <a:spLocks/>
          </p:cNvSpPr>
          <p:nvPr/>
        </p:nvSpPr>
        <p:spPr>
          <a:xfrm>
            <a:off x="-135414" y="4757388"/>
            <a:ext cx="10065477" cy="195801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3600" dirty="0">
                <a:solidFill>
                  <a:schemeClr val="accent1">
                    <a:lumMod val="40000"/>
                    <a:lumOff val="60000"/>
                  </a:schemeClr>
                </a:solidFill>
                <a:latin typeface="+mn-lt"/>
              </a:rPr>
              <a:t>Kent C </a:t>
            </a:r>
            <a:r>
              <a:rPr lang="en-US" sz="3600" dirty="0" err="1">
                <a:solidFill>
                  <a:schemeClr val="accent1">
                    <a:lumMod val="40000"/>
                    <a:lumOff val="60000"/>
                  </a:schemeClr>
                </a:solidFill>
                <a:latin typeface="+mn-lt"/>
              </a:rPr>
              <a:t>Dodds</a:t>
            </a:r>
            <a:endParaRPr lang="en-US" sz="3600" dirty="0">
              <a:solidFill>
                <a:schemeClr val="accent1">
                  <a:lumMod val="40000"/>
                  <a:lumOff val="60000"/>
                </a:schemeClr>
              </a:solidFill>
              <a:latin typeface="+mn-lt"/>
            </a:endParaRPr>
          </a:p>
          <a:p>
            <a:pPr algn="r"/>
            <a:br>
              <a:rPr lang="en-US" sz="1600" dirty="0">
                <a:solidFill>
                  <a:schemeClr val="accent1">
                    <a:lumMod val="40000"/>
                    <a:lumOff val="60000"/>
                  </a:schemeClr>
                </a:solidFill>
                <a:latin typeface="+mn-lt"/>
              </a:rPr>
            </a:br>
            <a:r>
              <a:rPr lang="en-US" sz="1600" dirty="0">
                <a:solidFill>
                  <a:schemeClr val="accent1">
                    <a:lumMod val="40000"/>
                    <a:lumOff val="60000"/>
                  </a:schemeClr>
                </a:solidFill>
                <a:latin typeface="+mn-lt"/>
              </a:rPr>
              <a:t>react-testing-library creator</a:t>
            </a:r>
          </a:p>
        </p:txBody>
      </p:sp>
      <p:pic>
        <p:nvPicPr>
          <p:cNvPr id="1028" name="Picture 4">
            <a:extLst>
              <a:ext uri="{FF2B5EF4-FFF2-40B4-BE49-F238E27FC236}">
                <a16:creationId xmlns:a16="http://schemas.microsoft.com/office/drawing/2014/main" id="{0E92FAAB-144B-84D2-CA2D-22D4C092F2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71074" y="4138863"/>
            <a:ext cx="2719137" cy="2719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61166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should I NOT test?</a:t>
            </a:r>
          </a:p>
        </p:txBody>
      </p:sp>
      <p:sp>
        <p:nvSpPr>
          <p:cNvPr id="3" name="Content Placeholder 2"/>
          <p:cNvSpPr>
            <a:spLocks noGrp="1"/>
          </p:cNvSpPr>
          <p:nvPr>
            <p:ph idx="1"/>
          </p:nvPr>
        </p:nvSpPr>
        <p:spPr>
          <a:xfrm>
            <a:off x="838199" y="1825624"/>
            <a:ext cx="11263175" cy="5032376"/>
          </a:xfrm>
        </p:spPr>
        <p:txBody>
          <a:bodyPr>
            <a:normAutofit/>
          </a:bodyPr>
          <a:lstStyle/>
          <a:p>
            <a:r>
              <a:rPr lang="en-US" dirty="0"/>
              <a:t>You can’t test if your app looks good – so </a:t>
            </a:r>
            <a:r>
              <a:rPr lang="en-US"/>
              <a:t>don’t test CSS</a:t>
            </a:r>
            <a:endParaRPr lang="en-US" dirty="0"/>
          </a:p>
          <a:p>
            <a:r>
              <a:rPr lang="en-US" dirty="0"/>
              <a:t>Do NOT test implementation details</a:t>
            </a:r>
          </a:p>
          <a:p>
            <a:r>
              <a:rPr lang="en-US" dirty="0"/>
              <a:t>Avoid using </a:t>
            </a:r>
            <a:r>
              <a:rPr lang="en-US" dirty="0" err="1"/>
              <a:t>MarkupMatches</a:t>
            </a:r>
            <a:r>
              <a:rPr lang="en-US" dirty="0"/>
              <a:t> for applications</a:t>
            </a:r>
          </a:p>
          <a:p>
            <a:r>
              <a:rPr lang="en-US" dirty="0"/>
              <a:t>Too many implementation details (i.e. classes, DOM nodes, etc.)</a:t>
            </a:r>
          </a:p>
          <a:p>
            <a:r>
              <a:rPr lang="en-US" dirty="0"/>
              <a:t>Avoid using .Instance for applications</a:t>
            </a:r>
          </a:p>
          <a:p>
            <a:r>
              <a:rPr lang="en-US" dirty="0"/>
              <a:t>Too many implementation details (i.e. Property, Methods, etc.)</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14592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Avoid snapshot tests (like Verify)</a:t>
            </a:r>
          </a:p>
        </p:txBody>
      </p:sp>
      <p:sp>
        <p:nvSpPr>
          <p:cNvPr id="3" name="Content Placeholder 2"/>
          <p:cNvSpPr>
            <a:spLocks noGrp="1"/>
          </p:cNvSpPr>
          <p:nvPr>
            <p:ph idx="1"/>
          </p:nvPr>
        </p:nvSpPr>
        <p:spPr>
          <a:xfrm>
            <a:off x="838199" y="1825624"/>
            <a:ext cx="11263175" cy="5032376"/>
          </a:xfrm>
        </p:spPr>
        <p:txBody>
          <a:bodyPr>
            <a:normAutofit/>
          </a:bodyPr>
          <a:lstStyle/>
          <a:p>
            <a:r>
              <a:rPr lang="en-US" dirty="0"/>
              <a:t>Avoid using snapshots for your </a:t>
            </a:r>
            <a:r>
              <a:rPr lang="en-US" dirty="0" err="1"/>
              <a:t>Blazor</a:t>
            </a:r>
            <a:r>
              <a:rPr lang="en-US" dirty="0"/>
              <a:t> components… (mostly)</a:t>
            </a:r>
          </a:p>
          <a:p>
            <a:r>
              <a:rPr lang="en-US" dirty="0"/>
              <a:t>Snapshots don’t capture desired behavior</a:t>
            </a:r>
          </a:p>
          <a:p>
            <a:r>
              <a:rPr lang="en-US" dirty="0"/>
              <a:t>Too many implementation details (i.e. classes, DOM nodes, etc.)</a:t>
            </a:r>
          </a:p>
          <a:p>
            <a:r>
              <a:rPr lang="en-US" dirty="0"/>
              <a:t>Results in I see people start blindly accepting changes </a:t>
            </a:r>
          </a:p>
          <a:p>
            <a:r>
              <a:rPr lang="en-US" dirty="0"/>
              <a:t>Can’t TDD it because it relies on the final output</a:t>
            </a:r>
          </a:p>
          <a:p>
            <a:r>
              <a:rPr lang="en-US" dirty="0"/>
              <a:t>Only use snapshots when doing a total refactor but output should be the same</a:t>
            </a:r>
          </a:p>
          <a:p>
            <a:r>
              <a:rPr lang="en-US" dirty="0"/>
              <a:t>Then delete the test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26613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subTnLst>
                                    <p:animClr clrSpc="rgb" dir="cw">
                                      <p:cBhvr override="childStyle">
                                        <p:cTn dur="1" fill="hold" display="0" masterRel="nextClick" afterEffect="1"/>
                                        <p:tgtEl>
                                          <p:spTgt spid="3">
                                            <p:txEl>
                                              <p:pRg st="6" end="6"/>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Live Coding!</a:t>
            </a:r>
          </a:p>
        </p:txBody>
      </p:sp>
      <p:pic>
        <p:nvPicPr>
          <p:cNvPr id="3" name="Picture 2" descr="Bootstrap+Blazor essentials - DEV Community">
            <a:extLst>
              <a:ext uri="{FF2B5EF4-FFF2-40B4-BE49-F238E27FC236}">
                <a16:creationId xmlns:a16="http://schemas.microsoft.com/office/drawing/2014/main" id="{A22EF284-3473-628A-F45D-443967773296}"/>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8483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E7171-AFDD-4862-9A69-284665CD3345}"/>
              </a:ext>
            </a:extLst>
          </p:cNvPr>
          <p:cNvSpPr>
            <a:spLocks noGrp="1"/>
          </p:cNvSpPr>
          <p:nvPr>
            <p:ph type="ctrTitle"/>
          </p:nvPr>
        </p:nvSpPr>
        <p:spPr>
          <a:xfrm>
            <a:off x="0" y="0"/>
            <a:ext cx="12192000" cy="6858000"/>
          </a:xfrm>
        </p:spPr>
        <p:txBody>
          <a:bodyPr anchor="ctr">
            <a:normAutofit/>
          </a:bodyPr>
          <a:lstStyle/>
          <a:p>
            <a:r>
              <a:rPr lang="en-US" sz="9600" b="1" dirty="0">
                <a:solidFill>
                  <a:schemeClr val="bg1"/>
                </a:solidFill>
                <a:latin typeface="+mn-lt"/>
                <a:ea typeface="Open Sans" panose="020B0606030504020204" pitchFamily="34" charset="0"/>
                <a:cs typeface="Open Sans" panose="020B0606030504020204" pitchFamily="34" charset="0"/>
              </a:rPr>
              <a:t>Slight TDD Detour</a:t>
            </a:r>
          </a:p>
        </p:txBody>
      </p:sp>
    </p:spTree>
    <p:extLst>
      <p:ext uri="{BB962C8B-B14F-4D97-AF65-F5344CB8AC3E}">
        <p14:creationId xmlns:p14="http://schemas.microsoft.com/office/powerpoint/2010/main" val="36256424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2AC5399C-C18B-8ED5-EBB5-0C7409165845}"/>
              </a:ext>
            </a:extLst>
          </p:cNvPr>
          <p:cNvPicPr>
            <a:picLocks noChangeAspect="1" noChangeArrowheads="1"/>
          </p:cNvPicPr>
          <p:nvPr/>
        </p:nvPicPr>
        <p:blipFill>
          <a:blip r:embed="rId3">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042502" y="3090833"/>
            <a:ext cx="3767167" cy="3767167"/>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ACEB5D41-28A2-6A8B-02C8-131D45C6B954}"/>
              </a:ext>
            </a:extLst>
          </p:cNvPr>
          <p:cNvSpPr>
            <a:spLocks noGrp="1"/>
          </p:cNvSpPr>
          <p:nvPr>
            <p:ph type="ctrTitle"/>
          </p:nvPr>
        </p:nvSpPr>
        <p:spPr>
          <a:xfrm>
            <a:off x="192946" y="1346752"/>
            <a:ext cx="11568419" cy="5439941"/>
          </a:xfrm>
        </p:spPr>
        <p:txBody>
          <a:bodyPr>
            <a:no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4800" b="1" i="0" u="none" strike="noStrike" cap="none" normalizeH="0" baseline="0" dirty="0">
                <a:ln>
                  <a:noFill/>
                </a:ln>
                <a:solidFill>
                  <a:srgbClr val="FFFFFF"/>
                </a:solidFill>
                <a:effectLst/>
                <a:latin typeface="+mn-lt"/>
              </a:rPr>
              <a:t>“Remove everything that has no relevance to the story. If you say in the first chapter that there is a rifle hanging on the wall, in the second or third chapter it absolutely must go off. If it's not going to be fired, </a:t>
            </a:r>
            <a:br>
              <a:rPr kumimoji="0" lang="en-US" altLang="en-US" sz="4800" b="1" i="0" u="none" strike="noStrike" cap="none" normalizeH="0" baseline="0" dirty="0">
                <a:ln>
                  <a:noFill/>
                </a:ln>
                <a:solidFill>
                  <a:srgbClr val="FFFFFF"/>
                </a:solidFill>
                <a:effectLst/>
                <a:latin typeface="+mn-lt"/>
              </a:rPr>
            </a:br>
            <a:r>
              <a:rPr kumimoji="0" lang="en-US" altLang="en-US" sz="4800" b="1" i="0" u="none" strike="noStrike" cap="none" normalizeH="0" baseline="0" dirty="0">
                <a:ln>
                  <a:noFill/>
                </a:ln>
                <a:solidFill>
                  <a:srgbClr val="FFFFFF"/>
                </a:solidFill>
                <a:effectLst/>
                <a:latin typeface="+mn-lt"/>
              </a:rPr>
              <a:t>it shouldn't be hanging there.”</a:t>
            </a:r>
            <a:br>
              <a:rPr kumimoji="0" lang="en-US" altLang="en-US" sz="4800" b="1" i="0" u="none" strike="noStrike" cap="none" normalizeH="0" baseline="0" dirty="0">
                <a:ln>
                  <a:noFill/>
                </a:ln>
                <a:solidFill>
                  <a:srgbClr val="FFFFFF"/>
                </a:solidFill>
                <a:effectLst/>
                <a:latin typeface="+mn-lt"/>
              </a:rPr>
            </a:br>
            <a:br>
              <a:rPr kumimoji="0" lang="en-US" altLang="en-US" sz="4800" b="1" i="0" u="none" strike="noStrike" cap="none" normalizeH="0" baseline="0" dirty="0">
                <a:ln>
                  <a:noFill/>
                </a:ln>
                <a:solidFill>
                  <a:srgbClr val="FFFFFF"/>
                </a:solidFill>
                <a:effectLst/>
                <a:latin typeface="+mn-lt"/>
              </a:rPr>
            </a:br>
            <a:r>
              <a:rPr kumimoji="0" lang="en-US" altLang="en-US" sz="4800" b="1" i="0" u="none" strike="noStrike" cap="none" normalizeH="0" baseline="0" dirty="0">
                <a:ln>
                  <a:noFill/>
                </a:ln>
                <a:solidFill>
                  <a:srgbClr val="FFFFFF"/>
                </a:solidFill>
                <a:effectLst/>
                <a:latin typeface="+mn-lt"/>
              </a:rPr>
              <a:t>						</a:t>
            </a:r>
            <a:r>
              <a:rPr kumimoji="0" lang="en-US" altLang="en-US" sz="3600" b="1" i="0" u="none" strike="noStrike" cap="none" normalizeH="0" baseline="0" dirty="0">
                <a:ln>
                  <a:noFill/>
                </a:ln>
                <a:solidFill>
                  <a:srgbClr val="FFFFFF"/>
                </a:solidFill>
                <a:effectLst/>
                <a:latin typeface="+mn-lt"/>
              </a:rPr>
              <a:t>Anton Chekhov</a:t>
            </a:r>
          </a:p>
        </p:txBody>
      </p:sp>
    </p:spTree>
    <p:extLst>
      <p:ext uri="{BB962C8B-B14F-4D97-AF65-F5344CB8AC3E}">
        <p14:creationId xmlns:p14="http://schemas.microsoft.com/office/powerpoint/2010/main" val="2027956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6" name="Picture 5">
            <a:extLst>
              <a:ext uri="{FF2B5EF4-FFF2-40B4-BE49-F238E27FC236}">
                <a16:creationId xmlns:a16="http://schemas.microsoft.com/office/drawing/2014/main" id="{934CAD4D-5CAA-7960-E810-A844A566C04B}"/>
              </a:ext>
            </a:extLst>
          </p:cNvPr>
          <p:cNvPicPr>
            <a:picLocks noChangeAspect="1"/>
          </p:cNvPicPr>
          <p:nvPr/>
        </p:nvPicPr>
        <p:blipFill>
          <a:blip r:embed="rId3"/>
          <a:stretch>
            <a:fillRect/>
          </a:stretch>
        </p:blipFill>
        <p:spPr>
          <a:xfrm>
            <a:off x="838200" y="1628017"/>
            <a:ext cx="9922865" cy="3958834"/>
          </a:xfrm>
          <a:prstGeom prst="rect">
            <a:avLst/>
          </a:prstGeom>
        </p:spPr>
      </p:pic>
      <p:grpSp>
        <p:nvGrpSpPr>
          <p:cNvPr id="7" name="Group 6">
            <a:extLst>
              <a:ext uri="{FF2B5EF4-FFF2-40B4-BE49-F238E27FC236}">
                <a16:creationId xmlns:a16="http://schemas.microsoft.com/office/drawing/2014/main" id="{72B0E343-A635-9CD5-971D-3E2603B71959}"/>
              </a:ext>
            </a:extLst>
          </p:cNvPr>
          <p:cNvGrpSpPr/>
          <p:nvPr/>
        </p:nvGrpSpPr>
        <p:grpSpPr>
          <a:xfrm>
            <a:off x="9970651" y="6185410"/>
            <a:ext cx="2130724" cy="474323"/>
            <a:chOff x="9970651" y="6185410"/>
            <a:chExt cx="2130724" cy="474323"/>
          </a:xfrm>
        </p:grpSpPr>
        <p:sp>
          <p:nvSpPr>
            <p:cNvPr id="8" name="Subtitle 2">
              <a:extLst>
                <a:ext uri="{FF2B5EF4-FFF2-40B4-BE49-F238E27FC236}">
                  <a16:creationId xmlns:a16="http://schemas.microsoft.com/office/drawing/2014/main" id="{A9F98D58-55FB-1ACB-4A6B-B6B72BA233E2}"/>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9" name="Rectangle 8">
              <a:extLst>
                <a:ext uri="{FF2B5EF4-FFF2-40B4-BE49-F238E27FC236}">
                  <a16:creationId xmlns:a16="http://schemas.microsoft.com/office/drawing/2014/main" id="{D0BCC9F9-5874-40C7-442E-8640C6DEC092}"/>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B44CAB4F-2FC2-9B45-C397-D8D7B19EB025}"/>
              </a:ext>
            </a:extLst>
          </p:cNvPr>
          <p:cNvSpPr/>
          <p:nvPr/>
        </p:nvSpPr>
        <p:spPr>
          <a:xfrm>
            <a:off x="1518687" y="3170583"/>
            <a:ext cx="1686683" cy="273327"/>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0444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heel(1)">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3" name="Picture 2">
            <a:extLst>
              <a:ext uri="{FF2B5EF4-FFF2-40B4-BE49-F238E27FC236}">
                <a16:creationId xmlns:a16="http://schemas.microsoft.com/office/drawing/2014/main" id="{D8EFA6CD-6F12-A3AC-F9A6-A4C2854DAAAF}"/>
              </a:ext>
            </a:extLst>
          </p:cNvPr>
          <p:cNvPicPr>
            <a:picLocks noChangeAspect="1"/>
          </p:cNvPicPr>
          <p:nvPr/>
        </p:nvPicPr>
        <p:blipFill>
          <a:blip r:embed="rId3"/>
          <a:stretch>
            <a:fillRect/>
          </a:stretch>
        </p:blipFill>
        <p:spPr>
          <a:xfrm>
            <a:off x="838200" y="1623576"/>
            <a:ext cx="10759903" cy="3074259"/>
          </a:xfrm>
          <a:prstGeom prst="rect">
            <a:avLst/>
          </a:prstGeom>
        </p:spPr>
      </p:pic>
      <p:grpSp>
        <p:nvGrpSpPr>
          <p:cNvPr id="4" name="Group 3">
            <a:extLst>
              <a:ext uri="{FF2B5EF4-FFF2-40B4-BE49-F238E27FC236}">
                <a16:creationId xmlns:a16="http://schemas.microsoft.com/office/drawing/2014/main" id="{A1488E22-0CBC-98F8-82DC-D738CEB3FC6D}"/>
              </a:ext>
            </a:extLst>
          </p:cNvPr>
          <p:cNvGrpSpPr/>
          <p:nvPr/>
        </p:nvGrpSpPr>
        <p:grpSpPr>
          <a:xfrm>
            <a:off x="9970651" y="6185410"/>
            <a:ext cx="2130724" cy="474323"/>
            <a:chOff x="9970651" y="6185410"/>
            <a:chExt cx="2130724" cy="474323"/>
          </a:xfrm>
        </p:grpSpPr>
        <p:sp>
          <p:nvSpPr>
            <p:cNvPr id="5" name="Subtitle 2">
              <a:extLst>
                <a:ext uri="{FF2B5EF4-FFF2-40B4-BE49-F238E27FC236}">
                  <a16:creationId xmlns:a16="http://schemas.microsoft.com/office/drawing/2014/main" id="{5BB54C27-43DB-4533-302C-F5902CA3109B}"/>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7" name="Rectangle 6">
              <a:extLst>
                <a:ext uri="{FF2B5EF4-FFF2-40B4-BE49-F238E27FC236}">
                  <a16:creationId xmlns:a16="http://schemas.microsoft.com/office/drawing/2014/main" id="{5F6BD471-A3E3-D199-B949-D5B017809992}"/>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Rectangle 5">
            <a:extLst>
              <a:ext uri="{FF2B5EF4-FFF2-40B4-BE49-F238E27FC236}">
                <a16:creationId xmlns:a16="http://schemas.microsoft.com/office/drawing/2014/main" id="{94B2DC20-C933-590E-DDCA-B44BDD809D97}"/>
              </a:ext>
            </a:extLst>
          </p:cNvPr>
          <p:cNvSpPr/>
          <p:nvPr/>
        </p:nvSpPr>
        <p:spPr>
          <a:xfrm>
            <a:off x="1205605" y="2499128"/>
            <a:ext cx="4091952" cy="567094"/>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28365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4" name="Picture 3">
            <a:extLst>
              <a:ext uri="{FF2B5EF4-FFF2-40B4-BE49-F238E27FC236}">
                <a16:creationId xmlns:a16="http://schemas.microsoft.com/office/drawing/2014/main" id="{B83DB506-8488-902E-A355-AEE34B3001B1}"/>
              </a:ext>
            </a:extLst>
          </p:cNvPr>
          <p:cNvPicPr>
            <a:picLocks noChangeAspect="1"/>
          </p:cNvPicPr>
          <p:nvPr/>
        </p:nvPicPr>
        <p:blipFill>
          <a:blip r:embed="rId3"/>
          <a:stretch>
            <a:fillRect/>
          </a:stretch>
        </p:blipFill>
        <p:spPr>
          <a:xfrm>
            <a:off x="838200" y="1611237"/>
            <a:ext cx="11023432" cy="2751038"/>
          </a:xfrm>
          <a:prstGeom prst="rect">
            <a:avLst/>
          </a:prstGeom>
        </p:spPr>
      </p:pic>
      <p:grpSp>
        <p:nvGrpSpPr>
          <p:cNvPr id="5" name="Group 4">
            <a:extLst>
              <a:ext uri="{FF2B5EF4-FFF2-40B4-BE49-F238E27FC236}">
                <a16:creationId xmlns:a16="http://schemas.microsoft.com/office/drawing/2014/main" id="{BFA6246E-5D7B-6A3C-B02B-EAF2D15899C1}"/>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7277FBCD-4B61-1AF6-B039-7F24F9957C44}"/>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7" name="Rectangle 6">
              <a:extLst>
                <a:ext uri="{FF2B5EF4-FFF2-40B4-BE49-F238E27FC236}">
                  <a16:creationId xmlns:a16="http://schemas.microsoft.com/office/drawing/2014/main" id="{11521F5F-8E3C-F603-D1F9-C136B2D38A17}"/>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1EF68BA8-D627-7710-8750-BBBDA74540F9}"/>
              </a:ext>
            </a:extLst>
          </p:cNvPr>
          <p:cNvSpPr/>
          <p:nvPr/>
        </p:nvSpPr>
        <p:spPr>
          <a:xfrm>
            <a:off x="1205605" y="2499128"/>
            <a:ext cx="2807899" cy="2824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4498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heel(1)">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3" name="Picture 2">
            <a:extLst>
              <a:ext uri="{FF2B5EF4-FFF2-40B4-BE49-F238E27FC236}">
                <a16:creationId xmlns:a16="http://schemas.microsoft.com/office/drawing/2014/main" id="{86A79F40-B059-86EA-AABF-E72A68709CC1}"/>
              </a:ext>
            </a:extLst>
          </p:cNvPr>
          <p:cNvPicPr>
            <a:picLocks noChangeAspect="1"/>
          </p:cNvPicPr>
          <p:nvPr/>
        </p:nvPicPr>
        <p:blipFill>
          <a:blip r:embed="rId3"/>
          <a:stretch>
            <a:fillRect/>
          </a:stretch>
        </p:blipFill>
        <p:spPr>
          <a:xfrm>
            <a:off x="838200" y="1601665"/>
            <a:ext cx="11001743" cy="2801370"/>
          </a:xfrm>
          <a:prstGeom prst="rect">
            <a:avLst/>
          </a:prstGeom>
        </p:spPr>
      </p:pic>
      <p:grpSp>
        <p:nvGrpSpPr>
          <p:cNvPr id="6" name="Group 5">
            <a:extLst>
              <a:ext uri="{FF2B5EF4-FFF2-40B4-BE49-F238E27FC236}">
                <a16:creationId xmlns:a16="http://schemas.microsoft.com/office/drawing/2014/main" id="{F60C324A-0336-8155-AE49-0623B8858F76}"/>
              </a:ext>
            </a:extLst>
          </p:cNvPr>
          <p:cNvGrpSpPr/>
          <p:nvPr/>
        </p:nvGrpSpPr>
        <p:grpSpPr>
          <a:xfrm>
            <a:off x="9970651" y="6185410"/>
            <a:ext cx="2130724" cy="474323"/>
            <a:chOff x="9970651" y="6185410"/>
            <a:chExt cx="2130724" cy="474323"/>
          </a:xfrm>
        </p:grpSpPr>
        <p:sp>
          <p:nvSpPr>
            <p:cNvPr id="7" name="Subtitle 2">
              <a:extLst>
                <a:ext uri="{FF2B5EF4-FFF2-40B4-BE49-F238E27FC236}">
                  <a16:creationId xmlns:a16="http://schemas.microsoft.com/office/drawing/2014/main" id="{EC185816-8FF9-2116-E8E3-E5D035D36201}"/>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46D100CB-5CA3-7983-8B34-78566599AF24}"/>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Rectangle 3">
            <a:extLst>
              <a:ext uri="{FF2B5EF4-FFF2-40B4-BE49-F238E27FC236}">
                <a16:creationId xmlns:a16="http://schemas.microsoft.com/office/drawing/2014/main" id="{06F4DDA4-B4B2-B48B-6B3F-EC874C693E5B}"/>
              </a:ext>
            </a:extLst>
          </p:cNvPr>
          <p:cNvSpPr/>
          <p:nvPr/>
        </p:nvSpPr>
        <p:spPr>
          <a:xfrm>
            <a:off x="2607320" y="3063099"/>
            <a:ext cx="2035861" cy="326204"/>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12049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4" name="Picture 3">
            <a:extLst>
              <a:ext uri="{FF2B5EF4-FFF2-40B4-BE49-F238E27FC236}">
                <a16:creationId xmlns:a16="http://schemas.microsoft.com/office/drawing/2014/main" id="{BCFE5EDB-AF6C-8CF9-D389-D8EFA2212DBB}"/>
              </a:ext>
            </a:extLst>
          </p:cNvPr>
          <p:cNvPicPr>
            <a:picLocks noChangeAspect="1"/>
          </p:cNvPicPr>
          <p:nvPr/>
        </p:nvPicPr>
        <p:blipFill>
          <a:blip r:embed="rId3"/>
          <a:stretch>
            <a:fillRect/>
          </a:stretch>
        </p:blipFill>
        <p:spPr>
          <a:xfrm>
            <a:off x="838200" y="4278911"/>
            <a:ext cx="8719550" cy="2220256"/>
          </a:xfrm>
          <a:prstGeom prst="rect">
            <a:avLst/>
          </a:prstGeom>
        </p:spPr>
      </p:pic>
      <p:pic>
        <p:nvPicPr>
          <p:cNvPr id="5" name="Picture 4">
            <a:extLst>
              <a:ext uri="{FF2B5EF4-FFF2-40B4-BE49-F238E27FC236}">
                <a16:creationId xmlns:a16="http://schemas.microsoft.com/office/drawing/2014/main" id="{43B5AAC5-8D84-FFB0-AEE5-C90404C91709}"/>
              </a:ext>
            </a:extLst>
          </p:cNvPr>
          <p:cNvPicPr>
            <a:picLocks noChangeAspect="1"/>
          </p:cNvPicPr>
          <p:nvPr/>
        </p:nvPicPr>
        <p:blipFill>
          <a:blip r:embed="rId4"/>
          <a:stretch>
            <a:fillRect/>
          </a:stretch>
        </p:blipFill>
        <p:spPr>
          <a:xfrm>
            <a:off x="838200" y="1543480"/>
            <a:ext cx="6696017" cy="2671448"/>
          </a:xfrm>
          <a:prstGeom prst="rect">
            <a:avLst/>
          </a:prstGeom>
        </p:spPr>
      </p:pic>
      <p:grpSp>
        <p:nvGrpSpPr>
          <p:cNvPr id="9" name="Group 8">
            <a:extLst>
              <a:ext uri="{FF2B5EF4-FFF2-40B4-BE49-F238E27FC236}">
                <a16:creationId xmlns:a16="http://schemas.microsoft.com/office/drawing/2014/main" id="{5471CB04-EAAE-70B9-C4B5-D1B509942CD3}"/>
              </a:ext>
            </a:extLst>
          </p:cNvPr>
          <p:cNvGrpSpPr/>
          <p:nvPr/>
        </p:nvGrpSpPr>
        <p:grpSpPr>
          <a:xfrm>
            <a:off x="9970651" y="6185410"/>
            <a:ext cx="2130724" cy="474323"/>
            <a:chOff x="9970651" y="6185410"/>
            <a:chExt cx="2130724" cy="474323"/>
          </a:xfrm>
        </p:grpSpPr>
        <p:sp>
          <p:nvSpPr>
            <p:cNvPr id="10" name="Subtitle 2">
              <a:extLst>
                <a:ext uri="{FF2B5EF4-FFF2-40B4-BE49-F238E27FC236}">
                  <a16:creationId xmlns:a16="http://schemas.microsoft.com/office/drawing/2014/main" id="{47D04CDB-D5EF-9A88-3773-158096EDF173}"/>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11" name="Rectangle 10">
              <a:extLst>
                <a:ext uri="{FF2B5EF4-FFF2-40B4-BE49-F238E27FC236}">
                  <a16:creationId xmlns:a16="http://schemas.microsoft.com/office/drawing/2014/main" id="{68952D55-F743-8C72-6FAD-ED97609A0227}"/>
                </a:ext>
              </a:extLst>
            </p:cNvPr>
            <p:cNvSpPr/>
            <p:nvPr/>
          </p:nvSpPr>
          <p:spPr>
            <a:xfrm>
              <a:off x="9970651" y="6285411"/>
              <a:ext cx="347472" cy="274320"/>
            </a:xfrm>
            <a:prstGeom prst="rect">
              <a:avLst/>
            </a:prstGeom>
            <a:blipFill dpi="0" rotWithShape="1">
              <a:blip r:embed="rId5">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783091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E7171-AFDD-4862-9A69-284665CD3345}"/>
              </a:ext>
            </a:extLst>
          </p:cNvPr>
          <p:cNvSpPr>
            <a:spLocks noGrp="1"/>
          </p:cNvSpPr>
          <p:nvPr>
            <p:ph type="ctrTitle"/>
          </p:nvPr>
        </p:nvSpPr>
        <p:spPr>
          <a:xfrm>
            <a:off x="0" y="0"/>
            <a:ext cx="12192000" cy="6858000"/>
          </a:xfrm>
        </p:spPr>
        <p:txBody>
          <a:bodyPr anchor="ctr">
            <a:normAutofit/>
          </a:bodyPr>
          <a:lstStyle/>
          <a:p>
            <a:r>
              <a:rPr lang="en-US" sz="9600" b="1" dirty="0">
                <a:solidFill>
                  <a:schemeClr val="bg1"/>
                </a:solidFill>
                <a:latin typeface="+mn-lt"/>
                <a:ea typeface="Open Sans" panose="020B0606030504020204" pitchFamily="34" charset="0"/>
                <a:cs typeface="Open Sans" panose="020B0606030504020204" pitchFamily="34" charset="0"/>
              </a:rPr>
              <a:t>&lt;/ </a:t>
            </a:r>
            <a:r>
              <a:rPr lang="en-US" sz="9600" b="1" dirty="0" err="1">
                <a:solidFill>
                  <a:schemeClr val="bg1"/>
                </a:solidFill>
                <a:latin typeface="+mn-lt"/>
                <a:ea typeface="Open Sans" panose="020B0606030504020204" pitchFamily="34" charset="0"/>
                <a:cs typeface="Open Sans" panose="020B0606030504020204" pitchFamily="34" charset="0"/>
              </a:rPr>
              <a:t>ChekhovsGun</a:t>
            </a:r>
            <a:r>
              <a:rPr lang="en-US" sz="9600" b="1" dirty="0">
                <a:solidFill>
                  <a:schemeClr val="bg1"/>
                </a:solidFill>
                <a:latin typeface="+mn-lt"/>
                <a:ea typeface="Open Sans" panose="020B0606030504020204" pitchFamily="34" charset="0"/>
                <a:cs typeface="Open Sans" panose="020B0606030504020204" pitchFamily="34" charset="0"/>
              </a:rPr>
              <a:t>&gt;</a:t>
            </a:r>
          </a:p>
        </p:txBody>
      </p:sp>
    </p:spTree>
    <p:extLst>
      <p:ext uri="{BB962C8B-B14F-4D97-AF65-F5344CB8AC3E}">
        <p14:creationId xmlns:p14="http://schemas.microsoft.com/office/powerpoint/2010/main" val="8419518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bunit.web.query</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More ways to query the DOM that are less implementation specific</a:t>
            </a:r>
          </a:p>
          <a:p>
            <a:r>
              <a:rPr lang="en-US" dirty="0"/>
              <a:t>React Testing Library style</a:t>
            </a:r>
          </a:p>
          <a:p>
            <a:r>
              <a:rPr lang="en-US" dirty="0"/>
              <a:t>Queries promote A11y</a:t>
            </a:r>
          </a:p>
          <a:p>
            <a:r>
              <a:rPr lang="en-US" dirty="0"/>
              <a:t>More coming</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75994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Live Coding!</a:t>
            </a:r>
          </a:p>
        </p:txBody>
      </p:sp>
      <p:pic>
        <p:nvPicPr>
          <p:cNvPr id="3" name="Picture 2" descr="Bootstrap+Blazor essentials - DEV Community">
            <a:extLst>
              <a:ext uri="{FF2B5EF4-FFF2-40B4-BE49-F238E27FC236}">
                <a16:creationId xmlns:a16="http://schemas.microsoft.com/office/drawing/2014/main" id="{A22EF284-3473-628A-F45D-443967773296}"/>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65062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F80DC-2FBD-A527-9736-1B318E166B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D9C850-F6F2-FA50-8228-C0F98C127AA5}"/>
              </a:ext>
            </a:extLst>
          </p:cNvPr>
          <p:cNvSpPr>
            <a:spLocks noGrp="1"/>
          </p:cNvSpPr>
          <p:nvPr>
            <p:ph type="title"/>
          </p:nvPr>
        </p:nvSpPr>
        <p:spPr/>
        <p:txBody>
          <a:bodyPr/>
          <a:lstStyle/>
          <a:p>
            <a:r>
              <a:rPr lang="en-US" dirty="0">
                <a:solidFill>
                  <a:schemeClr val="bg1">
                    <a:lumMod val="65000"/>
                  </a:schemeClr>
                </a:solidFill>
              </a:rPr>
              <a:t>But what about AI?</a:t>
            </a:r>
          </a:p>
        </p:txBody>
      </p:sp>
      <p:sp>
        <p:nvSpPr>
          <p:cNvPr id="3" name="Content Placeholder 2">
            <a:extLst>
              <a:ext uri="{FF2B5EF4-FFF2-40B4-BE49-F238E27FC236}">
                <a16:creationId xmlns:a16="http://schemas.microsoft.com/office/drawing/2014/main" id="{E6079305-4737-628E-E8FB-961505C604D1}"/>
              </a:ext>
            </a:extLst>
          </p:cNvPr>
          <p:cNvSpPr>
            <a:spLocks noGrp="1"/>
          </p:cNvSpPr>
          <p:nvPr>
            <p:ph idx="1"/>
          </p:nvPr>
        </p:nvSpPr>
        <p:spPr>
          <a:xfrm>
            <a:off x="838199" y="1825624"/>
            <a:ext cx="11263175" cy="4779637"/>
          </a:xfrm>
        </p:spPr>
        <p:txBody>
          <a:bodyPr>
            <a:normAutofit/>
          </a:bodyPr>
          <a:lstStyle/>
          <a:p>
            <a:r>
              <a:rPr lang="en-US" dirty="0"/>
              <a:t>TDD still relevant</a:t>
            </a:r>
          </a:p>
          <a:p>
            <a:r>
              <a:rPr lang="en-US" dirty="0"/>
              <a:t>TDD keeps AI on the rails, keeps them focused – just like a human</a:t>
            </a:r>
          </a:p>
          <a:p>
            <a:r>
              <a:rPr lang="en-US" dirty="0"/>
              <a:t>Tests are executable intent</a:t>
            </a:r>
          </a:p>
          <a:p>
            <a:r>
              <a:rPr lang="en-US" dirty="0"/>
              <a:t>Tell AI in </a:t>
            </a:r>
            <a:r>
              <a:rPr lang="en-US" dirty="0" err="1"/>
              <a:t>AGENTS.md</a:t>
            </a:r>
            <a:r>
              <a:rPr lang="en-US" dirty="0"/>
              <a:t> to do TDD</a:t>
            </a:r>
          </a:p>
          <a:p>
            <a:r>
              <a:rPr lang="en-US" dirty="0"/>
              <a:t>ATDD very effective with AI – start with failing happy path e2e test then go from there</a:t>
            </a:r>
          </a:p>
        </p:txBody>
      </p:sp>
      <p:grpSp>
        <p:nvGrpSpPr>
          <p:cNvPr id="9" name="Group 8">
            <a:extLst>
              <a:ext uri="{FF2B5EF4-FFF2-40B4-BE49-F238E27FC236}">
                <a16:creationId xmlns:a16="http://schemas.microsoft.com/office/drawing/2014/main" id="{FF23AC0B-62C8-D73E-E13B-455705833E4E}"/>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5EFC24B8-3141-5C5A-F1AB-D4191DA644A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1580F0E9-1BBF-8B7B-6FE4-0853D4614945}"/>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7111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61E18-FB38-B1A7-CC9A-081696503E5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9063EC3-8CE2-9F51-0FC8-5589E9E33EEE}"/>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DAB2A2C3-124C-DA66-DB28-260D80396A59}"/>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Live Coding!</a:t>
            </a:r>
          </a:p>
        </p:txBody>
      </p:sp>
      <p:pic>
        <p:nvPicPr>
          <p:cNvPr id="3" name="Picture 2" descr="Bootstrap+Blazor essentials - DEV Community">
            <a:extLst>
              <a:ext uri="{FF2B5EF4-FFF2-40B4-BE49-F238E27FC236}">
                <a16:creationId xmlns:a16="http://schemas.microsoft.com/office/drawing/2014/main" id="{458F02EC-123F-599F-BA77-D1DB058C8528}"/>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50273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How can I get started with TDD?</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When you get a bug report coming in</a:t>
            </a:r>
          </a:p>
          <a:p>
            <a:r>
              <a:rPr lang="en-US" dirty="0"/>
              <a:t>Write a failing test that proves the bug exists</a:t>
            </a:r>
          </a:p>
          <a:p>
            <a:r>
              <a:rPr lang="en-US" dirty="0"/>
              <a:t>Make it pass</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44226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211456"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2000" dirty="0">
                <a:solidFill>
                  <a:schemeClr val="bg1"/>
                </a:solidFill>
                <a:latin typeface="+mn-lt"/>
              </a:rPr>
              <a:t>But I don’t </a:t>
            </a:r>
            <a:br>
              <a:rPr lang="en-US" sz="12000" dirty="0">
                <a:solidFill>
                  <a:schemeClr val="bg1"/>
                </a:solidFill>
                <a:latin typeface="+mn-lt"/>
              </a:rPr>
            </a:br>
            <a:r>
              <a:rPr lang="en-US" sz="12000" dirty="0">
                <a:solidFill>
                  <a:schemeClr val="bg1"/>
                </a:solidFill>
                <a:latin typeface="+mn-lt"/>
              </a:rPr>
              <a:t>have time!</a:t>
            </a:r>
          </a:p>
        </p:txBody>
      </p:sp>
      <p:pic>
        <p:nvPicPr>
          <p:cNvPr id="3074" name="Picture 2" descr="Clock PNG Transparent Images | PNG All">
            <a:extLst>
              <a:ext uri="{FF2B5EF4-FFF2-40B4-BE49-F238E27FC236}">
                <a16:creationId xmlns:a16="http://schemas.microsoft.com/office/drawing/2014/main" id="{69EDF2DE-AD11-76EF-19B0-6AFB1B1928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1684" y="2383276"/>
            <a:ext cx="4026388" cy="47227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7852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192000"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0" y="365125"/>
            <a:ext cx="8735438" cy="6027511"/>
          </a:xfrm>
        </p:spPr>
        <p:txBody>
          <a:bodyPr>
            <a:normAutofit/>
          </a:bodyPr>
          <a:lstStyle/>
          <a:p>
            <a:pPr algn="ctr"/>
            <a:r>
              <a:rPr lang="en-US" sz="12000" dirty="0">
                <a:solidFill>
                  <a:schemeClr val="bg1"/>
                </a:solidFill>
                <a:latin typeface="+mn-lt"/>
              </a:rPr>
              <a:t>Why?</a:t>
            </a:r>
          </a:p>
        </p:txBody>
      </p:sp>
      <p:pic>
        <p:nvPicPr>
          <p:cNvPr id="2052" name="Picture 4" descr="Thinking Emoji [Free Download IOS Emojis] | Emoji Island">
            <a:extLst>
              <a:ext uri="{FF2B5EF4-FFF2-40B4-BE49-F238E27FC236}">
                <a16:creationId xmlns:a16="http://schemas.microsoft.com/office/drawing/2014/main" id="{51F94315-BAF5-661F-65B0-92F3C0292B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68360" y="3946988"/>
            <a:ext cx="2744591" cy="28639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04690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211456"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2000" dirty="0">
                <a:solidFill>
                  <a:schemeClr val="bg1"/>
                </a:solidFill>
                <a:latin typeface="+mn-lt"/>
              </a:rPr>
              <a:t>My boss won’t let me!</a:t>
            </a:r>
          </a:p>
        </p:txBody>
      </p:sp>
      <p:pic>
        <p:nvPicPr>
          <p:cNvPr id="3" name="Picture 2" descr="THAT'D BE GREAT - Bill Lumbergh - Office Space - 90's T-Shirt">
            <a:extLst>
              <a:ext uri="{FF2B5EF4-FFF2-40B4-BE49-F238E27FC236}">
                <a16:creationId xmlns:a16="http://schemas.microsoft.com/office/drawing/2014/main" id="{6C54B2F8-E416-6E00-9893-93DEB00A71D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20365"/>
          <a:stretch/>
        </p:blipFill>
        <p:spPr bwMode="auto">
          <a:xfrm flipH="1">
            <a:off x="7468413" y="3065393"/>
            <a:ext cx="4762500" cy="3792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27446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192000"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1">
            <a:extLst>
              <a:ext uri="{FF2B5EF4-FFF2-40B4-BE49-F238E27FC236}">
                <a16:creationId xmlns:a16="http://schemas.microsoft.com/office/drawing/2014/main" id="{7825FAF2-B601-ED57-0B93-8C277544B9F7}"/>
              </a:ext>
            </a:extLst>
          </p:cNvPr>
          <p:cNvSpPr>
            <a:spLocks noGrp="1"/>
          </p:cNvSpPr>
          <p:nvPr>
            <p:ph type="title"/>
          </p:nvPr>
        </p:nvSpPr>
        <p:spPr>
          <a:xfrm>
            <a:off x="0" y="365125"/>
            <a:ext cx="9717932" cy="6027511"/>
          </a:xfrm>
        </p:spPr>
        <p:txBody>
          <a:bodyPr>
            <a:normAutofit/>
          </a:bodyPr>
          <a:lstStyle/>
          <a:p>
            <a:pPr algn="ctr"/>
            <a:r>
              <a:rPr lang="en-US" sz="10000" dirty="0">
                <a:solidFill>
                  <a:schemeClr val="bg1"/>
                </a:solidFill>
                <a:latin typeface="+mn-lt"/>
              </a:rPr>
              <a:t>What about </a:t>
            </a:r>
            <a:br>
              <a:rPr lang="en-US" sz="10000" dirty="0">
                <a:solidFill>
                  <a:schemeClr val="bg1"/>
                </a:solidFill>
                <a:latin typeface="+mn-lt"/>
              </a:rPr>
            </a:br>
            <a:r>
              <a:rPr lang="en-US" sz="10000" dirty="0">
                <a:solidFill>
                  <a:schemeClr val="bg1"/>
                </a:solidFill>
                <a:latin typeface="+mn-lt"/>
              </a:rPr>
              <a:t>this person?</a:t>
            </a:r>
          </a:p>
        </p:txBody>
      </p:sp>
      <p:pic>
        <p:nvPicPr>
          <p:cNvPr id="4100" name="Picture 4" descr="Surgeon Clipart Png Transparent Png - Full Size Clipart (#5705310) -  PinClipart">
            <a:extLst>
              <a:ext uri="{FF2B5EF4-FFF2-40B4-BE49-F238E27FC236}">
                <a16:creationId xmlns:a16="http://schemas.microsoft.com/office/drawing/2014/main" id="{45F04FF4-B5CE-ECC7-9F20-E9ABFF318B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12574" y="1882303"/>
            <a:ext cx="2333422" cy="4912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0107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192000"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1">
            <a:extLst>
              <a:ext uri="{FF2B5EF4-FFF2-40B4-BE49-F238E27FC236}">
                <a16:creationId xmlns:a16="http://schemas.microsoft.com/office/drawing/2014/main" id="{7825FAF2-B601-ED57-0B93-8C277544B9F7}"/>
              </a:ext>
            </a:extLst>
          </p:cNvPr>
          <p:cNvSpPr>
            <a:spLocks noGrp="1"/>
          </p:cNvSpPr>
          <p:nvPr>
            <p:ph type="title"/>
          </p:nvPr>
        </p:nvSpPr>
        <p:spPr>
          <a:xfrm>
            <a:off x="0" y="365125"/>
            <a:ext cx="12192000" cy="6027511"/>
          </a:xfrm>
        </p:spPr>
        <p:txBody>
          <a:bodyPr>
            <a:normAutofit/>
          </a:bodyPr>
          <a:lstStyle/>
          <a:p>
            <a:pPr algn="ctr"/>
            <a:r>
              <a:rPr lang="en-US" sz="10000" dirty="0">
                <a:solidFill>
                  <a:schemeClr val="bg1"/>
                </a:solidFill>
                <a:latin typeface="+mn-lt"/>
              </a:rPr>
              <a:t>You don’t get better</a:t>
            </a:r>
            <a:br>
              <a:rPr lang="en-US" sz="10000" dirty="0">
                <a:solidFill>
                  <a:schemeClr val="bg1"/>
                </a:solidFill>
                <a:latin typeface="+mn-lt"/>
              </a:rPr>
            </a:br>
            <a:r>
              <a:rPr lang="en-US" sz="10000" dirty="0">
                <a:solidFill>
                  <a:schemeClr val="bg1"/>
                </a:solidFill>
                <a:latin typeface="+mn-lt"/>
              </a:rPr>
              <a:t>at TDD</a:t>
            </a:r>
            <a:br>
              <a:rPr lang="en-US" sz="10000" dirty="0">
                <a:solidFill>
                  <a:schemeClr val="bg1"/>
                </a:solidFill>
                <a:latin typeface="+mn-lt"/>
              </a:rPr>
            </a:br>
            <a:r>
              <a:rPr lang="en-US" sz="10000" dirty="0">
                <a:solidFill>
                  <a:schemeClr val="bg1"/>
                </a:solidFill>
                <a:latin typeface="+mn-lt"/>
              </a:rPr>
              <a:t>by NOT doing TDD</a:t>
            </a:r>
          </a:p>
        </p:txBody>
      </p:sp>
    </p:spTree>
    <p:extLst>
      <p:ext uri="{BB962C8B-B14F-4D97-AF65-F5344CB8AC3E}">
        <p14:creationId xmlns:p14="http://schemas.microsoft.com/office/powerpoint/2010/main" val="39723231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Takeaways</a:t>
            </a:r>
          </a:p>
        </p:txBody>
      </p:sp>
      <p:sp>
        <p:nvSpPr>
          <p:cNvPr id="3" name="Content Placeholder 2"/>
          <p:cNvSpPr>
            <a:spLocks noGrp="1"/>
          </p:cNvSpPr>
          <p:nvPr>
            <p:ph idx="1"/>
          </p:nvPr>
        </p:nvSpPr>
        <p:spPr>
          <a:xfrm>
            <a:off x="838200" y="1825624"/>
            <a:ext cx="10863876" cy="4779637"/>
          </a:xfrm>
        </p:spPr>
        <p:txBody>
          <a:bodyPr>
            <a:normAutofit/>
          </a:bodyPr>
          <a:lstStyle/>
          <a:p>
            <a:r>
              <a:rPr lang="en-US" dirty="0"/>
              <a:t>Why you should TDD</a:t>
            </a:r>
          </a:p>
          <a:p>
            <a:r>
              <a:rPr lang="en-US" dirty="0"/>
              <a:t>How to test </a:t>
            </a:r>
            <a:r>
              <a:rPr lang="en-US" dirty="0" err="1"/>
              <a:t>Blazor</a:t>
            </a:r>
            <a:endParaRPr lang="en-US" dirty="0"/>
          </a:p>
          <a:p>
            <a:r>
              <a:rPr lang="en-US" dirty="0"/>
              <a:t>What to test in </a:t>
            </a:r>
            <a:r>
              <a:rPr lang="en-US" dirty="0" err="1"/>
              <a:t>Blazor</a:t>
            </a:r>
            <a:endParaRPr lang="en-US" dirty="0"/>
          </a:p>
          <a:p>
            <a:r>
              <a:rPr lang="en-US" dirty="0"/>
              <a:t>How to get started </a:t>
            </a:r>
            <a:r>
              <a:rPr lang="en-US" dirty="0" err="1"/>
              <a:t>TDDing</a:t>
            </a:r>
            <a:r>
              <a:rPr lang="en-US" dirty="0"/>
              <a:t> </a:t>
            </a:r>
            <a:r>
              <a:rPr lang="en-US" dirty="0" err="1"/>
              <a:t>Blazor</a:t>
            </a:r>
            <a:endParaRPr lang="en-US" dirty="0"/>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177257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Resources</a:t>
            </a:r>
          </a:p>
        </p:txBody>
      </p:sp>
      <p:sp>
        <p:nvSpPr>
          <p:cNvPr id="3" name="Content Placeholder 2"/>
          <p:cNvSpPr>
            <a:spLocks noGrp="1"/>
          </p:cNvSpPr>
          <p:nvPr>
            <p:ph idx="1"/>
          </p:nvPr>
        </p:nvSpPr>
        <p:spPr>
          <a:xfrm>
            <a:off x="838200" y="1825624"/>
            <a:ext cx="10515600" cy="4779637"/>
          </a:xfrm>
        </p:spPr>
        <p:txBody>
          <a:bodyPr>
            <a:normAutofit/>
          </a:bodyPr>
          <a:lstStyle/>
          <a:p>
            <a:r>
              <a:rPr lang="en-US" dirty="0"/>
              <a:t>TDD By Example by Kent Beck</a:t>
            </a:r>
          </a:p>
          <a:p>
            <a:r>
              <a:rPr lang="en-US" dirty="0">
                <a:hlinkClick r:id="rId3"/>
              </a:rPr>
              <a:t>Write Tests</a:t>
            </a:r>
            <a:r>
              <a:rPr lang="en-US" dirty="0"/>
              <a:t> blog post by Kent C </a:t>
            </a:r>
            <a:r>
              <a:rPr lang="en-US" dirty="0" err="1"/>
              <a:t>Dodds</a:t>
            </a:r>
            <a:endParaRPr lang="en-US" dirty="0"/>
          </a:p>
          <a:p>
            <a:r>
              <a:rPr lang="en-US" dirty="0">
                <a:hlinkClick r:id="rId4"/>
              </a:rPr>
              <a:t>https://github.com/scottsauber/talks</a:t>
            </a:r>
            <a:r>
              <a:rPr lang="en-US" dirty="0"/>
              <a:t> </a:t>
            </a:r>
          </a:p>
          <a:p>
            <a:r>
              <a:rPr lang="en-US" dirty="0"/>
              <a:t>This slide deck</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5">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26" name="Picture 2">
            <a:extLst>
              <a:ext uri="{FF2B5EF4-FFF2-40B4-BE49-F238E27FC236}">
                <a16:creationId xmlns:a16="http://schemas.microsoft.com/office/drawing/2014/main" id="{EB30CBE7-9770-F187-56D3-2DCBA37F453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123346" y="1825624"/>
            <a:ext cx="2402828" cy="30125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89693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838200" y="365125"/>
            <a:ext cx="10515600" cy="6027511"/>
          </a:xfrm>
        </p:spPr>
        <p:txBody>
          <a:bodyPr>
            <a:normAutofit/>
          </a:bodyPr>
          <a:lstStyle/>
          <a:p>
            <a:pPr algn="ctr"/>
            <a:r>
              <a:rPr lang="en-US" sz="7200" dirty="0">
                <a:solidFill>
                  <a:schemeClr val="bg1"/>
                </a:solidFill>
                <a:latin typeface="+mn-lt"/>
              </a:rPr>
              <a:t>Questions?</a:t>
            </a:r>
            <a:br>
              <a:rPr lang="en-US" sz="7200" dirty="0">
                <a:solidFill>
                  <a:schemeClr val="bg1"/>
                </a:solidFill>
                <a:latin typeface="+mn-lt"/>
              </a:rPr>
            </a:br>
            <a:r>
              <a:rPr lang="en-US" sz="2400" dirty="0">
                <a:solidFill>
                  <a:schemeClr val="bg1"/>
                </a:solidFill>
                <a:latin typeface="+mn-lt"/>
              </a:rPr>
              <a:t>ssauber@leantechniques.com</a:t>
            </a:r>
          </a:p>
        </p:txBody>
      </p:sp>
      <p:sp>
        <p:nvSpPr>
          <p:cNvPr id="8" name="Subtitle 2">
            <a:extLst>
              <a:ext uri="{FF2B5EF4-FFF2-40B4-BE49-F238E27FC236}">
                <a16:creationId xmlns:a16="http://schemas.microsoft.com/office/drawing/2014/main" id="{097882A2-4820-4881-9C23-D09EE5DE1AF4}"/>
              </a:ext>
            </a:extLst>
          </p:cNvPr>
          <p:cNvSpPr txBox="1">
            <a:spLocks/>
          </p:cNvSpPr>
          <p:nvPr/>
        </p:nvSpPr>
        <p:spPr>
          <a:xfrm>
            <a:off x="90625" y="3418380"/>
            <a:ext cx="12192000" cy="33710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600" dirty="0">
              <a:solidFill>
                <a:schemeClr val="bg1"/>
              </a:solidFill>
              <a:ea typeface="Open Sans" panose="020B0606030504020204" pitchFamily="34" charset="0"/>
              <a:cs typeface="Open Sans" panose="020B0606030504020204" pitchFamily="34" charset="0"/>
            </a:endParaRPr>
          </a:p>
          <a:p>
            <a:endParaRPr lang="en-US" sz="4000"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pPr marL="0" indent="0">
              <a:buNone/>
            </a:pPr>
            <a:endParaRPr lang="en-US" dirty="0">
              <a:solidFill>
                <a:schemeClr val="bg1"/>
              </a:solidFill>
              <a:ea typeface="Open Sans" panose="020B0606030504020204" pitchFamily="34" charset="0"/>
              <a:cs typeface="Open Sans" panose="020B0606030504020204" pitchFamily="34" charset="0"/>
            </a:endParaRPr>
          </a:p>
          <a:p>
            <a:pPr marL="0" indent="0">
              <a:buNone/>
            </a:pPr>
            <a:r>
              <a:rPr lang="en-US" dirty="0">
                <a:solidFill>
                  <a:schemeClr val="bg1"/>
                </a:solidFill>
                <a:ea typeface="Open Sans" panose="020B0606030504020204" pitchFamily="34" charset="0"/>
                <a:cs typeface="Open Sans" panose="020B0606030504020204" pitchFamily="34" charset="0"/>
              </a:rPr>
              <a:t>Slides at scottsauber.com</a:t>
            </a:r>
          </a:p>
        </p:txBody>
      </p:sp>
      <p:sp>
        <p:nvSpPr>
          <p:cNvPr id="3" name="TextBox 2">
            <a:extLst>
              <a:ext uri="{FF2B5EF4-FFF2-40B4-BE49-F238E27FC236}">
                <a16:creationId xmlns:a16="http://schemas.microsoft.com/office/drawing/2014/main" id="{F77142A0-7D55-44AD-E129-1BB9F7B444D3}"/>
              </a:ext>
            </a:extLst>
          </p:cNvPr>
          <p:cNvSpPr txBox="1"/>
          <p:nvPr/>
        </p:nvSpPr>
        <p:spPr>
          <a:xfrm>
            <a:off x="9757202" y="2006898"/>
            <a:ext cx="2278626" cy="369332"/>
          </a:xfrm>
          <a:prstGeom prst="rect">
            <a:avLst/>
          </a:prstGeom>
          <a:noFill/>
        </p:spPr>
        <p:txBody>
          <a:bodyPr wrap="square" rtlCol="0">
            <a:spAutoFit/>
          </a:bodyPr>
          <a:lstStyle/>
          <a:p>
            <a:r>
              <a:rPr lang="en-US" dirty="0">
                <a:solidFill>
                  <a:schemeClr val="bg1"/>
                </a:solidFill>
              </a:rPr>
              <a:t>Add me on LinkedIn:</a:t>
            </a:r>
          </a:p>
        </p:txBody>
      </p:sp>
      <p:sp>
        <p:nvSpPr>
          <p:cNvPr id="10" name="Subtitle 2">
            <a:extLst>
              <a:ext uri="{FF2B5EF4-FFF2-40B4-BE49-F238E27FC236}">
                <a16:creationId xmlns:a16="http://schemas.microsoft.com/office/drawing/2014/main" id="{CAEDCF79-6369-3312-C72B-E492C2FFC565}"/>
              </a:ext>
            </a:extLst>
          </p:cNvPr>
          <p:cNvSpPr txBox="1">
            <a:spLocks/>
          </p:cNvSpPr>
          <p:nvPr/>
        </p:nvSpPr>
        <p:spPr>
          <a:xfrm>
            <a:off x="9556546" y="5773504"/>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a:t>
            </a:r>
          </a:p>
        </p:txBody>
      </p:sp>
      <p:pic>
        <p:nvPicPr>
          <p:cNvPr id="1026" name="Picture 2" descr="X Logo, symbol, meaning, history, PNG, brand">
            <a:extLst>
              <a:ext uri="{FF2B5EF4-FFF2-40B4-BE49-F238E27FC236}">
                <a16:creationId xmlns:a16="http://schemas.microsoft.com/office/drawing/2014/main" id="{F43D63E0-A688-C307-CCD2-BB6EF25065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6717" y="5871813"/>
            <a:ext cx="493701" cy="27770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luesky and your brand by Heidi Waterhouse">
            <a:extLst>
              <a:ext uri="{FF2B5EF4-FFF2-40B4-BE49-F238E27FC236}">
                <a16:creationId xmlns:a16="http://schemas.microsoft.com/office/drawing/2014/main" id="{1CC8890B-0833-1285-D911-117258AB33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06717" y="6313125"/>
            <a:ext cx="474323" cy="474323"/>
          </a:xfrm>
          <a:prstGeom prst="rect">
            <a:avLst/>
          </a:prstGeom>
          <a:noFill/>
          <a:extLst>
            <a:ext uri="{909E8E84-426E-40DD-AFC4-6F175D3DCCD1}">
              <a14:hiddenFill xmlns:a14="http://schemas.microsoft.com/office/drawing/2010/main">
                <a:solidFill>
                  <a:srgbClr val="FFFFFF"/>
                </a:solidFill>
              </a14:hiddenFill>
            </a:ext>
          </a:extLst>
        </p:spPr>
      </p:pic>
      <p:sp>
        <p:nvSpPr>
          <p:cNvPr id="12" name="Subtitle 2">
            <a:extLst>
              <a:ext uri="{FF2B5EF4-FFF2-40B4-BE49-F238E27FC236}">
                <a16:creationId xmlns:a16="http://schemas.microsoft.com/office/drawing/2014/main" id="{17DCEF15-AD0C-D5B5-B282-2784AFF9A20C}"/>
              </a:ext>
            </a:extLst>
          </p:cNvPr>
          <p:cNvSpPr txBox="1">
            <a:spLocks/>
          </p:cNvSpPr>
          <p:nvPr/>
        </p:nvSpPr>
        <p:spPr>
          <a:xfrm>
            <a:off x="9497554" y="6315097"/>
            <a:ext cx="2785071"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@scottsauber.com</a:t>
            </a:r>
          </a:p>
        </p:txBody>
      </p:sp>
      <p:pic>
        <p:nvPicPr>
          <p:cNvPr id="9" name="Picture 8">
            <a:extLst>
              <a:ext uri="{FF2B5EF4-FFF2-40B4-BE49-F238E27FC236}">
                <a16:creationId xmlns:a16="http://schemas.microsoft.com/office/drawing/2014/main" id="{DEC1733D-8170-432C-81DC-7929E97F06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1444" y="2403682"/>
            <a:ext cx="1950396" cy="1950396"/>
          </a:xfrm>
          <a:prstGeom prst="rect">
            <a:avLst/>
          </a:prstGeom>
        </p:spPr>
      </p:pic>
    </p:spTree>
    <p:extLst>
      <p:ext uri="{BB962C8B-B14F-4D97-AF65-F5344CB8AC3E}">
        <p14:creationId xmlns:p14="http://schemas.microsoft.com/office/powerpoint/2010/main" val="9109887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a:extLst>
            <a:ext uri="{FF2B5EF4-FFF2-40B4-BE49-F238E27FC236}">
              <a16:creationId xmlns:a16="http://schemas.microsoft.com/office/drawing/2014/main" id="{A9D1A51A-875B-E07C-ABD9-AE99D9ED3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A3368D-36C4-F85D-3772-FC6A8D968AA0}"/>
              </a:ext>
            </a:extLst>
          </p:cNvPr>
          <p:cNvSpPr>
            <a:spLocks noGrp="1"/>
          </p:cNvSpPr>
          <p:nvPr>
            <p:ph type="title"/>
          </p:nvPr>
        </p:nvSpPr>
        <p:spPr>
          <a:xfrm>
            <a:off x="838200" y="564204"/>
            <a:ext cx="10515600" cy="5828432"/>
          </a:xfrm>
        </p:spPr>
        <p:txBody>
          <a:bodyPr>
            <a:normAutofit/>
          </a:bodyPr>
          <a:lstStyle/>
          <a:p>
            <a:pPr algn="ctr"/>
            <a:r>
              <a:rPr lang="en-US" sz="7200" dirty="0">
                <a:solidFill>
                  <a:schemeClr val="bg1"/>
                </a:solidFill>
                <a:latin typeface="+mn-lt"/>
              </a:rPr>
              <a:t>Thanks!</a:t>
            </a:r>
            <a:br>
              <a:rPr lang="en-US" sz="7200" dirty="0">
                <a:solidFill>
                  <a:schemeClr val="bg1"/>
                </a:solidFill>
                <a:latin typeface="+mn-lt"/>
              </a:rPr>
            </a:br>
            <a:endParaRPr lang="en-US" sz="2400" dirty="0">
              <a:solidFill>
                <a:schemeClr val="bg1"/>
              </a:solidFill>
              <a:latin typeface="+mn-lt"/>
            </a:endParaRPr>
          </a:p>
        </p:txBody>
      </p:sp>
      <p:sp>
        <p:nvSpPr>
          <p:cNvPr id="8" name="Subtitle 2">
            <a:extLst>
              <a:ext uri="{FF2B5EF4-FFF2-40B4-BE49-F238E27FC236}">
                <a16:creationId xmlns:a16="http://schemas.microsoft.com/office/drawing/2014/main" id="{FDCEFC7E-CC47-1B39-C15E-FB0E16973278}"/>
              </a:ext>
            </a:extLst>
          </p:cNvPr>
          <p:cNvSpPr txBox="1">
            <a:spLocks/>
          </p:cNvSpPr>
          <p:nvPr/>
        </p:nvSpPr>
        <p:spPr>
          <a:xfrm>
            <a:off x="90625" y="3418380"/>
            <a:ext cx="12192000" cy="33710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600" dirty="0">
              <a:solidFill>
                <a:schemeClr val="bg1"/>
              </a:solidFill>
              <a:ea typeface="Open Sans" panose="020B0606030504020204" pitchFamily="34" charset="0"/>
              <a:cs typeface="Open Sans" panose="020B0606030504020204" pitchFamily="34" charset="0"/>
            </a:endParaRPr>
          </a:p>
          <a:p>
            <a:endParaRPr lang="en-US" sz="4000"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pPr marL="0" indent="0">
              <a:buNone/>
            </a:pPr>
            <a:endParaRPr lang="en-US" dirty="0">
              <a:solidFill>
                <a:schemeClr val="bg1"/>
              </a:solidFill>
              <a:ea typeface="Open Sans" panose="020B0606030504020204" pitchFamily="34" charset="0"/>
              <a:cs typeface="Open Sans" panose="020B0606030504020204" pitchFamily="34" charset="0"/>
            </a:endParaRPr>
          </a:p>
          <a:p>
            <a:pPr marL="0" indent="0">
              <a:buNone/>
            </a:pPr>
            <a:r>
              <a:rPr lang="en-US" dirty="0">
                <a:solidFill>
                  <a:schemeClr val="bg1"/>
                </a:solidFill>
                <a:ea typeface="Open Sans" panose="020B0606030504020204" pitchFamily="34" charset="0"/>
                <a:cs typeface="Open Sans" panose="020B0606030504020204" pitchFamily="34" charset="0"/>
              </a:rPr>
              <a:t>Slides at scottsauber.com</a:t>
            </a:r>
          </a:p>
        </p:txBody>
      </p:sp>
      <p:sp>
        <p:nvSpPr>
          <p:cNvPr id="3" name="TextBox 2">
            <a:extLst>
              <a:ext uri="{FF2B5EF4-FFF2-40B4-BE49-F238E27FC236}">
                <a16:creationId xmlns:a16="http://schemas.microsoft.com/office/drawing/2014/main" id="{7E782246-6BA0-EDDE-DCF2-CF6EC464F74C}"/>
              </a:ext>
            </a:extLst>
          </p:cNvPr>
          <p:cNvSpPr txBox="1"/>
          <p:nvPr/>
        </p:nvSpPr>
        <p:spPr>
          <a:xfrm>
            <a:off x="9757202" y="2006898"/>
            <a:ext cx="2278626" cy="369332"/>
          </a:xfrm>
          <a:prstGeom prst="rect">
            <a:avLst/>
          </a:prstGeom>
          <a:noFill/>
        </p:spPr>
        <p:txBody>
          <a:bodyPr wrap="square" rtlCol="0">
            <a:spAutoFit/>
          </a:bodyPr>
          <a:lstStyle/>
          <a:p>
            <a:r>
              <a:rPr lang="en-US" dirty="0">
                <a:solidFill>
                  <a:schemeClr val="bg1"/>
                </a:solidFill>
              </a:rPr>
              <a:t>Add me on LinkedIn:</a:t>
            </a:r>
          </a:p>
        </p:txBody>
      </p:sp>
      <p:pic>
        <p:nvPicPr>
          <p:cNvPr id="9" name="Picture 8">
            <a:extLst>
              <a:ext uri="{FF2B5EF4-FFF2-40B4-BE49-F238E27FC236}">
                <a16:creationId xmlns:a16="http://schemas.microsoft.com/office/drawing/2014/main" id="{B35A39A9-773B-FF19-A0F2-21293EE7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1444" y="2403682"/>
            <a:ext cx="1950396" cy="1950396"/>
          </a:xfrm>
          <a:prstGeom prst="rect">
            <a:avLst/>
          </a:prstGeom>
        </p:spPr>
      </p:pic>
      <p:sp>
        <p:nvSpPr>
          <p:cNvPr id="4" name="Subtitle 2">
            <a:extLst>
              <a:ext uri="{FF2B5EF4-FFF2-40B4-BE49-F238E27FC236}">
                <a16:creationId xmlns:a16="http://schemas.microsoft.com/office/drawing/2014/main" id="{3FC0A5B0-9F12-2F29-EA35-586474C03292}"/>
              </a:ext>
            </a:extLst>
          </p:cNvPr>
          <p:cNvSpPr txBox="1">
            <a:spLocks/>
          </p:cNvSpPr>
          <p:nvPr/>
        </p:nvSpPr>
        <p:spPr>
          <a:xfrm>
            <a:off x="9556546" y="5773504"/>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a:t>
            </a:r>
          </a:p>
        </p:txBody>
      </p:sp>
      <p:pic>
        <p:nvPicPr>
          <p:cNvPr id="5" name="Picture 2" descr="X Logo, symbol, meaning, history, PNG, brand">
            <a:extLst>
              <a:ext uri="{FF2B5EF4-FFF2-40B4-BE49-F238E27FC236}">
                <a16:creationId xmlns:a16="http://schemas.microsoft.com/office/drawing/2014/main" id="{0C7B5E18-C67B-31F8-53A9-DDF6A62E3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06717" y="5871813"/>
            <a:ext cx="493701" cy="27770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Bluesky and your brand by Heidi Waterhouse">
            <a:extLst>
              <a:ext uri="{FF2B5EF4-FFF2-40B4-BE49-F238E27FC236}">
                <a16:creationId xmlns:a16="http://schemas.microsoft.com/office/drawing/2014/main" id="{19A09B22-6488-3C9C-DD63-4F56D10080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06717" y="6313125"/>
            <a:ext cx="474323" cy="474323"/>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BC9F2C21-03A9-2153-1D09-C3078F0858A8}"/>
              </a:ext>
            </a:extLst>
          </p:cNvPr>
          <p:cNvSpPr txBox="1">
            <a:spLocks/>
          </p:cNvSpPr>
          <p:nvPr/>
        </p:nvSpPr>
        <p:spPr>
          <a:xfrm>
            <a:off x="9497554" y="6315097"/>
            <a:ext cx="2785071"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@scottsauber.com</a:t>
            </a:r>
          </a:p>
        </p:txBody>
      </p:sp>
    </p:spTree>
    <p:extLst>
      <p:ext uri="{BB962C8B-B14F-4D97-AF65-F5344CB8AC3E}">
        <p14:creationId xmlns:p14="http://schemas.microsoft.com/office/powerpoint/2010/main" val="10356298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28494</TotalTime>
  <Words>1213</Words>
  <Application>Microsoft Macintosh PowerPoint</Application>
  <PresentationFormat>Widescreen</PresentationFormat>
  <Paragraphs>272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Calibri Light</vt:lpstr>
      <vt:lpstr>Open Sans</vt:lpstr>
      <vt:lpstr>Office Theme</vt:lpstr>
      <vt:lpstr>Test Driven Development with Blazor</vt:lpstr>
      <vt:lpstr>Audience</vt:lpstr>
      <vt:lpstr>Agenda</vt:lpstr>
      <vt:lpstr>Goals</vt:lpstr>
      <vt:lpstr>Who am I? </vt:lpstr>
      <vt:lpstr>Why do we write tests?</vt:lpstr>
      <vt:lpstr>What is TDD?</vt:lpstr>
      <vt:lpstr>What is TDD?</vt:lpstr>
      <vt:lpstr>How to TDD?</vt:lpstr>
      <vt:lpstr>How to TDD?</vt:lpstr>
      <vt:lpstr>PowerPoint Presentation</vt:lpstr>
      <vt:lpstr>Why Test Driven Development?</vt:lpstr>
      <vt:lpstr>What is NOT TDD?</vt:lpstr>
      <vt:lpstr>Applying TDD to Blazor</vt:lpstr>
      <vt:lpstr>Introduction to Tools</vt:lpstr>
      <vt:lpstr>xUnit</vt:lpstr>
      <vt:lpstr>xUnit</vt:lpstr>
      <vt:lpstr>Shouldly</vt:lpstr>
      <vt:lpstr>Shouldly</vt:lpstr>
      <vt:lpstr>bUnit</vt:lpstr>
      <vt:lpstr>bUnit</vt:lpstr>
      <vt:lpstr>What should I test?</vt:lpstr>
      <vt:lpstr>❌   Current Count is an implementation detail, not behavior</vt:lpstr>
      <vt:lpstr>❌   The HTML  is an implementation detail, not behavior</vt:lpstr>
      <vt:lpstr>PowerPoint Presentation</vt:lpstr>
      <vt:lpstr>❌ </vt:lpstr>
      <vt:lpstr>“The more your tests resemble the way your software is used the more confidence they can give you.”  </vt:lpstr>
      <vt:lpstr>What should I NOT test?</vt:lpstr>
      <vt:lpstr>Avoid snapshot tests (like Verify)</vt:lpstr>
      <vt:lpstr>Live Coding!</vt:lpstr>
      <vt:lpstr>Slight TDD Detour</vt:lpstr>
      <vt:lpstr>“Remove everything that has no relevance to the story. If you say in the first chapter that there is a rifle hanging on the wall, in the second or third chapter it absolutely must go off. If it's not going to be fired,  it shouldn't be hanging there.”        Anton Chekhov</vt:lpstr>
      <vt:lpstr>Chekhov’s Gun Applied to Testing</vt:lpstr>
      <vt:lpstr>Chekhov’s Gun Applied to Testing</vt:lpstr>
      <vt:lpstr>Chekhov’s Gun Applied to Testing</vt:lpstr>
      <vt:lpstr>Chekhov’s Gun Applied to Testing</vt:lpstr>
      <vt:lpstr>Chekhov’s Gun Applied to Testing</vt:lpstr>
      <vt:lpstr>&lt;/ ChekhovsGun&gt;</vt:lpstr>
      <vt:lpstr>bunit.web.query</vt:lpstr>
      <vt:lpstr>Live Coding!</vt:lpstr>
      <vt:lpstr>But what about AI?</vt:lpstr>
      <vt:lpstr>Live Coding!</vt:lpstr>
      <vt:lpstr>How can I get started with TDD?</vt:lpstr>
      <vt:lpstr>But I don’t  have time!</vt:lpstr>
      <vt:lpstr>Why?</vt:lpstr>
      <vt:lpstr>My boss won’t let me!</vt:lpstr>
      <vt:lpstr>What about  this person?</vt:lpstr>
      <vt:lpstr>You don’t get better at TDD by NOT doing TDD</vt:lpstr>
      <vt:lpstr>Takeaways</vt:lpstr>
      <vt:lpstr>Resources</vt:lpstr>
      <vt:lpstr>Questions? ssauber@leantechniques.com</vt:lpstr>
      <vt:lpstr>Thanks!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TDD with Blazor</dc:title>
  <dc:creator>Scott Sauber</dc:creator>
  <cp:lastModifiedBy>Scott Sauber</cp:lastModifiedBy>
  <cp:revision>222</cp:revision>
  <dcterms:created xsi:type="dcterms:W3CDTF">2020-03-08T20:31:35Z</dcterms:created>
  <dcterms:modified xsi:type="dcterms:W3CDTF">2026-05-09T08:47:19Z</dcterms:modified>
</cp:coreProperties>
</file>