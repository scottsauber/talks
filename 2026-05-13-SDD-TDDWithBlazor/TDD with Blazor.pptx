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0" r:id="rId1"/>
  </p:sldMasterIdLst>
  <p:notesMasterIdLst>
    <p:notesMasterId r:id="rId54"/>
  </p:notesMasterIdLst>
  <p:sldIdLst>
    <p:sldId id="257" r:id="rId2"/>
    <p:sldId id="285" r:id="rId3"/>
    <p:sldId id="326" r:id="rId4"/>
    <p:sldId id="369" r:id="rId5"/>
    <p:sldId id="530" r:id="rId6"/>
    <p:sldId id="372" r:id="rId7"/>
    <p:sldId id="375" r:id="rId8"/>
    <p:sldId id="411" r:id="rId9"/>
    <p:sldId id="410" r:id="rId10"/>
    <p:sldId id="330" r:id="rId11"/>
    <p:sldId id="513" r:id="rId12"/>
    <p:sldId id="376" r:id="rId13"/>
    <p:sldId id="511" r:id="rId14"/>
    <p:sldId id="394" r:id="rId15"/>
    <p:sldId id="381" r:id="rId16"/>
    <p:sldId id="396" r:id="rId17"/>
    <p:sldId id="384" r:id="rId18"/>
    <p:sldId id="405" r:id="rId19"/>
    <p:sldId id="403" r:id="rId20"/>
    <p:sldId id="409" r:id="rId21"/>
    <p:sldId id="404" r:id="rId22"/>
    <p:sldId id="387" r:id="rId23"/>
    <p:sldId id="406" r:id="rId24"/>
    <p:sldId id="407" r:id="rId25"/>
    <p:sldId id="408" r:id="rId26"/>
    <p:sldId id="514" r:id="rId27"/>
    <p:sldId id="377" r:id="rId28"/>
    <p:sldId id="398" r:id="rId29"/>
    <p:sldId id="402" r:id="rId30"/>
    <p:sldId id="391" r:id="rId31"/>
    <p:sldId id="526" r:id="rId32"/>
    <p:sldId id="520" r:id="rId33"/>
    <p:sldId id="516" r:id="rId34"/>
    <p:sldId id="522" r:id="rId35"/>
    <p:sldId id="523" r:id="rId36"/>
    <p:sldId id="524" r:id="rId37"/>
    <p:sldId id="525" r:id="rId38"/>
    <p:sldId id="529" r:id="rId39"/>
    <p:sldId id="399" r:id="rId40"/>
    <p:sldId id="528" r:id="rId41"/>
    <p:sldId id="531" r:id="rId42"/>
    <p:sldId id="532" r:id="rId43"/>
    <p:sldId id="379" r:id="rId44"/>
    <p:sldId id="380" r:id="rId45"/>
    <p:sldId id="338" r:id="rId46"/>
    <p:sldId id="392" r:id="rId47"/>
    <p:sldId id="378" r:id="rId48"/>
    <p:sldId id="395" r:id="rId49"/>
    <p:sldId id="368" r:id="rId50"/>
    <p:sldId id="336" r:id="rId51"/>
    <p:sldId id="400" r:id="rId52"/>
    <p:sldId id="621" r:id="rId5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F69B6"/>
    <a:srgbClr val="5C2D91"/>
    <a:srgbClr val="2E97EE"/>
    <a:srgbClr val="09516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74178" autoAdjust="0"/>
  </p:normalViewPr>
  <p:slideViewPr>
    <p:cSldViewPr snapToGrid="0">
      <p:cViewPr varScale="1">
        <p:scale>
          <a:sx n="92" d="100"/>
          <a:sy n="92" d="100"/>
        </p:scale>
        <p:origin x="1840"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BF47D1-607F-45EE-AE63-C10CF3AC8DD9}" type="datetimeFigureOut">
              <a:rPr lang="en-US" smtClean="0"/>
              <a:t>5/11/26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C074461-D808-4EBD-B8B3-953FBFCC6ED3}" type="slidenum">
              <a:rPr lang="en-US" smtClean="0"/>
              <a:t>‹#›</a:t>
            </a:fld>
            <a:endParaRPr lang="en-US"/>
          </a:p>
        </p:txBody>
      </p:sp>
    </p:spTree>
    <p:extLst>
      <p:ext uri="{BB962C8B-B14F-4D97-AF65-F5344CB8AC3E}">
        <p14:creationId xmlns:p14="http://schemas.microsoft.com/office/powerpoint/2010/main" val="25389712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ACEE071-6BA9-400B-8DDD-7178D39C29B3}" type="slidenum">
              <a:rPr lang="en-US" smtClean="0"/>
              <a:t>1</a:t>
            </a:fld>
            <a:endParaRPr lang="en-US"/>
          </a:p>
        </p:txBody>
      </p:sp>
    </p:spTree>
    <p:extLst>
      <p:ext uri="{BB962C8B-B14F-4D97-AF65-F5344CB8AC3E}">
        <p14:creationId xmlns:p14="http://schemas.microsoft.com/office/powerpoint/2010/main" val="369081734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2</a:t>
            </a:fld>
            <a:endParaRPr lang="en-US"/>
          </a:p>
        </p:txBody>
      </p:sp>
    </p:spTree>
    <p:extLst>
      <p:ext uri="{BB962C8B-B14F-4D97-AF65-F5344CB8AC3E}">
        <p14:creationId xmlns:p14="http://schemas.microsoft.com/office/powerpoint/2010/main" val="6365822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3</a:t>
            </a:fld>
            <a:endParaRPr lang="en-US"/>
          </a:p>
        </p:txBody>
      </p:sp>
    </p:spTree>
    <p:extLst>
      <p:ext uri="{BB962C8B-B14F-4D97-AF65-F5344CB8AC3E}">
        <p14:creationId xmlns:p14="http://schemas.microsoft.com/office/powerpoint/2010/main" val="36867642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4</a:t>
            </a:fld>
            <a:endParaRPr lang="en-US"/>
          </a:p>
        </p:txBody>
      </p:sp>
    </p:spTree>
    <p:extLst>
      <p:ext uri="{BB962C8B-B14F-4D97-AF65-F5344CB8AC3E}">
        <p14:creationId xmlns:p14="http://schemas.microsoft.com/office/powerpoint/2010/main" val="16270530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5</a:t>
            </a:fld>
            <a:endParaRPr lang="en-US"/>
          </a:p>
        </p:txBody>
      </p:sp>
    </p:spTree>
    <p:extLst>
      <p:ext uri="{BB962C8B-B14F-4D97-AF65-F5344CB8AC3E}">
        <p14:creationId xmlns:p14="http://schemas.microsoft.com/office/powerpoint/2010/main" val="184173746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6</a:t>
            </a:fld>
            <a:endParaRPr lang="en-US"/>
          </a:p>
        </p:txBody>
      </p:sp>
    </p:spTree>
    <p:extLst>
      <p:ext uri="{BB962C8B-B14F-4D97-AF65-F5344CB8AC3E}">
        <p14:creationId xmlns:p14="http://schemas.microsoft.com/office/powerpoint/2010/main" val="16660206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7</a:t>
            </a:fld>
            <a:endParaRPr lang="en-US"/>
          </a:p>
        </p:txBody>
      </p:sp>
    </p:spTree>
    <p:extLst>
      <p:ext uri="{BB962C8B-B14F-4D97-AF65-F5344CB8AC3E}">
        <p14:creationId xmlns:p14="http://schemas.microsoft.com/office/powerpoint/2010/main" val="10934519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8</a:t>
            </a:fld>
            <a:endParaRPr lang="en-US"/>
          </a:p>
        </p:txBody>
      </p:sp>
    </p:spTree>
    <p:extLst>
      <p:ext uri="{BB962C8B-B14F-4D97-AF65-F5344CB8AC3E}">
        <p14:creationId xmlns:p14="http://schemas.microsoft.com/office/powerpoint/2010/main" val="17992119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9</a:t>
            </a:fld>
            <a:endParaRPr lang="en-US"/>
          </a:p>
        </p:txBody>
      </p:sp>
    </p:spTree>
    <p:extLst>
      <p:ext uri="{BB962C8B-B14F-4D97-AF65-F5344CB8AC3E}">
        <p14:creationId xmlns:p14="http://schemas.microsoft.com/office/powerpoint/2010/main" val="42361196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10</a:t>
            </a:fld>
            <a:endParaRPr lang="en-US"/>
          </a:p>
        </p:txBody>
      </p:sp>
    </p:spTree>
    <p:extLst>
      <p:ext uri="{BB962C8B-B14F-4D97-AF65-F5344CB8AC3E}">
        <p14:creationId xmlns:p14="http://schemas.microsoft.com/office/powerpoint/2010/main" val="22061073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ACEE071-6BA9-400B-8DDD-7178D39C29B3}" type="slidenum">
              <a:rPr lang="en-US" smtClean="0"/>
              <a:t>11</a:t>
            </a:fld>
            <a:endParaRPr lang="en-US"/>
          </a:p>
        </p:txBody>
      </p:sp>
    </p:spTree>
    <p:extLst>
      <p:ext uri="{BB962C8B-B14F-4D97-AF65-F5344CB8AC3E}">
        <p14:creationId xmlns:p14="http://schemas.microsoft.com/office/powerpoint/2010/main" val="211206458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12</a:t>
            </a:fld>
            <a:endParaRPr lang="en-US"/>
          </a:p>
        </p:txBody>
      </p:sp>
    </p:spTree>
    <p:extLst>
      <p:ext uri="{BB962C8B-B14F-4D97-AF65-F5344CB8AC3E}">
        <p14:creationId xmlns:p14="http://schemas.microsoft.com/office/powerpoint/2010/main" val="397315829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13</a:t>
            </a:fld>
            <a:endParaRPr lang="en-US"/>
          </a:p>
        </p:txBody>
      </p:sp>
    </p:spTree>
    <p:extLst>
      <p:ext uri="{BB962C8B-B14F-4D97-AF65-F5344CB8AC3E}">
        <p14:creationId xmlns:p14="http://schemas.microsoft.com/office/powerpoint/2010/main" val="40530131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C074461-D808-4EBD-B8B3-953FBFCC6ED3}" type="slidenum">
              <a:rPr lang="en-US" smtClean="0"/>
              <a:t>14</a:t>
            </a:fld>
            <a:endParaRPr lang="en-US"/>
          </a:p>
        </p:txBody>
      </p:sp>
    </p:spTree>
    <p:extLst>
      <p:ext uri="{BB962C8B-B14F-4D97-AF65-F5344CB8AC3E}">
        <p14:creationId xmlns:p14="http://schemas.microsoft.com/office/powerpoint/2010/main" val="386534428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15</a:t>
            </a:fld>
            <a:endParaRPr lang="en-US"/>
          </a:p>
        </p:txBody>
      </p:sp>
    </p:spTree>
    <p:extLst>
      <p:ext uri="{BB962C8B-B14F-4D97-AF65-F5344CB8AC3E}">
        <p14:creationId xmlns:p14="http://schemas.microsoft.com/office/powerpoint/2010/main" val="88767597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16</a:t>
            </a:fld>
            <a:endParaRPr lang="en-US"/>
          </a:p>
        </p:txBody>
      </p:sp>
    </p:spTree>
    <p:extLst>
      <p:ext uri="{BB962C8B-B14F-4D97-AF65-F5344CB8AC3E}">
        <p14:creationId xmlns:p14="http://schemas.microsoft.com/office/powerpoint/2010/main" val="250520592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17</a:t>
            </a:fld>
            <a:endParaRPr lang="en-US"/>
          </a:p>
        </p:txBody>
      </p:sp>
    </p:spTree>
    <p:extLst>
      <p:ext uri="{BB962C8B-B14F-4D97-AF65-F5344CB8AC3E}">
        <p14:creationId xmlns:p14="http://schemas.microsoft.com/office/powerpoint/2010/main" val="419613201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18</a:t>
            </a:fld>
            <a:endParaRPr lang="en-US"/>
          </a:p>
        </p:txBody>
      </p:sp>
    </p:spTree>
    <p:extLst>
      <p:ext uri="{BB962C8B-B14F-4D97-AF65-F5344CB8AC3E}">
        <p14:creationId xmlns:p14="http://schemas.microsoft.com/office/powerpoint/2010/main" val="24262298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19</a:t>
            </a:fld>
            <a:endParaRPr lang="en-US"/>
          </a:p>
        </p:txBody>
      </p:sp>
    </p:spTree>
    <p:extLst>
      <p:ext uri="{BB962C8B-B14F-4D97-AF65-F5344CB8AC3E}">
        <p14:creationId xmlns:p14="http://schemas.microsoft.com/office/powerpoint/2010/main" val="151152687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20</a:t>
            </a:fld>
            <a:endParaRPr lang="en-US"/>
          </a:p>
        </p:txBody>
      </p:sp>
    </p:spTree>
    <p:extLst>
      <p:ext uri="{BB962C8B-B14F-4D97-AF65-F5344CB8AC3E}">
        <p14:creationId xmlns:p14="http://schemas.microsoft.com/office/powerpoint/2010/main" val="385283903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21</a:t>
            </a:fld>
            <a:endParaRPr lang="en-US"/>
          </a:p>
        </p:txBody>
      </p:sp>
    </p:spTree>
    <p:extLst>
      <p:ext uri="{BB962C8B-B14F-4D97-AF65-F5344CB8AC3E}">
        <p14:creationId xmlns:p14="http://schemas.microsoft.com/office/powerpoint/2010/main" val="397899958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22</a:t>
            </a:fld>
            <a:endParaRPr lang="en-US"/>
          </a:p>
        </p:txBody>
      </p:sp>
    </p:spTree>
    <p:extLst>
      <p:ext uri="{BB962C8B-B14F-4D97-AF65-F5344CB8AC3E}">
        <p14:creationId xmlns:p14="http://schemas.microsoft.com/office/powerpoint/2010/main" val="152202717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23</a:t>
            </a:fld>
            <a:endParaRPr lang="en-US"/>
          </a:p>
        </p:txBody>
      </p:sp>
    </p:spTree>
    <p:extLst>
      <p:ext uri="{BB962C8B-B14F-4D97-AF65-F5344CB8AC3E}">
        <p14:creationId xmlns:p14="http://schemas.microsoft.com/office/powerpoint/2010/main" val="348748380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24</a:t>
            </a:fld>
            <a:endParaRPr lang="en-US"/>
          </a:p>
        </p:txBody>
      </p:sp>
    </p:spTree>
    <p:extLst>
      <p:ext uri="{BB962C8B-B14F-4D97-AF65-F5344CB8AC3E}">
        <p14:creationId xmlns:p14="http://schemas.microsoft.com/office/powerpoint/2010/main" val="149788419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25</a:t>
            </a:fld>
            <a:endParaRPr lang="en-US"/>
          </a:p>
        </p:txBody>
      </p:sp>
    </p:spTree>
    <p:extLst>
      <p:ext uri="{BB962C8B-B14F-4D97-AF65-F5344CB8AC3E}">
        <p14:creationId xmlns:p14="http://schemas.microsoft.com/office/powerpoint/2010/main" val="323061736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26</a:t>
            </a:fld>
            <a:endParaRPr lang="en-US"/>
          </a:p>
        </p:txBody>
      </p:sp>
    </p:spTree>
    <p:extLst>
      <p:ext uri="{BB962C8B-B14F-4D97-AF65-F5344CB8AC3E}">
        <p14:creationId xmlns:p14="http://schemas.microsoft.com/office/powerpoint/2010/main" val="413038570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C074461-D808-4EBD-B8B3-953FBFCC6ED3}" type="slidenum">
              <a:rPr lang="en-US" smtClean="0"/>
              <a:t>27</a:t>
            </a:fld>
            <a:endParaRPr lang="en-US"/>
          </a:p>
        </p:txBody>
      </p:sp>
    </p:spTree>
    <p:extLst>
      <p:ext uri="{BB962C8B-B14F-4D97-AF65-F5344CB8AC3E}">
        <p14:creationId xmlns:p14="http://schemas.microsoft.com/office/powerpoint/2010/main" val="297230580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28</a:t>
            </a:fld>
            <a:endParaRPr lang="en-US"/>
          </a:p>
        </p:txBody>
      </p:sp>
    </p:spTree>
    <p:extLst>
      <p:ext uri="{BB962C8B-B14F-4D97-AF65-F5344CB8AC3E}">
        <p14:creationId xmlns:p14="http://schemas.microsoft.com/office/powerpoint/2010/main" val="313269280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29</a:t>
            </a:fld>
            <a:endParaRPr lang="en-US"/>
          </a:p>
        </p:txBody>
      </p:sp>
    </p:spTree>
    <p:extLst>
      <p:ext uri="{BB962C8B-B14F-4D97-AF65-F5344CB8AC3E}">
        <p14:creationId xmlns:p14="http://schemas.microsoft.com/office/powerpoint/2010/main" val="384657431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a:t>Command N = New File</a:t>
            </a:r>
          </a:p>
          <a:p>
            <a:pPr marL="228600" indent="-228600">
              <a:buAutoNum type="arabicPeriod"/>
            </a:pPr>
            <a:endParaRPr lang="en-US" dirty="0"/>
          </a:p>
          <a:p>
            <a:pPr marL="228600" indent="-228600">
              <a:buAutoNum type="arabicPeriod"/>
            </a:pPr>
            <a:r>
              <a:rPr lang="en-US" dirty="0"/>
              <a:t>Counter Demo</a:t>
            </a:r>
          </a:p>
          <a:p>
            <a:pPr marL="228600" indent="-228600">
              <a:buAutoNum type="arabicPeriod"/>
            </a:pPr>
            <a:r>
              <a:rPr lang="en-US" dirty="0"/>
              <a:t>Start with failing test for current count is 0</a:t>
            </a:r>
          </a:p>
          <a:p>
            <a:pPr marL="228600" indent="-228600">
              <a:buAutoNum type="arabicPeriod"/>
            </a:pPr>
            <a:r>
              <a:rPr lang="en-US" dirty="0"/>
              <a:t>Then make it pass hardcoding things</a:t>
            </a:r>
          </a:p>
          <a:p>
            <a:pPr marL="228600" indent="-228600">
              <a:buAutoNum type="arabicPeriod"/>
            </a:pPr>
            <a:r>
              <a:rPr lang="en-US" dirty="0"/>
              <a:t>Then make a failing test for current count is 1 after you click the Increment button</a:t>
            </a:r>
          </a:p>
          <a:p>
            <a:pPr marL="228600" indent="-228600">
              <a:buAutoNum type="arabicPeriod"/>
            </a:pPr>
            <a:r>
              <a:rPr lang="en-US" dirty="0"/>
              <a:t>Then make it pass</a:t>
            </a:r>
          </a:p>
          <a:p>
            <a:pPr marL="228600" indent="-228600">
              <a:buAutoNum type="arabicPeriod"/>
            </a:pPr>
            <a:r>
              <a:rPr lang="en-US" dirty="0"/>
              <a:t>Refactor</a:t>
            </a:r>
          </a:p>
        </p:txBody>
      </p:sp>
      <p:sp>
        <p:nvSpPr>
          <p:cNvPr id="4" name="Slide Number Placeholder 3"/>
          <p:cNvSpPr>
            <a:spLocks noGrp="1"/>
          </p:cNvSpPr>
          <p:nvPr>
            <p:ph type="sldNum" sz="quarter" idx="5"/>
          </p:nvPr>
        </p:nvSpPr>
        <p:spPr/>
        <p:txBody>
          <a:bodyPr/>
          <a:lstStyle/>
          <a:p>
            <a:fld id="{EC074461-D808-4EBD-B8B3-953FBFCC6ED3}" type="slidenum">
              <a:rPr lang="en-US" smtClean="0"/>
              <a:t>30</a:t>
            </a:fld>
            <a:endParaRPr lang="en-US"/>
          </a:p>
        </p:txBody>
      </p:sp>
    </p:spTree>
    <p:extLst>
      <p:ext uri="{BB962C8B-B14F-4D97-AF65-F5344CB8AC3E}">
        <p14:creationId xmlns:p14="http://schemas.microsoft.com/office/powerpoint/2010/main" val="125463459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ACEE071-6BA9-400B-8DDD-7178D39C29B3}" type="slidenum">
              <a:rPr lang="en-US" smtClean="0"/>
              <a:t>31</a:t>
            </a:fld>
            <a:endParaRPr lang="en-US"/>
          </a:p>
        </p:txBody>
      </p:sp>
    </p:spTree>
    <p:extLst>
      <p:ext uri="{BB962C8B-B14F-4D97-AF65-F5344CB8AC3E}">
        <p14:creationId xmlns:p14="http://schemas.microsoft.com/office/powerpoint/2010/main" val="327265274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ACEE071-6BA9-400B-8DDD-7178D39C29B3}" type="slidenum">
              <a:rPr lang="en-US" smtClean="0"/>
              <a:t>32</a:t>
            </a:fld>
            <a:endParaRPr lang="en-US"/>
          </a:p>
        </p:txBody>
      </p:sp>
    </p:spTree>
    <p:extLst>
      <p:ext uri="{BB962C8B-B14F-4D97-AF65-F5344CB8AC3E}">
        <p14:creationId xmlns:p14="http://schemas.microsoft.com/office/powerpoint/2010/main" val="49052727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33</a:t>
            </a:fld>
            <a:endParaRPr lang="en-US"/>
          </a:p>
        </p:txBody>
      </p:sp>
    </p:spTree>
    <p:extLst>
      <p:ext uri="{BB962C8B-B14F-4D97-AF65-F5344CB8AC3E}">
        <p14:creationId xmlns:p14="http://schemas.microsoft.com/office/powerpoint/2010/main" val="19627000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34</a:t>
            </a:fld>
            <a:endParaRPr lang="en-US"/>
          </a:p>
        </p:txBody>
      </p:sp>
    </p:spTree>
    <p:extLst>
      <p:ext uri="{BB962C8B-B14F-4D97-AF65-F5344CB8AC3E}">
        <p14:creationId xmlns:p14="http://schemas.microsoft.com/office/powerpoint/2010/main" val="346272298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35</a:t>
            </a:fld>
            <a:endParaRPr lang="en-US"/>
          </a:p>
        </p:txBody>
      </p:sp>
    </p:spTree>
    <p:extLst>
      <p:ext uri="{BB962C8B-B14F-4D97-AF65-F5344CB8AC3E}">
        <p14:creationId xmlns:p14="http://schemas.microsoft.com/office/powerpoint/2010/main" val="285840226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36</a:t>
            </a:fld>
            <a:endParaRPr lang="en-US"/>
          </a:p>
        </p:txBody>
      </p:sp>
    </p:spTree>
    <p:extLst>
      <p:ext uri="{BB962C8B-B14F-4D97-AF65-F5344CB8AC3E}">
        <p14:creationId xmlns:p14="http://schemas.microsoft.com/office/powerpoint/2010/main" val="309522846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37</a:t>
            </a:fld>
            <a:endParaRPr lang="en-US"/>
          </a:p>
        </p:txBody>
      </p:sp>
    </p:spTree>
    <p:extLst>
      <p:ext uri="{BB962C8B-B14F-4D97-AF65-F5344CB8AC3E}">
        <p14:creationId xmlns:p14="http://schemas.microsoft.com/office/powerpoint/2010/main" val="58992003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ACEE071-6BA9-400B-8DDD-7178D39C29B3}" type="slidenum">
              <a:rPr lang="en-US" smtClean="0"/>
              <a:t>38</a:t>
            </a:fld>
            <a:endParaRPr lang="en-US"/>
          </a:p>
        </p:txBody>
      </p:sp>
    </p:spTree>
    <p:extLst>
      <p:ext uri="{BB962C8B-B14F-4D97-AF65-F5344CB8AC3E}">
        <p14:creationId xmlns:p14="http://schemas.microsoft.com/office/powerpoint/2010/main" val="258599409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39</a:t>
            </a:fld>
            <a:endParaRPr lang="en-US"/>
          </a:p>
        </p:txBody>
      </p:sp>
    </p:spTree>
    <p:extLst>
      <p:ext uri="{BB962C8B-B14F-4D97-AF65-F5344CB8AC3E}">
        <p14:creationId xmlns:p14="http://schemas.microsoft.com/office/powerpoint/2010/main" val="244210554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C074461-D808-4EBD-B8B3-953FBFCC6ED3}" type="slidenum">
              <a:rPr lang="en-US" smtClean="0"/>
              <a:t>40</a:t>
            </a:fld>
            <a:endParaRPr lang="en-US"/>
          </a:p>
        </p:txBody>
      </p:sp>
    </p:spTree>
    <p:extLst>
      <p:ext uri="{BB962C8B-B14F-4D97-AF65-F5344CB8AC3E}">
        <p14:creationId xmlns:p14="http://schemas.microsoft.com/office/powerpoint/2010/main" val="52495524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EFA197-8781-33D8-B59E-3AA4059A45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5BA7E6-BE8C-BA2A-1F05-A81724BDAE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23BE0B-368B-28B8-4D69-84D2734AC60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5289D41-2B3A-75B3-3688-E020C5C2749D}"/>
              </a:ext>
            </a:extLst>
          </p:cNvPr>
          <p:cNvSpPr>
            <a:spLocks noGrp="1"/>
          </p:cNvSpPr>
          <p:nvPr>
            <p:ph type="sldNum" sz="quarter" idx="10"/>
          </p:nvPr>
        </p:nvSpPr>
        <p:spPr/>
        <p:txBody>
          <a:bodyPr/>
          <a:lstStyle/>
          <a:p>
            <a:fld id="{2B57EC6A-F5A4-441D-B3C5-D1EF8312AF7C}" type="slidenum">
              <a:rPr lang="en-US" smtClean="0"/>
              <a:t>41</a:t>
            </a:fld>
            <a:endParaRPr lang="en-US"/>
          </a:p>
        </p:txBody>
      </p:sp>
    </p:spTree>
    <p:extLst>
      <p:ext uri="{BB962C8B-B14F-4D97-AF65-F5344CB8AC3E}">
        <p14:creationId xmlns:p14="http://schemas.microsoft.com/office/powerpoint/2010/main" val="118444810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31C64C-621A-C378-4939-F230690A8C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7F45DB-048F-4E6D-135D-2A93E0B8F9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4EC4A1-9296-5612-2928-26DC1A610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F90749D-B16A-38BE-D773-48B97BE1492E}"/>
              </a:ext>
            </a:extLst>
          </p:cNvPr>
          <p:cNvSpPr>
            <a:spLocks noGrp="1"/>
          </p:cNvSpPr>
          <p:nvPr>
            <p:ph type="sldNum" sz="quarter" idx="5"/>
          </p:nvPr>
        </p:nvSpPr>
        <p:spPr/>
        <p:txBody>
          <a:bodyPr/>
          <a:lstStyle/>
          <a:p>
            <a:fld id="{EC074461-D808-4EBD-B8B3-953FBFCC6ED3}" type="slidenum">
              <a:rPr lang="en-US" smtClean="0"/>
              <a:t>42</a:t>
            </a:fld>
            <a:endParaRPr lang="en-US"/>
          </a:p>
        </p:txBody>
      </p:sp>
    </p:spTree>
    <p:extLst>
      <p:ext uri="{BB962C8B-B14F-4D97-AF65-F5344CB8AC3E}">
        <p14:creationId xmlns:p14="http://schemas.microsoft.com/office/powerpoint/2010/main" val="31944197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43</a:t>
            </a:fld>
            <a:endParaRPr lang="en-US"/>
          </a:p>
        </p:txBody>
      </p:sp>
    </p:spTree>
    <p:extLst>
      <p:ext uri="{BB962C8B-B14F-4D97-AF65-F5344CB8AC3E}">
        <p14:creationId xmlns:p14="http://schemas.microsoft.com/office/powerpoint/2010/main" val="97635906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C074461-D808-4EBD-B8B3-953FBFCC6ED3}" type="slidenum">
              <a:rPr lang="en-US" smtClean="0"/>
              <a:t>44</a:t>
            </a:fld>
            <a:endParaRPr lang="en-US"/>
          </a:p>
        </p:txBody>
      </p:sp>
    </p:spTree>
    <p:extLst>
      <p:ext uri="{BB962C8B-B14F-4D97-AF65-F5344CB8AC3E}">
        <p14:creationId xmlns:p14="http://schemas.microsoft.com/office/powerpoint/2010/main" val="334148155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Too understaffed</a:t>
            </a:r>
          </a:p>
          <a:p>
            <a:pPr marL="171450" indent="-171450">
              <a:buFontTx/>
              <a:buChar char="-"/>
            </a:pPr>
            <a:r>
              <a:rPr lang="en-US" dirty="0"/>
              <a:t>Too much support work fixing bugs</a:t>
            </a:r>
          </a:p>
        </p:txBody>
      </p:sp>
      <p:sp>
        <p:nvSpPr>
          <p:cNvPr id="4" name="Slide Number Placeholder 3"/>
          <p:cNvSpPr>
            <a:spLocks noGrp="1"/>
          </p:cNvSpPr>
          <p:nvPr>
            <p:ph type="sldNum" sz="quarter" idx="5"/>
          </p:nvPr>
        </p:nvSpPr>
        <p:spPr/>
        <p:txBody>
          <a:bodyPr/>
          <a:lstStyle/>
          <a:p>
            <a:fld id="{EC074461-D808-4EBD-B8B3-953FBFCC6ED3}" type="slidenum">
              <a:rPr lang="en-US" smtClean="0"/>
              <a:t>45</a:t>
            </a:fld>
            <a:endParaRPr lang="en-US"/>
          </a:p>
        </p:txBody>
      </p:sp>
    </p:spTree>
    <p:extLst>
      <p:ext uri="{BB962C8B-B14F-4D97-AF65-F5344CB8AC3E}">
        <p14:creationId xmlns:p14="http://schemas.microsoft.com/office/powerpoint/2010/main" val="142926336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C074461-D808-4EBD-B8B3-953FBFCC6ED3}" type="slidenum">
              <a:rPr lang="en-US" smtClean="0"/>
              <a:t>46</a:t>
            </a:fld>
            <a:endParaRPr lang="en-US"/>
          </a:p>
        </p:txBody>
      </p:sp>
    </p:spTree>
    <p:extLst>
      <p:ext uri="{BB962C8B-B14F-4D97-AF65-F5344CB8AC3E}">
        <p14:creationId xmlns:p14="http://schemas.microsoft.com/office/powerpoint/2010/main" val="126294055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if you went to your surgeon and said “Hey I need this operation done” and he goes “Okay it’ll take 24 hours.” And if you respond “Okay but can you do it in 4?” …would you want to get surgery from the surgeon who agrees to that?</a:t>
            </a:r>
          </a:p>
          <a:p>
            <a:endParaRPr lang="en-US" dirty="0"/>
          </a:p>
          <a:p>
            <a:r>
              <a:rPr lang="en-US" dirty="0"/>
              <a:t>“Oh yeah I can totally do that surgery in 4 hours, I just need to not wash my hands, not wash the tools from the last surgery, and I’ll just use 5 stitches to sew you up instead of 50.”</a:t>
            </a:r>
          </a:p>
        </p:txBody>
      </p:sp>
      <p:sp>
        <p:nvSpPr>
          <p:cNvPr id="4" name="Slide Number Placeholder 3"/>
          <p:cNvSpPr>
            <a:spLocks noGrp="1"/>
          </p:cNvSpPr>
          <p:nvPr>
            <p:ph type="sldNum" sz="quarter" idx="5"/>
          </p:nvPr>
        </p:nvSpPr>
        <p:spPr/>
        <p:txBody>
          <a:bodyPr/>
          <a:lstStyle/>
          <a:p>
            <a:fld id="{EC074461-D808-4EBD-B8B3-953FBFCC6ED3}" type="slidenum">
              <a:rPr lang="en-US" smtClean="0"/>
              <a:t>47</a:t>
            </a:fld>
            <a:endParaRPr lang="en-US"/>
          </a:p>
        </p:txBody>
      </p:sp>
    </p:spTree>
    <p:extLst>
      <p:ext uri="{BB962C8B-B14F-4D97-AF65-F5344CB8AC3E}">
        <p14:creationId xmlns:p14="http://schemas.microsoft.com/office/powerpoint/2010/main" val="14372378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C074461-D808-4EBD-B8B3-953FBFCC6ED3}" type="slidenum">
              <a:rPr lang="en-US" smtClean="0"/>
              <a:t>48</a:t>
            </a:fld>
            <a:endParaRPr lang="en-US"/>
          </a:p>
        </p:txBody>
      </p:sp>
    </p:spTree>
    <p:extLst>
      <p:ext uri="{BB962C8B-B14F-4D97-AF65-F5344CB8AC3E}">
        <p14:creationId xmlns:p14="http://schemas.microsoft.com/office/powerpoint/2010/main" val="101429861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49</a:t>
            </a:fld>
            <a:endParaRPr lang="en-US"/>
          </a:p>
        </p:txBody>
      </p:sp>
    </p:spTree>
    <p:extLst>
      <p:ext uri="{BB962C8B-B14F-4D97-AF65-F5344CB8AC3E}">
        <p14:creationId xmlns:p14="http://schemas.microsoft.com/office/powerpoint/2010/main" val="361030125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B57EC6A-F5A4-441D-B3C5-D1EF8312AF7C}" type="slidenum">
              <a:rPr lang="en-US" smtClean="0"/>
              <a:t>50</a:t>
            </a:fld>
            <a:endParaRPr lang="en-US"/>
          </a:p>
        </p:txBody>
      </p:sp>
    </p:spTree>
    <p:extLst>
      <p:ext uri="{BB962C8B-B14F-4D97-AF65-F5344CB8AC3E}">
        <p14:creationId xmlns:p14="http://schemas.microsoft.com/office/powerpoint/2010/main" val="237828679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C074461-D808-4EBD-B8B3-953FBFCC6ED3}" type="slidenum">
              <a:rPr lang="en-US" smtClean="0"/>
              <a:t>51</a:t>
            </a:fld>
            <a:endParaRPr lang="en-US"/>
          </a:p>
        </p:txBody>
      </p:sp>
    </p:spTree>
    <p:extLst>
      <p:ext uri="{BB962C8B-B14F-4D97-AF65-F5344CB8AC3E}">
        <p14:creationId xmlns:p14="http://schemas.microsoft.com/office/powerpoint/2010/main" val="3442611556"/>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345F12-5B3B-918F-E061-701733648E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DFF449-C195-18AC-FC43-914700DBA7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E63422-DD81-6E68-3BF4-F4E578C2A9E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FC30443-1221-CC65-29BA-99798E316B6C}"/>
              </a:ext>
            </a:extLst>
          </p:cNvPr>
          <p:cNvSpPr>
            <a:spLocks noGrp="1"/>
          </p:cNvSpPr>
          <p:nvPr>
            <p:ph type="sldNum" sz="quarter" idx="5"/>
          </p:nvPr>
        </p:nvSpPr>
        <p:spPr/>
        <p:txBody>
          <a:bodyPr/>
          <a:lstStyle/>
          <a:p>
            <a:fld id="{EC074461-D808-4EBD-B8B3-953FBFCC6ED3}" type="slidenum">
              <a:rPr lang="en-US" smtClean="0"/>
              <a:t>52</a:t>
            </a:fld>
            <a:endParaRPr lang="en-US"/>
          </a:p>
        </p:txBody>
      </p:sp>
    </p:spTree>
    <p:extLst>
      <p:ext uri="{BB962C8B-B14F-4D97-AF65-F5344CB8AC3E}">
        <p14:creationId xmlns:p14="http://schemas.microsoft.com/office/powerpoint/2010/main" val="421819103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70D549-F609-4ED3-8963-AF0CBF3680E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BCAA17A-1098-419A-8585-E680D81178E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59A151D-61BD-48D1-8C67-4C327383A45F}"/>
              </a:ext>
            </a:extLst>
          </p:cNvPr>
          <p:cNvSpPr>
            <a:spLocks noGrp="1"/>
          </p:cNvSpPr>
          <p:nvPr>
            <p:ph type="dt" sz="half" idx="10"/>
          </p:nvPr>
        </p:nvSpPr>
        <p:spPr/>
        <p:txBody>
          <a:bodyPr/>
          <a:lstStyle/>
          <a:p>
            <a:fld id="{A4BF2526-C75C-47BE-928B-0135A92A66BE}" type="datetimeFigureOut">
              <a:rPr lang="en-US" smtClean="0"/>
              <a:t>5/11/26</a:t>
            </a:fld>
            <a:endParaRPr lang="en-US"/>
          </a:p>
        </p:txBody>
      </p:sp>
      <p:sp>
        <p:nvSpPr>
          <p:cNvPr id="5" name="Footer Placeholder 4">
            <a:extLst>
              <a:ext uri="{FF2B5EF4-FFF2-40B4-BE49-F238E27FC236}">
                <a16:creationId xmlns:a16="http://schemas.microsoft.com/office/drawing/2014/main" id="{4572C576-331D-4E09-88E2-6EB25C684F1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B359541-EA62-4109-ABD5-F105A295B771}"/>
              </a:ext>
            </a:extLst>
          </p:cNvPr>
          <p:cNvSpPr>
            <a:spLocks noGrp="1"/>
          </p:cNvSpPr>
          <p:nvPr>
            <p:ph type="sldNum" sz="quarter" idx="12"/>
          </p:nvPr>
        </p:nvSpPr>
        <p:spPr/>
        <p:txBody>
          <a:bodyPr/>
          <a:lstStyle/>
          <a:p>
            <a:fld id="{F8CE6D87-DEBB-4D35-A363-8431759C78C9}" type="slidenum">
              <a:rPr lang="en-US" smtClean="0"/>
              <a:t>‹#›</a:t>
            </a:fld>
            <a:endParaRPr lang="en-US"/>
          </a:p>
        </p:txBody>
      </p:sp>
    </p:spTree>
    <p:extLst>
      <p:ext uri="{BB962C8B-B14F-4D97-AF65-F5344CB8AC3E}">
        <p14:creationId xmlns:p14="http://schemas.microsoft.com/office/powerpoint/2010/main" val="4293211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295D01-CAFE-4A1A-A804-F23913EB36CF}"/>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DBDBD820-3F0E-466E-9035-C5A24E697D8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3D017A9-4DF9-4FBC-8DFE-1AF8ABE962B1}"/>
              </a:ext>
            </a:extLst>
          </p:cNvPr>
          <p:cNvSpPr>
            <a:spLocks noGrp="1"/>
          </p:cNvSpPr>
          <p:nvPr>
            <p:ph type="dt" sz="half" idx="10"/>
          </p:nvPr>
        </p:nvSpPr>
        <p:spPr/>
        <p:txBody>
          <a:bodyPr/>
          <a:lstStyle/>
          <a:p>
            <a:fld id="{A4BF2526-C75C-47BE-928B-0135A92A66BE}" type="datetimeFigureOut">
              <a:rPr lang="en-US" smtClean="0"/>
              <a:t>5/11/26</a:t>
            </a:fld>
            <a:endParaRPr lang="en-US"/>
          </a:p>
        </p:txBody>
      </p:sp>
      <p:sp>
        <p:nvSpPr>
          <p:cNvPr id="5" name="Footer Placeholder 4">
            <a:extLst>
              <a:ext uri="{FF2B5EF4-FFF2-40B4-BE49-F238E27FC236}">
                <a16:creationId xmlns:a16="http://schemas.microsoft.com/office/drawing/2014/main" id="{179C97CE-189D-45E0-91B2-04695DE2E65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86EDA0-DDF2-410C-A702-40E5C32C20A6}"/>
              </a:ext>
            </a:extLst>
          </p:cNvPr>
          <p:cNvSpPr>
            <a:spLocks noGrp="1"/>
          </p:cNvSpPr>
          <p:nvPr>
            <p:ph type="sldNum" sz="quarter" idx="12"/>
          </p:nvPr>
        </p:nvSpPr>
        <p:spPr/>
        <p:txBody>
          <a:bodyPr/>
          <a:lstStyle/>
          <a:p>
            <a:fld id="{F8CE6D87-DEBB-4D35-A363-8431759C78C9}" type="slidenum">
              <a:rPr lang="en-US" smtClean="0"/>
              <a:t>‹#›</a:t>
            </a:fld>
            <a:endParaRPr lang="en-US"/>
          </a:p>
        </p:txBody>
      </p:sp>
    </p:spTree>
    <p:extLst>
      <p:ext uri="{BB962C8B-B14F-4D97-AF65-F5344CB8AC3E}">
        <p14:creationId xmlns:p14="http://schemas.microsoft.com/office/powerpoint/2010/main" val="31372856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D84772-8467-4E19-8A52-A529C7B3DE6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8A9D6B-AA2E-41FA-BDFC-46C87BDCF8D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2B5F044-85E8-449D-A4F3-7EAC9AD07B2A}"/>
              </a:ext>
            </a:extLst>
          </p:cNvPr>
          <p:cNvSpPr>
            <a:spLocks noGrp="1"/>
          </p:cNvSpPr>
          <p:nvPr>
            <p:ph type="dt" sz="half" idx="10"/>
          </p:nvPr>
        </p:nvSpPr>
        <p:spPr/>
        <p:txBody>
          <a:bodyPr/>
          <a:lstStyle/>
          <a:p>
            <a:fld id="{A4BF2526-C75C-47BE-928B-0135A92A66BE}" type="datetimeFigureOut">
              <a:rPr lang="en-US" smtClean="0"/>
              <a:t>5/11/26</a:t>
            </a:fld>
            <a:endParaRPr lang="en-US"/>
          </a:p>
        </p:txBody>
      </p:sp>
      <p:sp>
        <p:nvSpPr>
          <p:cNvPr id="5" name="Footer Placeholder 4">
            <a:extLst>
              <a:ext uri="{FF2B5EF4-FFF2-40B4-BE49-F238E27FC236}">
                <a16:creationId xmlns:a16="http://schemas.microsoft.com/office/drawing/2014/main" id="{0C068485-216E-4AEA-8404-05B4ACF615F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1557587-3E1F-480C-81BD-741C81CE4400}"/>
              </a:ext>
            </a:extLst>
          </p:cNvPr>
          <p:cNvSpPr>
            <a:spLocks noGrp="1"/>
          </p:cNvSpPr>
          <p:nvPr>
            <p:ph type="sldNum" sz="quarter" idx="12"/>
          </p:nvPr>
        </p:nvSpPr>
        <p:spPr/>
        <p:txBody>
          <a:bodyPr/>
          <a:lstStyle/>
          <a:p>
            <a:fld id="{F8CE6D87-DEBB-4D35-A363-8431759C78C9}" type="slidenum">
              <a:rPr lang="en-US" smtClean="0"/>
              <a:t>‹#›</a:t>
            </a:fld>
            <a:endParaRPr lang="en-US"/>
          </a:p>
        </p:txBody>
      </p:sp>
    </p:spTree>
    <p:extLst>
      <p:ext uri="{BB962C8B-B14F-4D97-AF65-F5344CB8AC3E}">
        <p14:creationId xmlns:p14="http://schemas.microsoft.com/office/powerpoint/2010/main" val="27868658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9F0DC6-DE10-4E0B-BCBA-32E711C8A9E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4C68941-20E5-4343-8250-265C6DAC54E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0677973-E72E-4CC0-8D61-FCCC8406C11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4EFF417-B339-40DE-B352-1ECEDBB7BA2E}"/>
              </a:ext>
            </a:extLst>
          </p:cNvPr>
          <p:cNvSpPr>
            <a:spLocks noGrp="1"/>
          </p:cNvSpPr>
          <p:nvPr>
            <p:ph type="dt" sz="half" idx="10"/>
          </p:nvPr>
        </p:nvSpPr>
        <p:spPr/>
        <p:txBody>
          <a:bodyPr/>
          <a:lstStyle/>
          <a:p>
            <a:fld id="{A4BF2526-C75C-47BE-928B-0135A92A66BE}" type="datetimeFigureOut">
              <a:rPr lang="en-US" smtClean="0"/>
              <a:t>5/11/26</a:t>
            </a:fld>
            <a:endParaRPr lang="en-US"/>
          </a:p>
        </p:txBody>
      </p:sp>
      <p:sp>
        <p:nvSpPr>
          <p:cNvPr id="6" name="Footer Placeholder 5">
            <a:extLst>
              <a:ext uri="{FF2B5EF4-FFF2-40B4-BE49-F238E27FC236}">
                <a16:creationId xmlns:a16="http://schemas.microsoft.com/office/drawing/2014/main" id="{B145B31E-728B-4DBE-8BD9-E37BC320A5E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5D743D7-ECE6-4EEE-A8EE-EFB4DBFE537B}"/>
              </a:ext>
            </a:extLst>
          </p:cNvPr>
          <p:cNvSpPr>
            <a:spLocks noGrp="1"/>
          </p:cNvSpPr>
          <p:nvPr>
            <p:ph type="sldNum" sz="quarter" idx="12"/>
          </p:nvPr>
        </p:nvSpPr>
        <p:spPr/>
        <p:txBody>
          <a:bodyPr/>
          <a:lstStyle/>
          <a:p>
            <a:fld id="{F8CE6D87-DEBB-4D35-A363-8431759C78C9}" type="slidenum">
              <a:rPr lang="en-US" smtClean="0"/>
              <a:t>‹#›</a:t>
            </a:fld>
            <a:endParaRPr lang="en-US"/>
          </a:p>
        </p:txBody>
      </p:sp>
    </p:spTree>
    <p:extLst>
      <p:ext uri="{BB962C8B-B14F-4D97-AF65-F5344CB8AC3E}">
        <p14:creationId xmlns:p14="http://schemas.microsoft.com/office/powerpoint/2010/main" val="41146457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55A82E-579C-45F5-A951-1E10C98D14E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1672278-8C31-4955-BCB5-81132BB5FB2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FB4B5AF-BC8F-4D55-B34E-3947255AEB4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8C4CE63-7562-4D15-BD15-363CDC2145D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0026435-DAAC-4A88-8E75-D1C9066E3A8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66F1FBD-42A5-4A9E-8F95-934AAA624C4A}"/>
              </a:ext>
            </a:extLst>
          </p:cNvPr>
          <p:cNvSpPr>
            <a:spLocks noGrp="1"/>
          </p:cNvSpPr>
          <p:nvPr>
            <p:ph type="dt" sz="half" idx="10"/>
          </p:nvPr>
        </p:nvSpPr>
        <p:spPr/>
        <p:txBody>
          <a:bodyPr/>
          <a:lstStyle/>
          <a:p>
            <a:fld id="{A4BF2526-C75C-47BE-928B-0135A92A66BE}" type="datetimeFigureOut">
              <a:rPr lang="en-US" smtClean="0"/>
              <a:t>5/11/26</a:t>
            </a:fld>
            <a:endParaRPr lang="en-US"/>
          </a:p>
        </p:txBody>
      </p:sp>
      <p:sp>
        <p:nvSpPr>
          <p:cNvPr id="8" name="Footer Placeholder 7">
            <a:extLst>
              <a:ext uri="{FF2B5EF4-FFF2-40B4-BE49-F238E27FC236}">
                <a16:creationId xmlns:a16="http://schemas.microsoft.com/office/drawing/2014/main" id="{263529DF-CBEB-4F8A-AE4A-1E17ED0E3F6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A11928E-44C3-496F-B06D-DE65B8B56D50}"/>
              </a:ext>
            </a:extLst>
          </p:cNvPr>
          <p:cNvSpPr>
            <a:spLocks noGrp="1"/>
          </p:cNvSpPr>
          <p:nvPr>
            <p:ph type="sldNum" sz="quarter" idx="12"/>
          </p:nvPr>
        </p:nvSpPr>
        <p:spPr/>
        <p:txBody>
          <a:bodyPr/>
          <a:lstStyle/>
          <a:p>
            <a:fld id="{F8CE6D87-DEBB-4D35-A363-8431759C78C9}" type="slidenum">
              <a:rPr lang="en-US" smtClean="0"/>
              <a:t>‹#›</a:t>
            </a:fld>
            <a:endParaRPr lang="en-US"/>
          </a:p>
        </p:txBody>
      </p:sp>
    </p:spTree>
    <p:extLst>
      <p:ext uri="{BB962C8B-B14F-4D97-AF65-F5344CB8AC3E}">
        <p14:creationId xmlns:p14="http://schemas.microsoft.com/office/powerpoint/2010/main" val="13492585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61837D-0203-44E9-A800-75FB3F0C900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F7691E0-63A3-4F58-8784-3CF3D4825FEC}"/>
              </a:ext>
            </a:extLst>
          </p:cNvPr>
          <p:cNvSpPr>
            <a:spLocks noGrp="1"/>
          </p:cNvSpPr>
          <p:nvPr>
            <p:ph type="dt" sz="half" idx="10"/>
          </p:nvPr>
        </p:nvSpPr>
        <p:spPr/>
        <p:txBody>
          <a:bodyPr/>
          <a:lstStyle/>
          <a:p>
            <a:fld id="{A4BF2526-C75C-47BE-928B-0135A92A66BE}" type="datetimeFigureOut">
              <a:rPr lang="en-US" smtClean="0"/>
              <a:t>5/11/26</a:t>
            </a:fld>
            <a:endParaRPr lang="en-US"/>
          </a:p>
        </p:txBody>
      </p:sp>
      <p:sp>
        <p:nvSpPr>
          <p:cNvPr id="4" name="Footer Placeholder 3">
            <a:extLst>
              <a:ext uri="{FF2B5EF4-FFF2-40B4-BE49-F238E27FC236}">
                <a16:creationId xmlns:a16="http://schemas.microsoft.com/office/drawing/2014/main" id="{A543B4FF-56D4-4561-8AA0-715AC2EF17A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A24245B-8F4F-4989-8B66-F14D9F460DCC}"/>
              </a:ext>
            </a:extLst>
          </p:cNvPr>
          <p:cNvSpPr>
            <a:spLocks noGrp="1"/>
          </p:cNvSpPr>
          <p:nvPr>
            <p:ph type="sldNum" sz="quarter" idx="12"/>
          </p:nvPr>
        </p:nvSpPr>
        <p:spPr/>
        <p:txBody>
          <a:bodyPr/>
          <a:lstStyle/>
          <a:p>
            <a:fld id="{F8CE6D87-DEBB-4D35-A363-8431759C78C9}" type="slidenum">
              <a:rPr lang="en-US" smtClean="0"/>
              <a:t>‹#›</a:t>
            </a:fld>
            <a:endParaRPr lang="en-US"/>
          </a:p>
        </p:txBody>
      </p:sp>
    </p:spTree>
    <p:extLst>
      <p:ext uri="{BB962C8B-B14F-4D97-AF65-F5344CB8AC3E}">
        <p14:creationId xmlns:p14="http://schemas.microsoft.com/office/powerpoint/2010/main" val="14014748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597D826-C0CD-4DA3-9804-3B37794D9B46}"/>
              </a:ext>
            </a:extLst>
          </p:cNvPr>
          <p:cNvSpPr>
            <a:spLocks noGrp="1"/>
          </p:cNvSpPr>
          <p:nvPr>
            <p:ph type="dt" sz="half" idx="10"/>
          </p:nvPr>
        </p:nvSpPr>
        <p:spPr/>
        <p:txBody>
          <a:bodyPr/>
          <a:lstStyle/>
          <a:p>
            <a:fld id="{A4BF2526-C75C-47BE-928B-0135A92A66BE}" type="datetimeFigureOut">
              <a:rPr lang="en-US" smtClean="0"/>
              <a:t>5/11/26</a:t>
            </a:fld>
            <a:endParaRPr lang="en-US"/>
          </a:p>
        </p:txBody>
      </p:sp>
      <p:sp>
        <p:nvSpPr>
          <p:cNvPr id="3" name="Footer Placeholder 2">
            <a:extLst>
              <a:ext uri="{FF2B5EF4-FFF2-40B4-BE49-F238E27FC236}">
                <a16:creationId xmlns:a16="http://schemas.microsoft.com/office/drawing/2014/main" id="{DB73DFA2-D509-44F1-BB96-FF03916E0E9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2BF2E06-E28D-4612-9A89-EBD147748F41}"/>
              </a:ext>
            </a:extLst>
          </p:cNvPr>
          <p:cNvSpPr>
            <a:spLocks noGrp="1"/>
          </p:cNvSpPr>
          <p:nvPr>
            <p:ph type="sldNum" sz="quarter" idx="12"/>
          </p:nvPr>
        </p:nvSpPr>
        <p:spPr/>
        <p:txBody>
          <a:bodyPr/>
          <a:lstStyle/>
          <a:p>
            <a:fld id="{F8CE6D87-DEBB-4D35-A363-8431759C78C9}" type="slidenum">
              <a:rPr lang="en-US" smtClean="0"/>
              <a:t>‹#›</a:t>
            </a:fld>
            <a:endParaRPr lang="en-US"/>
          </a:p>
        </p:txBody>
      </p:sp>
    </p:spTree>
    <p:extLst>
      <p:ext uri="{BB962C8B-B14F-4D97-AF65-F5344CB8AC3E}">
        <p14:creationId xmlns:p14="http://schemas.microsoft.com/office/powerpoint/2010/main" val="41892002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9EA060-F102-4A2F-A00A-664EF548006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F9E5B43-3611-4819-A036-8C5F1E42BE3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6EA2AB7-BFE4-490A-AFEB-5A016701BA7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C585B19-24B8-4C1F-89D6-5412D092758A}"/>
              </a:ext>
            </a:extLst>
          </p:cNvPr>
          <p:cNvSpPr>
            <a:spLocks noGrp="1"/>
          </p:cNvSpPr>
          <p:nvPr>
            <p:ph type="dt" sz="half" idx="10"/>
          </p:nvPr>
        </p:nvSpPr>
        <p:spPr/>
        <p:txBody>
          <a:bodyPr/>
          <a:lstStyle/>
          <a:p>
            <a:fld id="{A4BF2526-C75C-47BE-928B-0135A92A66BE}" type="datetimeFigureOut">
              <a:rPr lang="en-US" smtClean="0"/>
              <a:t>5/11/26</a:t>
            </a:fld>
            <a:endParaRPr lang="en-US"/>
          </a:p>
        </p:txBody>
      </p:sp>
      <p:sp>
        <p:nvSpPr>
          <p:cNvPr id="6" name="Footer Placeholder 5">
            <a:extLst>
              <a:ext uri="{FF2B5EF4-FFF2-40B4-BE49-F238E27FC236}">
                <a16:creationId xmlns:a16="http://schemas.microsoft.com/office/drawing/2014/main" id="{F9179F1F-F5FB-498D-A4C7-6EDC1DD78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1A78AB6-BF35-4C0B-B331-22ED520AE9E2}"/>
              </a:ext>
            </a:extLst>
          </p:cNvPr>
          <p:cNvSpPr>
            <a:spLocks noGrp="1"/>
          </p:cNvSpPr>
          <p:nvPr>
            <p:ph type="sldNum" sz="quarter" idx="12"/>
          </p:nvPr>
        </p:nvSpPr>
        <p:spPr/>
        <p:txBody>
          <a:bodyPr/>
          <a:lstStyle/>
          <a:p>
            <a:fld id="{F8CE6D87-DEBB-4D35-A363-8431759C78C9}" type="slidenum">
              <a:rPr lang="en-US" smtClean="0"/>
              <a:t>‹#›</a:t>
            </a:fld>
            <a:endParaRPr lang="en-US"/>
          </a:p>
        </p:txBody>
      </p:sp>
    </p:spTree>
    <p:extLst>
      <p:ext uri="{BB962C8B-B14F-4D97-AF65-F5344CB8AC3E}">
        <p14:creationId xmlns:p14="http://schemas.microsoft.com/office/powerpoint/2010/main" val="33038721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A6FE43-BAB1-41F0-BFF0-94DD8B3F4B7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2C826E6-5590-4624-A426-EE1A424BC75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5D4AF21-041F-4FA7-87E4-B870EDA36B3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C47AF2C-DB15-4789-9385-B5DB53324498}"/>
              </a:ext>
            </a:extLst>
          </p:cNvPr>
          <p:cNvSpPr>
            <a:spLocks noGrp="1"/>
          </p:cNvSpPr>
          <p:nvPr>
            <p:ph type="dt" sz="half" idx="10"/>
          </p:nvPr>
        </p:nvSpPr>
        <p:spPr/>
        <p:txBody>
          <a:bodyPr/>
          <a:lstStyle/>
          <a:p>
            <a:fld id="{A4BF2526-C75C-47BE-928B-0135A92A66BE}" type="datetimeFigureOut">
              <a:rPr lang="en-US" smtClean="0"/>
              <a:t>5/11/26</a:t>
            </a:fld>
            <a:endParaRPr lang="en-US"/>
          </a:p>
        </p:txBody>
      </p:sp>
      <p:sp>
        <p:nvSpPr>
          <p:cNvPr id="6" name="Footer Placeholder 5">
            <a:extLst>
              <a:ext uri="{FF2B5EF4-FFF2-40B4-BE49-F238E27FC236}">
                <a16:creationId xmlns:a16="http://schemas.microsoft.com/office/drawing/2014/main" id="{C2F65690-CB51-4930-B426-18021D38FB0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C4FFDAB-4B46-4100-A689-0064DB52B04E}"/>
              </a:ext>
            </a:extLst>
          </p:cNvPr>
          <p:cNvSpPr>
            <a:spLocks noGrp="1"/>
          </p:cNvSpPr>
          <p:nvPr>
            <p:ph type="sldNum" sz="quarter" idx="12"/>
          </p:nvPr>
        </p:nvSpPr>
        <p:spPr/>
        <p:txBody>
          <a:bodyPr/>
          <a:lstStyle/>
          <a:p>
            <a:fld id="{F8CE6D87-DEBB-4D35-A363-8431759C78C9}" type="slidenum">
              <a:rPr lang="en-US" smtClean="0"/>
              <a:t>‹#›</a:t>
            </a:fld>
            <a:endParaRPr lang="en-US"/>
          </a:p>
        </p:txBody>
      </p:sp>
    </p:spTree>
    <p:extLst>
      <p:ext uri="{BB962C8B-B14F-4D97-AF65-F5344CB8AC3E}">
        <p14:creationId xmlns:p14="http://schemas.microsoft.com/office/powerpoint/2010/main" val="21407250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174FE6-F914-41AA-88EC-E4EB246CE95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B76D8E4-7B81-43C8-9E0C-E6D9BBE6A48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2C0A446-E986-479F-865A-253DDD95AAF0}"/>
              </a:ext>
            </a:extLst>
          </p:cNvPr>
          <p:cNvSpPr>
            <a:spLocks noGrp="1"/>
          </p:cNvSpPr>
          <p:nvPr>
            <p:ph type="dt" sz="half" idx="10"/>
          </p:nvPr>
        </p:nvSpPr>
        <p:spPr/>
        <p:txBody>
          <a:bodyPr/>
          <a:lstStyle/>
          <a:p>
            <a:fld id="{A4BF2526-C75C-47BE-928B-0135A92A66BE}" type="datetimeFigureOut">
              <a:rPr lang="en-US" smtClean="0"/>
              <a:t>5/11/26</a:t>
            </a:fld>
            <a:endParaRPr lang="en-US"/>
          </a:p>
        </p:txBody>
      </p:sp>
      <p:sp>
        <p:nvSpPr>
          <p:cNvPr id="5" name="Footer Placeholder 4">
            <a:extLst>
              <a:ext uri="{FF2B5EF4-FFF2-40B4-BE49-F238E27FC236}">
                <a16:creationId xmlns:a16="http://schemas.microsoft.com/office/drawing/2014/main" id="{61962C5E-6BC2-4157-896F-20C3B395614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2CA8BB-B7DC-49ED-A1F9-454493196321}"/>
              </a:ext>
            </a:extLst>
          </p:cNvPr>
          <p:cNvSpPr>
            <a:spLocks noGrp="1"/>
          </p:cNvSpPr>
          <p:nvPr>
            <p:ph type="sldNum" sz="quarter" idx="12"/>
          </p:nvPr>
        </p:nvSpPr>
        <p:spPr/>
        <p:txBody>
          <a:bodyPr/>
          <a:lstStyle/>
          <a:p>
            <a:fld id="{F8CE6D87-DEBB-4D35-A363-8431759C78C9}" type="slidenum">
              <a:rPr lang="en-US" smtClean="0"/>
              <a:t>‹#›</a:t>
            </a:fld>
            <a:endParaRPr lang="en-US"/>
          </a:p>
        </p:txBody>
      </p:sp>
    </p:spTree>
    <p:extLst>
      <p:ext uri="{BB962C8B-B14F-4D97-AF65-F5344CB8AC3E}">
        <p14:creationId xmlns:p14="http://schemas.microsoft.com/office/powerpoint/2010/main" val="17649139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1BD8934-B74E-4AE0-B765-ECE3C9A074F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8A56AB3-C0E0-4C3D-B3A4-916BF6C313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E742220-AFF0-42C5-AF12-AD2AC576987C}"/>
              </a:ext>
            </a:extLst>
          </p:cNvPr>
          <p:cNvSpPr>
            <a:spLocks noGrp="1"/>
          </p:cNvSpPr>
          <p:nvPr>
            <p:ph type="dt" sz="half" idx="10"/>
          </p:nvPr>
        </p:nvSpPr>
        <p:spPr/>
        <p:txBody>
          <a:bodyPr/>
          <a:lstStyle/>
          <a:p>
            <a:fld id="{A4BF2526-C75C-47BE-928B-0135A92A66BE}" type="datetimeFigureOut">
              <a:rPr lang="en-US" smtClean="0"/>
              <a:t>5/11/26</a:t>
            </a:fld>
            <a:endParaRPr lang="en-US"/>
          </a:p>
        </p:txBody>
      </p:sp>
      <p:sp>
        <p:nvSpPr>
          <p:cNvPr id="5" name="Footer Placeholder 4">
            <a:extLst>
              <a:ext uri="{FF2B5EF4-FFF2-40B4-BE49-F238E27FC236}">
                <a16:creationId xmlns:a16="http://schemas.microsoft.com/office/drawing/2014/main" id="{04BED1E5-E582-4C65-900E-24E56C3987B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39EE9A6-F609-4B8B-AE51-59399BB00C90}"/>
              </a:ext>
            </a:extLst>
          </p:cNvPr>
          <p:cNvSpPr>
            <a:spLocks noGrp="1"/>
          </p:cNvSpPr>
          <p:nvPr>
            <p:ph type="sldNum" sz="quarter" idx="12"/>
          </p:nvPr>
        </p:nvSpPr>
        <p:spPr/>
        <p:txBody>
          <a:bodyPr/>
          <a:lstStyle/>
          <a:p>
            <a:fld id="{F8CE6D87-DEBB-4D35-A363-8431759C78C9}" type="slidenum">
              <a:rPr lang="en-US" smtClean="0"/>
              <a:t>‹#›</a:t>
            </a:fld>
            <a:endParaRPr lang="en-US"/>
          </a:p>
        </p:txBody>
      </p:sp>
    </p:spTree>
    <p:extLst>
      <p:ext uri="{BB962C8B-B14F-4D97-AF65-F5344CB8AC3E}">
        <p14:creationId xmlns:p14="http://schemas.microsoft.com/office/powerpoint/2010/main" val="26955957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8D6E2E7-5F4D-4B43-B201-1C682CF80B5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DCA8DF1-9081-4F65-B36D-44EAFBA9C77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33121AD-9DC3-463F-98F7-B2E1CA5400C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4BF2526-C75C-47BE-928B-0135A92A66BE}" type="datetimeFigureOut">
              <a:rPr lang="en-US" smtClean="0"/>
              <a:t>5/11/26</a:t>
            </a:fld>
            <a:endParaRPr lang="en-US"/>
          </a:p>
        </p:txBody>
      </p:sp>
      <p:sp>
        <p:nvSpPr>
          <p:cNvPr id="5" name="Footer Placeholder 4">
            <a:extLst>
              <a:ext uri="{FF2B5EF4-FFF2-40B4-BE49-F238E27FC236}">
                <a16:creationId xmlns:a16="http://schemas.microsoft.com/office/drawing/2014/main" id="{2800C0D7-400D-4BA6-BC06-CFC5FBDCFCE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72E6C9D-08DD-4E4B-8A70-A4B32C36A21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8CE6D87-DEBB-4D35-A363-8431759C78C9}" type="slidenum">
              <a:rPr lang="en-US" smtClean="0"/>
              <a:t>‹#›</a:t>
            </a:fld>
            <a:endParaRPr lang="en-US"/>
          </a:p>
        </p:txBody>
      </p:sp>
    </p:spTree>
    <p:extLst>
      <p:ext uri="{BB962C8B-B14F-4D97-AF65-F5344CB8AC3E}">
        <p14:creationId xmlns:p14="http://schemas.microsoft.com/office/powerpoint/2010/main" val="592325412"/>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hyperlink" Target="https://leantechniques.com/" TargetMode="External"/><Relationship Id="rId7" Type="http://schemas.openxmlformats.org/officeDocument/2006/relationships/hyperlink" Target="https://www.red-gate.com/hub/events/friends-of-rg/friend/ScottSauber" TargetMode="External"/><Relationship Id="rId12"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hyperlink" Target="https://www.meetup.com/iadnug/" TargetMode="External"/><Relationship Id="rId11" Type="http://schemas.openxmlformats.org/officeDocument/2006/relationships/image" Target="../media/image6.jpeg"/><Relationship Id="rId5" Type="http://schemas.openxmlformats.org/officeDocument/2006/relationships/hyperlink" Target="https://dometrain.com/author/scott-sauber/" TargetMode="External"/><Relationship Id="rId10" Type="http://schemas.openxmlformats.org/officeDocument/2006/relationships/image" Target="../media/image5.jpeg"/><Relationship Id="rId4" Type="http://schemas.openxmlformats.org/officeDocument/2006/relationships/hyperlink" Target="https://mvp.microsoft.com/en-us/PublicProfile/5005146?fullName=Scott%20%20Sauber" TargetMode="External"/><Relationship Id="rId9"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2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5.png"/></Relationships>
</file>

<file path=ppt/slides/_rels/slide2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7.xm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18.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hyperlink" Target="https://kentcdodds.com/blog/write-tests" TargetMode="External"/><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26.jpeg"/><Relationship Id="rId5" Type="http://schemas.openxmlformats.org/officeDocument/2006/relationships/image" Target="../media/image2.png"/><Relationship Id="rId4" Type="http://schemas.openxmlformats.org/officeDocument/2006/relationships/hyperlink" Target="https://github.com/scottsauber/talks" TargetMode="External"/></Relationships>
</file>

<file path=ppt/slides/_rels/slide5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51.xml"/><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image" Target="../media/image28.jpeg"/></Relationships>
</file>

<file path=ppt/slides/_rels/slide5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52.xml"/><Relationship Id="rId1" Type="http://schemas.openxmlformats.org/officeDocument/2006/relationships/slideLayout" Target="../slideLayouts/slideLayout2.xml"/><Relationship Id="rId5" Type="http://schemas.openxmlformats.org/officeDocument/2006/relationships/image" Target="../media/image28.jpeg"/><Relationship Id="rId4" Type="http://schemas.openxmlformats.org/officeDocument/2006/relationships/image" Target="../media/image27.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69B6"/>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E7171-AFDD-4862-9A69-284665CD3345}"/>
              </a:ext>
            </a:extLst>
          </p:cNvPr>
          <p:cNvSpPr>
            <a:spLocks noGrp="1"/>
          </p:cNvSpPr>
          <p:nvPr>
            <p:ph type="ctrTitle"/>
          </p:nvPr>
        </p:nvSpPr>
        <p:spPr>
          <a:xfrm>
            <a:off x="0" y="1434242"/>
            <a:ext cx="12192000" cy="3344984"/>
          </a:xfrm>
        </p:spPr>
        <p:txBody>
          <a:bodyPr>
            <a:normAutofit/>
          </a:bodyPr>
          <a:lstStyle/>
          <a:p>
            <a:r>
              <a:rPr lang="en-US" sz="7700" b="1" dirty="0">
                <a:solidFill>
                  <a:schemeClr val="bg1"/>
                </a:solidFill>
                <a:latin typeface="+mn-lt"/>
                <a:ea typeface="Open Sans" panose="020B0606030504020204" pitchFamily="34" charset="0"/>
                <a:cs typeface="Open Sans" panose="020B0606030504020204" pitchFamily="34" charset="0"/>
              </a:rPr>
              <a:t>Test Driven Development</a:t>
            </a:r>
            <a:br>
              <a:rPr lang="en-US" sz="7700" b="1" dirty="0">
                <a:solidFill>
                  <a:schemeClr val="bg1"/>
                </a:solidFill>
                <a:latin typeface="+mn-lt"/>
                <a:ea typeface="Open Sans" panose="020B0606030504020204" pitchFamily="34" charset="0"/>
                <a:cs typeface="Open Sans" panose="020B0606030504020204" pitchFamily="34" charset="0"/>
              </a:rPr>
            </a:br>
            <a:r>
              <a:rPr lang="en-US" sz="7700" b="1" dirty="0">
                <a:solidFill>
                  <a:schemeClr val="bg1"/>
                </a:solidFill>
                <a:latin typeface="+mn-lt"/>
                <a:ea typeface="Open Sans" panose="020B0606030504020204" pitchFamily="34" charset="0"/>
                <a:cs typeface="Open Sans" panose="020B0606030504020204" pitchFamily="34" charset="0"/>
              </a:rPr>
              <a:t>with </a:t>
            </a:r>
            <a:r>
              <a:rPr lang="en-US" sz="7700" b="1" dirty="0" err="1">
                <a:solidFill>
                  <a:schemeClr val="bg1"/>
                </a:solidFill>
                <a:latin typeface="+mn-lt"/>
                <a:ea typeface="Open Sans" panose="020B0606030504020204" pitchFamily="34" charset="0"/>
                <a:cs typeface="Open Sans" panose="020B0606030504020204" pitchFamily="34" charset="0"/>
              </a:rPr>
              <a:t>Blazor</a:t>
            </a:r>
            <a:endParaRPr lang="en-US" sz="7700" b="1" dirty="0">
              <a:solidFill>
                <a:schemeClr val="bg1"/>
              </a:solidFill>
              <a:latin typeface="+mn-lt"/>
              <a:ea typeface="Open Sans" panose="020B0606030504020204" pitchFamily="34" charset="0"/>
              <a:cs typeface="Open Sans" panose="020B0606030504020204" pitchFamily="34" charset="0"/>
            </a:endParaRPr>
          </a:p>
        </p:txBody>
      </p:sp>
      <p:sp>
        <p:nvSpPr>
          <p:cNvPr id="4" name="Subtitle 2">
            <a:extLst>
              <a:ext uri="{FF2B5EF4-FFF2-40B4-BE49-F238E27FC236}">
                <a16:creationId xmlns:a16="http://schemas.microsoft.com/office/drawing/2014/main" id="{938EF936-BB12-46CA-86F7-049CEBB8D29A}"/>
              </a:ext>
            </a:extLst>
          </p:cNvPr>
          <p:cNvSpPr>
            <a:spLocks noGrp="1"/>
          </p:cNvSpPr>
          <p:nvPr>
            <p:ph type="subTitle" idx="1"/>
          </p:nvPr>
        </p:nvSpPr>
        <p:spPr>
          <a:xfrm>
            <a:off x="0" y="6295281"/>
            <a:ext cx="4184374" cy="525294"/>
          </a:xfrm>
        </p:spPr>
        <p:txBody>
          <a:bodyPr>
            <a:normAutofit/>
          </a:bodyPr>
          <a:lstStyle/>
          <a:p>
            <a:pPr algn="l"/>
            <a:r>
              <a:rPr lang="en-US" dirty="0">
                <a:solidFill>
                  <a:schemeClr val="bg1"/>
                </a:solidFill>
                <a:ea typeface="Open Sans" panose="020B0606030504020204" pitchFamily="34" charset="0"/>
                <a:cs typeface="Open Sans" panose="020B0606030504020204" pitchFamily="34" charset="0"/>
              </a:rPr>
              <a:t>Slides up at scottsauber.com</a:t>
            </a:r>
          </a:p>
        </p:txBody>
      </p:sp>
      <p:grpSp>
        <p:nvGrpSpPr>
          <p:cNvPr id="5" name="Group 4">
            <a:extLst>
              <a:ext uri="{FF2B5EF4-FFF2-40B4-BE49-F238E27FC236}">
                <a16:creationId xmlns:a16="http://schemas.microsoft.com/office/drawing/2014/main" id="{48F464C5-3076-4402-9791-59D524AC8DC8}"/>
              </a:ext>
            </a:extLst>
          </p:cNvPr>
          <p:cNvGrpSpPr/>
          <p:nvPr/>
        </p:nvGrpSpPr>
        <p:grpSpPr>
          <a:xfrm>
            <a:off x="10158636" y="6320767"/>
            <a:ext cx="2106544" cy="474323"/>
            <a:chOff x="9994831" y="6185410"/>
            <a:chExt cx="2106544" cy="474323"/>
          </a:xfrm>
        </p:grpSpPr>
        <p:pic>
          <p:nvPicPr>
            <p:cNvPr id="6" name="Picture 2" descr="Image result for twitter logo">
              <a:extLst>
                <a:ext uri="{FF2B5EF4-FFF2-40B4-BE49-F238E27FC236}">
                  <a16:creationId xmlns:a16="http://schemas.microsoft.com/office/drawing/2014/main" id="{BF5CBA11-98FF-4FEC-A8EF-50E5FADF0F94}"/>
                </a:ext>
              </a:extLst>
            </p:cNvPr>
            <p:cNvPicPr>
              <a:picLocks noChangeAspect="1" noChangeArrowheads="1"/>
            </p:cNvPicPr>
            <p:nvPr/>
          </p:nvPicPr>
          <p:blipFill>
            <a:blip r:embed="rId3" cstate="hqprint">
              <a:extLst>
                <a:ext uri="{28A0092B-C50C-407E-A947-70E740481C1C}">
                  <a14:useLocalDpi xmlns:a14="http://schemas.microsoft.com/office/drawing/2010/main" val="0"/>
                </a:ext>
              </a:extLst>
            </a:blip>
            <a:srcRect/>
            <a:stretch>
              <a:fillRect/>
            </a:stretch>
          </p:blipFill>
          <p:spPr bwMode="auto">
            <a:xfrm>
              <a:off x="9994831" y="6267602"/>
              <a:ext cx="328512" cy="266762"/>
            </a:xfrm>
            <a:prstGeom prst="rect">
              <a:avLst/>
            </a:prstGeom>
            <a:noFill/>
            <a:extLst>
              <a:ext uri="{909E8E84-426E-40DD-AFC4-6F175D3DCCD1}">
                <a14:hiddenFill xmlns:a14="http://schemas.microsoft.com/office/drawing/2010/main">
                  <a:solidFill>
                    <a:srgbClr val="FFFFFF"/>
                  </a:solidFill>
                </a14:hiddenFill>
              </a:ext>
            </a:extLst>
          </p:spPr>
        </p:pic>
        <p:sp>
          <p:nvSpPr>
            <p:cNvPr id="7" name="Subtitle 2">
              <a:extLst>
                <a:ext uri="{FF2B5EF4-FFF2-40B4-BE49-F238E27FC236}">
                  <a16:creationId xmlns:a16="http://schemas.microsoft.com/office/drawing/2014/main" id="{9B9DABC1-AB03-4BB4-80DE-954141378043}"/>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solidFill>
                </a:rPr>
                <a:t>scottsauber</a:t>
              </a:r>
              <a:endParaRPr lang="en-US" dirty="0">
                <a:solidFill>
                  <a:schemeClr val="bg1"/>
                </a:solidFill>
              </a:endParaRPr>
            </a:p>
          </p:txBody>
        </p:sp>
        <p:pic>
          <p:nvPicPr>
            <p:cNvPr id="8" name="Picture 2" descr="Image result for twitter logo">
              <a:extLst>
                <a:ext uri="{FF2B5EF4-FFF2-40B4-BE49-F238E27FC236}">
                  <a16:creationId xmlns:a16="http://schemas.microsoft.com/office/drawing/2014/main" id="{9312450C-A15A-4CF9-8CFC-DDCA027CB85A}"/>
                </a:ext>
              </a:extLst>
            </p:cNvPr>
            <p:cNvPicPr>
              <a:picLocks noChangeAspect="1" noChangeArrowheads="1"/>
            </p:cNvPicPr>
            <p:nvPr/>
          </p:nvPicPr>
          <p:blipFill>
            <a:blip r:embed="rId3" cstate="hqprint">
              <a:extLst>
                <a:ext uri="{28A0092B-C50C-407E-A947-70E740481C1C}">
                  <a14:useLocalDpi xmlns:a14="http://schemas.microsoft.com/office/drawing/2010/main" val="0"/>
                </a:ext>
              </a:extLst>
            </a:blip>
            <a:srcRect/>
            <a:stretch>
              <a:fillRect/>
            </a:stretch>
          </p:blipFill>
          <p:spPr bwMode="auto">
            <a:xfrm>
              <a:off x="9994831" y="6290606"/>
              <a:ext cx="328512" cy="266762"/>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4306798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ea typeface="Open Sans" panose="020B0606030504020204" pitchFamily="34" charset="0"/>
                <a:cs typeface="Open Sans" panose="020B0606030504020204" pitchFamily="34" charset="0"/>
              </a:rPr>
              <a:t>Audience</a:t>
            </a:r>
          </a:p>
        </p:txBody>
      </p:sp>
      <p:sp>
        <p:nvSpPr>
          <p:cNvPr id="3" name="Content Placeholder 2"/>
          <p:cNvSpPr>
            <a:spLocks noGrp="1"/>
          </p:cNvSpPr>
          <p:nvPr>
            <p:ph idx="1"/>
          </p:nvPr>
        </p:nvSpPr>
        <p:spPr>
          <a:xfrm>
            <a:off x="838200" y="1825624"/>
            <a:ext cx="10515600" cy="4779637"/>
          </a:xfrm>
        </p:spPr>
        <p:txBody>
          <a:bodyPr>
            <a:normAutofit/>
          </a:bodyPr>
          <a:lstStyle/>
          <a:p>
            <a:r>
              <a:rPr lang="en-US" dirty="0">
                <a:ea typeface="Open Sans" panose="020B0606030504020204" pitchFamily="34" charset="0"/>
                <a:cs typeface="Open Sans" panose="020B0606030504020204" pitchFamily="34" charset="0"/>
              </a:rPr>
              <a:t>Familiar with </a:t>
            </a:r>
            <a:r>
              <a:rPr lang="en-US" dirty="0" err="1">
                <a:ea typeface="Open Sans" panose="020B0606030504020204" pitchFamily="34" charset="0"/>
                <a:cs typeface="Open Sans" panose="020B0606030504020204" pitchFamily="34" charset="0"/>
              </a:rPr>
              <a:t>Blazor</a:t>
            </a:r>
            <a:endParaRPr lang="en-US" dirty="0">
              <a:ea typeface="Open Sans" panose="020B0606030504020204" pitchFamily="34" charset="0"/>
              <a:cs typeface="Open Sans" panose="020B0606030504020204" pitchFamily="34" charset="0"/>
            </a:endParaRPr>
          </a:p>
          <a:p>
            <a:r>
              <a:rPr lang="en-US" dirty="0">
                <a:ea typeface="Open Sans" panose="020B0606030504020204" pitchFamily="34" charset="0"/>
                <a:cs typeface="Open Sans" panose="020B0606030504020204" pitchFamily="34" charset="0"/>
              </a:rPr>
              <a:t>Interested in learning TDD</a:t>
            </a: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7641058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Agenda</a:t>
            </a:r>
          </a:p>
        </p:txBody>
      </p:sp>
      <p:sp>
        <p:nvSpPr>
          <p:cNvPr id="3" name="Content Placeholder 2"/>
          <p:cNvSpPr>
            <a:spLocks noGrp="1"/>
          </p:cNvSpPr>
          <p:nvPr>
            <p:ph idx="1"/>
          </p:nvPr>
        </p:nvSpPr>
        <p:spPr>
          <a:xfrm>
            <a:off x="838200" y="1825625"/>
            <a:ext cx="10515600" cy="4834108"/>
          </a:xfrm>
        </p:spPr>
        <p:txBody>
          <a:bodyPr>
            <a:normAutofit/>
          </a:bodyPr>
          <a:lstStyle/>
          <a:p>
            <a:r>
              <a:rPr lang="en-US" dirty="0"/>
              <a:t>What is TDD?</a:t>
            </a:r>
          </a:p>
          <a:p>
            <a:r>
              <a:rPr lang="en-US" dirty="0"/>
              <a:t>Why TDD? </a:t>
            </a:r>
          </a:p>
          <a:p>
            <a:r>
              <a:rPr lang="en-US" dirty="0"/>
              <a:t>Tools you can use</a:t>
            </a:r>
          </a:p>
          <a:p>
            <a:r>
              <a:rPr lang="en-US" dirty="0"/>
              <a:t>What do I test?</a:t>
            </a:r>
          </a:p>
          <a:p>
            <a:r>
              <a:rPr lang="en-US" dirty="0"/>
              <a:t>Live Demos</a:t>
            </a:r>
          </a:p>
        </p:txBody>
      </p:sp>
      <p:grpSp>
        <p:nvGrpSpPr>
          <p:cNvPr id="8" name="Group 7">
            <a:extLst>
              <a:ext uri="{FF2B5EF4-FFF2-40B4-BE49-F238E27FC236}">
                <a16:creationId xmlns:a16="http://schemas.microsoft.com/office/drawing/2014/main" id="{E239A9CE-C7EB-4E97-86E4-7038185B0547}"/>
              </a:ext>
            </a:extLst>
          </p:cNvPr>
          <p:cNvGrpSpPr/>
          <p:nvPr/>
        </p:nvGrpSpPr>
        <p:grpSpPr>
          <a:xfrm>
            <a:off x="9970651" y="6185410"/>
            <a:ext cx="2130724" cy="474323"/>
            <a:chOff x="9970651" y="6185410"/>
            <a:chExt cx="2130724" cy="474323"/>
          </a:xfrm>
        </p:grpSpPr>
        <p:sp>
          <p:nvSpPr>
            <p:cNvPr id="9" name="Subtitle 2">
              <a:extLst>
                <a:ext uri="{FF2B5EF4-FFF2-40B4-BE49-F238E27FC236}">
                  <a16:creationId xmlns:a16="http://schemas.microsoft.com/office/drawing/2014/main" id="{2229353B-AF80-4FA1-A290-889FFCA819EF}"/>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10" name="Rectangle 9">
              <a:extLst>
                <a:ext uri="{FF2B5EF4-FFF2-40B4-BE49-F238E27FC236}">
                  <a16:creationId xmlns:a16="http://schemas.microsoft.com/office/drawing/2014/main" id="{8AA5A6B6-4F71-4CAB-A81F-16ECC8919324}"/>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7767433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Goals</a:t>
            </a:r>
          </a:p>
        </p:txBody>
      </p:sp>
      <p:sp>
        <p:nvSpPr>
          <p:cNvPr id="3" name="Content Placeholder 2"/>
          <p:cNvSpPr>
            <a:spLocks noGrp="1"/>
          </p:cNvSpPr>
          <p:nvPr>
            <p:ph idx="1"/>
          </p:nvPr>
        </p:nvSpPr>
        <p:spPr>
          <a:xfrm>
            <a:off x="838200" y="1825625"/>
            <a:ext cx="10515600" cy="4834108"/>
          </a:xfrm>
        </p:spPr>
        <p:txBody>
          <a:bodyPr>
            <a:normAutofit/>
          </a:bodyPr>
          <a:lstStyle/>
          <a:p>
            <a:r>
              <a:rPr lang="en-US" dirty="0"/>
              <a:t>Learn “best practices</a:t>
            </a:r>
            <a:r>
              <a:rPr lang="en-US" baseline="30000" dirty="0"/>
              <a:t>*</a:t>
            </a:r>
            <a:r>
              <a:rPr lang="en-US" dirty="0"/>
              <a:t>” for writing frontend tests</a:t>
            </a:r>
          </a:p>
          <a:p>
            <a:r>
              <a:rPr lang="en-US" dirty="0"/>
              <a:t>Share with .NET community testing learnings from React community</a:t>
            </a:r>
          </a:p>
          <a:p>
            <a:r>
              <a:rPr lang="en-US" dirty="0"/>
              <a:t>Learn how to TDD (with </a:t>
            </a:r>
            <a:r>
              <a:rPr lang="en-US" dirty="0" err="1"/>
              <a:t>Blazor</a:t>
            </a:r>
            <a:r>
              <a:rPr lang="en-US" dirty="0"/>
              <a:t>!)</a:t>
            </a:r>
          </a:p>
          <a:p>
            <a:endParaRPr lang="en-US" dirty="0"/>
          </a:p>
          <a:p>
            <a:endParaRPr lang="en-US" dirty="0"/>
          </a:p>
          <a:p>
            <a:endParaRPr lang="en-US" dirty="0"/>
          </a:p>
          <a:p>
            <a:endParaRPr lang="en-US" dirty="0"/>
          </a:p>
          <a:p>
            <a:endParaRPr lang="en-US" dirty="0"/>
          </a:p>
          <a:p>
            <a:pPr marL="0" indent="0">
              <a:buNone/>
            </a:pPr>
            <a:endParaRPr lang="en-US" sz="1600" dirty="0"/>
          </a:p>
          <a:p>
            <a:pPr marL="0" indent="0">
              <a:buNone/>
            </a:pPr>
            <a:r>
              <a:rPr lang="en-US" sz="1600" dirty="0"/>
              <a:t>* Synonym for “Just My Opinions” and I’ll probably find a way I like better in the future</a:t>
            </a:r>
          </a:p>
        </p:txBody>
      </p:sp>
      <p:grpSp>
        <p:nvGrpSpPr>
          <p:cNvPr id="8" name="Group 7">
            <a:extLst>
              <a:ext uri="{FF2B5EF4-FFF2-40B4-BE49-F238E27FC236}">
                <a16:creationId xmlns:a16="http://schemas.microsoft.com/office/drawing/2014/main" id="{E239A9CE-C7EB-4E97-86E4-7038185B0547}"/>
              </a:ext>
            </a:extLst>
          </p:cNvPr>
          <p:cNvGrpSpPr/>
          <p:nvPr/>
        </p:nvGrpSpPr>
        <p:grpSpPr>
          <a:xfrm>
            <a:off x="9970651" y="6185410"/>
            <a:ext cx="2130724" cy="474323"/>
            <a:chOff x="9970651" y="6185410"/>
            <a:chExt cx="2130724" cy="474323"/>
          </a:xfrm>
        </p:grpSpPr>
        <p:sp>
          <p:nvSpPr>
            <p:cNvPr id="9" name="Subtitle 2">
              <a:extLst>
                <a:ext uri="{FF2B5EF4-FFF2-40B4-BE49-F238E27FC236}">
                  <a16:creationId xmlns:a16="http://schemas.microsoft.com/office/drawing/2014/main" id="{2229353B-AF80-4FA1-A290-889FFCA819EF}"/>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10" name="Rectangle 9">
              <a:extLst>
                <a:ext uri="{FF2B5EF4-FFF2-40B4-BE49-F238E27FC236}">
                  <a16:creationId xmlns:a16="http://schemas.microsoft.com/office/drawing/2014/main" id="{8AA5A6B6-4F71-4CAB-A81F-16ECC8919324}"/>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0475384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Who am I?	</a:t>
            </a:r>
          </a:p>
        </p:txBody>
      </p:sp>
      <p:sp>
        <p:nvSpPr>
          <p:cNvPr id="3" name="Content Placeholder 2"/>
          <p:cNvSpPr>
            <a:spLocks noGrp="1"/>
          </p:cNvSpPr>
          <p:nvPr>
            <p:ph idx="1"/>
          </p:nvPr>
        </p:nvSpPr>
        <p:spPr>
          <a:xfrm>
            <a:off x="838200" y="1825625"/>
            <a:ext cx="8056808" cy="4351338"/>
          </a:xfrm>
        </p:spPr>
        <p:txBody>
          <a:bodyPr/>
          <a:lstStyle/>
          <a:p>
            <a:r>
              <a:rPr lang="en-US" dirty="0"/>
              <a:t>Director of Engineering at </a:t>
            </a:r>
            <a:r>
              <a:rPr lang="en-US" dirty="0">
                <a:hlinkClick r:id="rId3"/>
              </a:rPr>
              <a:t>Lean </a:t>
            </a:r>
            <a:r>
              <a:rPr lang="en-US" dirty="0" err="1">
                <a:hlinkClick r:id="rId3"/>
              </a:rPr>
              <a:t>TECHniques</a:t>
            </a:r>
            <a:endParaRPr lang="en-US" dirty="0"/>
          </a:p>
          <a:p>
            <a:r>
              <a:rPr lang="en-US" dirty="0">
                <a:hlinkClick r:id="rId4"/>
              </a:rPr>
              <a:t>Microsoft MVP</a:t>
            </a:r>
            <a:endParaRPr lang="en-US" dirty="0"/>
          </a:p>
          <a:p>
            <a:r>
              <a:rPr lang="en-US" dirty="0" err="1">
                <a:hlinkClick r:id="rId5"/>
              </a:rPr>
              <a:t>Dometrain</a:t>
            </a:r>
            <a:r>
              <a:rPr lang="en-US" dirty="0">
                <a:hlinkClick r:id="rId5"/>
              </a:rPr>
              <a:t> Author</a:t>
            </a:r>
            <a:endParaRPr lang="en-US" dirty="0"/>
          </a:p>
          <a:p>
            <a:r>
              <a:rPr lang="en-US" dirty="0"/>
              <a:t>Redgate Community Ambassador</a:t>
            </a:r>
          </a:p>
          <a:p>
            <a:r>
              <a:rPr lang="en-US" dirty="0"/>
              <a:t>Co-organizer of </a:t>
            </a:r>
            <a:r>
              <a:rPr lang="en-US" dirty="0">
                <a:hlinkClick r:id="rId6"/>
              </a:rPr>
              <a:t>Iowa .NET User Group</a:t>
            </a:r>
            <a:endParaRPr lang="en-US" dirty="0"/>
          </a:p>
          <a:p>
            <a:r>
              <a:rPr lang="en-US" dirty="0"/>
              <a:t>Used Blazor, Angular, or React since 2015</a:t>
            </a:r>
            <a:endParaRPr lang="en-US" dirty="0">
              <a:hlinkClick r:id="rId7"/>
            </a:endParaRPr>
          </a:p>
        </p:txBody>
      </p:sp>
      <p:pic>
        <p:nvPicPr>
          <p:cNvPr id="5" name="Picture 2">
            <a:extLst>
              <a:ext uri="{FF2B5EF4-FFF2-40B4-BE49-F238E27FC236}">
                <a16:creationId xmlns:a16="http://schemas.microsoft.com/office/drawing/2014/main" id="{E7CC776C-DC3F-D0B5-5231-4112653EFC3B}"/>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rot="21540000">
            <a:off x="8953197" y="5113237"/>
            <a:ext cx="2584299" cy="1589343"/>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5E6AE3F5-A57F-F976-3F78-41D6E87C255F}"/>
              </a:ext>
            </a:extLst>
          </p:cNvPr>
          <p:cNvPicPr>
            <a:picLocks noChangeAspect="1"/>
          </p:cNvPicPr>
          <p:nvPr/>
        </p:nvPicPr>
        <p:blipFill>
          <a:blip r:embed="rId9"/>
          <a:stretch>
            <a:fillRect/>
          </a:stretch>
        </p:blipFill>
        <p:spPr>
          <a:xfrm>
            <a:off x="824793" y="4873944"/>
            <a:ext cx="2017351" cy="2017351"/>
          </a:xfrm>
          <a:prstGeom prst="rect">
            <a:avLst/>
          </a:prstGeom>
        </p:spPr>
      </p:pic>
      <p:pic>
        <p:nvPicPr>
          <p:cNvPr id="7" name="Picture 2" descr="Microsoft MVP Communities (@MVPAward) / X">
            <a:extLst>
              <a:ext uri="{FF2B5EF4-FFF2-40B4-BE49-F238E27FC236}">
                <a16:creationId xmlns:a16="http://schemas.microsoft.com/office/drawing/2014/main" id="{C67B11EE-26D8-F622-00D3-C0E2B30A304D}"/>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3144204" y="5131620"/>
            <a:ext cx="1502000" cy="1502000"/>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6" descr="Courses crafted for the real world - Dometrain">
            <a:extLst>
              <a:ext uri="{FF2B5EF4-FFF2-40B4-BE49-F238E27FC236}">
                <a16:creationId xmlns:a16="http://schemas.microsoft.com/office/drawing/2014/main" id="{64A20FB0-C1F9-33B8-D3BE-E1825A53CA81}"/>
              </a:ext>
            </a:extLst>
          </p:cNvPr>
          <p:cNvPicPr>
            <a:picLocks noChangeAspect="1" noChangeArrowheads="1"/>
          </p:cNvPicPr>
          <p:nvPr/>
        </p:nvPicPr>
        <p:blipFill rotWithShape="1">
          <a:blip r:embed="rId11" cstate="print">
            <a:extLst>
              <a:ext uri="{28A0092B-C50C-407E-A947-70E740481C1C}">
                <a14:useLocalDpi xmlns:a14="http://schemas.microsoft.com/office/drawing/2010/main" val="0"/>
              </a:ext>
            </a:extLst>
          </a:blip>
          <a:srcRect l="17033" r="17323"/>
          <a:stretch/>
        </p:blipFill>
        <p:spPr bwMode="auto">
          <a:xfrm>
            <a:off x="5058153" y="5131619"/>
            <a:ext cx="1885907" cy="1508251"/>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Directory | Redgate Software">
            <a:extLst>
              <a:ext uri="{FF2B5EF4-FFF2-40B4-BE49-F238E27FC236}">
                <a16:creationId xmlns:a16="http://schemas.microsoft.com/office/drawing/2014/main" id="{E3052ACE-16D8-EE1A-A393-F0760EDE4763}"/>
              </a:ext>
            </a:extLst>
          </p:cNvPr>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7369875" y="5141606"/>
            <a:ext cx="1117569" cy="14920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653073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subTnLst>
                                    <p:animClr clrSpc="rgb" dir="cw">
                                      <p:cBhvr override="childStyle">
                                        <p:cTn dur="1" fill="hold" display="0" masterRel="nextClick" afterEffect="1"/>
                                        <p:tgtEl>
                                          <p:spTgt spid="3">
                                            <p:txEl>
                                              <p:pRg st="0" end="0"/>
                                            </p:txEl>
                                          </p:spTgt>
                                        </p:tgtEl>
                                        <p:attrNameLst>
                                          <p:attrName>ppt_c</p:attrName>
                                        </p:attrNameLst>
                                      </p:cBhvr>
                                      <p:to>
                                        <a:srgbClr val="B2B2B2"/>
                                      </p:to>
                                    </p:animClr>
                                  </p:subTnLst>
                                </p:cTn>
                              </p:par>
                              <p:par>
                                <p:cTn id="8" presetID="10"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500"/>
                                        <p:tgtEl>
                                          <p:spTgt spid="3">
                                            <p:txEl>
                                              <p:pRg st="1" end="1"/>
                                            </p:txEl>
                                          </p:spTgt>
                                        </p:tgtEl>
                                      </p:cBhvr>
                                    </p:animEffect>
                                  </p:childTnLst>
                                  <p:subTnLst>
                                    <p:animClr clrSpc="rgb" dir="cw">
                                      <p:cBhvr override="childStyle">
                                        <p:cTn dur="1" fill="hold" display="0" masterRel="nextClick" afterEffect="1"/>
                                        <p:tgtEl>
                                          <p:spTgt spid="3">
                                            <p:txEl>
                                              <p:pRg st="1" end="1"/>
                                            </p:txEl>
                                          </p:spTgt>
                                        </p:tgtEl>
                                        <p:attrNameLst>
                                          <p:attrName>ppt_c</p:attrName>
                                        </p:attrNameLst>
                                      </p:cBhvr>
                                      <p:to>
                                        <a:srgbClr val="B2B2B2"/>
                                      </p:to>
                                    </p:animClr>
                                  </p:subTnLst>
                                </p:cTn>
                              </p:par>
                              <p:par>
                                <p:cTn id="16" presetID="10" presetClass="entr" presetSubtype="0" fill="hold"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Effect transition="in" filter="fade">
                                      <p:cBhvr>
                                        <p:cTn id="23" dur="500"/>
                                        <p:tgtEl>
                                          <p:spTgt spid="3">
                                            <p:txEl>
                                              <p:pRg st="2" end="2"/>
                                            </p:txEl>
                                          </p:spTgt>
                                        </p:tgtEl>
                                      </p:cBhvr>
                                    </p:animEffect>
                                  </p:childTnLst>
                                  <p:subTnLst>
                                    <p:animClr clrSpc="rgb" dir="cw">
                                      <p:cBhvr override="childStyle">
                                        <p:cTn dur="1" fill="hold" display="0" masterRel="nextClick" afterEffect="1"/>
                                        <p:tgtEl>
                                          <p:spTgt spid="3">
                                            <p:txEl>
                                              <p:pRg st="2" end="2"/>
                                            </p:txEl>
                                          </p:spTgt>
                                        </p:tgtEl>
                                        <p:attrNameLst>
                                          <p:attrName>ppt_c</p:attrName>
                                        </p:attrNameLst>
                                      </p:cBhvr>
                                      <p:to>
                                        <a:srgbClr val="B2B2B2"/>
                                      </p:to>
                                    </p:animClr>
                                  </p:subTnLst>
                                </p:cTn>
                              </p:par>
                              <p:par>
                                <p:cTn id="24" presetID="10" presetClass="entr" presetSubtype="0" fill="hold" nodeType="with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00"/>
                                        <p:tgtEl>
                                          <p:spTgt spid="8"/>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3">
                                            <p:txEl>
                                              <p:pRg st="3" end="3"/>
                                            </p:txEl>
                                          </p:spTgt>
                                        </p:tgtEl>
                                        <p:attrNameLst>
                                          <p:attrName>style.visibility</p:attrName>
                                        </p:attrNameLst>
                                      </p:cBhvr>
                                      <p:to>
                                        <p:strVal val="visible"/>
                                      </p:to>
                                    </p:set>
                                    <p:animEffect transition="in" filter="fade">
                                      <p:cBhvr>
                                        <p:cTn id="31" dur="500"/>
                                        <p:tgtEl>
                                          <p:spTgt spid="3">
                                            <p:txEl>
                                              <p:pRg st="3" end="3"/>
                                            </p:txEl>
                                          </p:spTgt>
                                        </p:tgtEl>
                                      </p:cBhvr>
                                    </p:animEffect>
                                  </p:childTnLst>
                                  <p:subTnLst>
                                    <p:animClr clrSpc="rgb" dir="cw">
                                      <p:cBhvr override="childStyle">
                                        <p:cTn dur="1" fill="hold" display="0" masterRel="nextClick" afterEffect="1"/>
                                        <p:tgtEl>
                                          <p:spTgt spid="3">
                                            <p:txEl>
                                              <p:pRg st="3" end="3"/>
                                            </p:txEl>
                                          </p:spTgt>
                                        </p:tgtEl>
                                        <p:attrNameLst>
                                          <p:attrName>ppt_c</p:attrName>
                                        </p:attrNameLst>
                                      </p:cBhvr>
                                      <p:to>
                                        <a:srgbClr val="B2B2B2"/>
                                      </p:to>
                                    </p:animClr>
                                  </p:subTnLst>
                                </p:cTn>
                              </p:par>
                              <p:par>
                                <p:cTn id="32" presetID="10" presetClass="entr" presetSubtype="0" fill="hold" nodeType="with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500"/>
                                        <p:tgtEl>
                                          <p:spTgt spid="9"/>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3">
                                            <p:txEl>
                                              <p:pRg st="4" end="4"/>
                                            </p:txEl>
                                          </p:spTgt>
                                        </p:tgtEl>
                                        <p:attrNameLst>
                                          <p:attrName>style.visibility</p:attrName>
                                        </p:attrNameLst>
                                      </p:cBhvr>
                                      <p:to>
                                        <p:strVal val="visible"/>
                                      </p:to>
                                    </p:set>
                                    <p:animEffect transition="in" filter="fade">
                                      <p:cBhvr>
                                        <p:cTn id="39" dur="500"/>
                                        <p:tgtEl>
                                          <p:spTgt spid="3">
                                            <p:txEl>
                                              <p:pRg st="4" end="4"/>
                                            </p:txEl>
                                          </p:spTgt>
                                        </p:tgtEl>
                                      </p:cBhvr>
                                    </p:animEffect>
                                  </p:childTnLst>
                                  <p:subTnLst>
                                    <p:animClr clrSpc="rgb" dir="cw">
                                      <p:cBhvr override="childStyle">
                                        <p:cTn dur="1" fill="hold" display="0" masterRel="nextClick" afterEffect="1"/>
                                        <p:tgtEl>
                                          <p:spTgt spid="3">
                                            <p:txEl>
                                              <p:pRg st="4" end="4"/>
                                            </p:txEl>
                                          </p:spTgt>
                                        </p:tgtEl>
                                        <p:attrNameLst>
                                          <p:attrName>ppt_c</p:attrName>
                                        </p:attrNameLst>
                                      </p:cBhvr>
                                      <p:to>
                                        <a:srgbClr val="B2B2B2"/>
                                      </p:to>
                                    </p:animClr>
                                  </p:sub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3">
                                            <p:txEl>
                                              <p:pRg st="5" end="5"/>
                                            </p:txEl>
                                          </p:spTgt>
                                        </p:tgtEl>
                                        <p:attrNameLst>
                                          <p:attrName>style.visibility</p:attrName>
                                        </p:attrNameLst>
                                      </p:cBhvr>
                                      <p:to>
                                        <p:strVal val="visible"/>
                                      </p:to>
                                    </p:set>
                                    <p:animEffect transition="in" filter="fade">
                                      <p:cBhvr>
                                        <p:cTn id="44" dur="500"/>
                                        <p:tgtEl>
                                          <p:spTgt spid="3">
                                            <p:txEl>
                                              <p:pRg st="5" end="5"/>
                                            </p:txEl>
                                          </p:spTgt>
                                        </p:tgtEl>
                                      </p:cBhvr>
                                    </p:animEffect>
                                  </p:childTnLst>
                                  <p:subTnLst>
                                    <p:animClr clrSpc="rgb" dir="cw">
                                      <p:cBhvr override="childStyle">
                                        <p:cTn dur="1" fill="hold" display="0" masterRel="nextClick" afterEffect="1"/>
                                        <p:tgtEl>
                                          <p:spTgt spid="3">
                                            <p:txEl>
                                              <p:pRg st="5" end="5"/>
                                            </p:txEl>
                                          </p:spTgt>
                                        </p:tgtEl>
                                        <p:attrNameLst>
                                          <p:attrName>ppt_c</p:attrName>
                                        </p:attrNameLst>
                                      </p:cBhvr>
                                      <p:to>
                                        <a:srgbClr val="B2B2B2"/>
                                      </p:to>
                                    </p:animClr>
                                  </p:subTnLst>
                                </p:cTn>
                              </p:par>
                              <p:par>
                                <p:cTn id="45" presetID="10" presetClass="entr" presetSubtype="0" fill="hold" nodeType="withEffect">
                                  <p:stCondLst>
                                    <p:cond delay="0"/>
                                  </p:stCondLst>
                                  <p:childTnLst>
                                    <p:set>
                                      <p:cBhvr>
                                        <p:cTn id="46" dur="1" fill="hold">
                                          <p:stCondLst>
                                            <p:cond delay="0"/>
                                          </p:stCondLst>
                                        </p:cTn>
                                        <p:tgtEl>
                                          <p:spTgt spid="5"/>
                                        </p:tgtEl>
                                        <p:attrNameLst>
                                          <p:attrName>style.visibility</p:attrName>
                                        </p:attrNameLst>
                                      </p:cBhvr>
                                      <p:to>
                                        <p:strVal val="visible"/>
                                      </p:to>
                                    </p:set>
                                    <p:animEffect transition="in" filter="fade">
                                      <p:cBhvr>
                                        <p:cTn id="4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Why do we write tests?</a:t>
            </a:r>
          </a:p>
        </p:txBody>
      </p:sp>
      <p:sp>
        <p:nvSpPr>
          <p:cNvPr id="3" name="Content Placeholder 2"/>
          <p:cNvSpPr>
            <a:spLocks noGrp="1"/>
          </p:cNvSpPr>
          <p:nvPr>
            <p:ph idx="1"/>
          </p:nvPr>
        </p:nvSpPr>
        <p:spPr>
          <a:xfrm>
            <a:off x="838199" y="1825624"/>
            <a:ext cx="11263175" cy="4779637"/>
          </a:xfrm>
        </p:spPr>
        <p:txBody>
          <a:bodyPr>
            <a:normAutofit/>
          </a:bodyPr>
          <a:lstStyle/>
          <a:p>
            <a:r>
              <a:rPr lang="en-US" dirty="0"/>
              <a:t>We want confidence our application works</a:t>
            </a:r>
          </a:p>
          <a:p>
            <a:r>
              <a:rPr lang="en-US" dirty="0"/>
              <a:t>Minimize manual verification</a:t>
            </a:r>
          </a:p>
          <a:p>
            <a:r>
              <a:rPr lang="en-US" dirty="0"/>
              <a:t>Document behavior through tests</a:t>
            </a: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0854178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subTnLst>
                                    <p:animClr clrSpc="rgb" dir="cw">
                                      <p:cBhvr override="childStyle">
                                        <p:cTn dur="1" fill="hold" display="0" masterRel="nextClick" afterEffect="1"/>
                                        <p:tgtEl>
                                          <p:spTgt spid="3">
                                            <p:txEl>
                                              <p:pRg st="0" end="0"/>
                                            </p:txEl>
                                          </p:spTgt>
                                        </p:tgtEl>
                                        <p:attrNameLst>
                                          <p:attrName>ppt_c</p:attrName>
                                        </p:attrNameLst>
                                      </p:cBhvr>
                                      <p:to>
                                        <a:srgbClr val="B2B2B2"/>
                                      </p:to>
                                    </p:animClr>
                                  </p:sub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subTnLst>
                                    <p:animClr clrSpc="rgb" dir="cw">
                                      <p:cBhvr override="childStyle">
                                        <p:cTn dur="1" fill="hold" display="0" masterRel="nextClick" afterEffect="1"/>
                                        <p:tgtEl>
                                          <p:spTgt spid="3">
                                            <p:txEl>
                                              <p:pRg st="1" end="1"/>
                                            </p:txEl>
                                          </p:spTgt>
                                        </p:tgtEl>
                                        <p:attrNameLst>
                                          <p:attrName>ppt_c</p:attrName>
                                        </p:attrNameLst>
                                      </p:cBhvr>
                                      <p:to>
                                        <a:srgbClr val="B2B2B2"/>
                                      </p:to>
                                    </p:animClr>
                                  </p:sub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subTnLst>
                                    <p:animClr clrSpc="rgb" dir="cw">
                                      <p:cBhvr override="childStyle">
                                        <p:cTn dur="1" fill="hold" display="0" masterRel="nextClick" afterEffect="1"/>
                                        <p:tgtEl>
                                          <p:spTgt spid="3">
                                            <p:txEl>
                                              <p:pRg st="2" end="2"/>
                                            </p:txEl>
                                          </p:spTgt>
                                        </p:tgtEl>
                                        <p:attrNameLst>
                                          <p:attrName>ppt_c</p:attrName>
                                        </p:attrNameLst>
                                      </p:cBhvr>
                                      <p:to>
                                        <a:srgbClr val="B2B2B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What is TDD?</a:t>
            </a: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7" name="Picture 2">
            <a:extLst>
              <a:ext uri="{FF2B5EF4-FFF2-40B4-BE49-F238E27FC236}">
                <a16:creationId xmlns:a16="http://schemas.microsoft.com/office/drawing/2014/main" id="{7DFC0D24-D455-A020-8583-AA0B1D9FCEF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09124" y="1739900"/>
            <a:ext cx="3800475" cy="47529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565821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What is TDD?</a:t>
            </a:r>
          </a:p>
        </p:txBody>
      </p:sp>
      <p:sp>
        <p:nvSpPr>
          <p:cNvPr id="3" name="Content Placeholder 2"/>
          <p:cNvSpPr>
            <a:spLocks noGrp="1"/>
          </p:cNvSpPr>
          <p:nvPr>
            <p:ph idx="1"/>
          </p:nvPr>
        </p:nvSpPr>
        <p:spPr>
          <a:xfrm>
            <a:off x="838199" y="1825624"/>
            <a:ext cx="11263175" cy="4779637"/>
          </a:xfrm>
        </p:spPr>
        <p:txBody>
          <a:bodyPr>
            <a:normAutofit/>
          </a:bodyPr>
          <a:lstStyle/>
          <a:p>
            <a:r>
              <a:rPr lang="en-US" dirty="0"/>
              <a:t>Methodology for writing code (not just tests)</a:t>
            </a:r>
          </a:p>
          <a:p>
            <a:r>
              <a:rPr lang="en-US" dirty="0"/>
              <a:t>You write the test BEFORE you write the production code</a:t>
            </a: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4406187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subTnLst>
                                    <p:animClr clrSpc="rgb" dir="cw">
                                      <p:cBhvr override="childStyle">
                                        <p:cTn dur="1" fill="hold" display="0" masterRel="nextClick" afterEffect="1"/>
                                        <p:tgtEl>
                                          <p:spTgt spid="3">
                                            <p:txEl>
                                              <p:pRg st="0" end="0"/>
                                            </p:txEl>
                                          </p:spTgt>
                                        </p:tgtEl>
                                        <p:attrNameLst>
                                          <p:attrName>ppt_c</p:attrName>
                                        </p:attrNameLst>
                                      </p:cBhvr>
                                      <p:to>
                                        <a:srgbClr val="B2B2B2"/>
                                      </p:to>
                                    </p:animClr>
                                  </p:sub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subTnLst>
                                    <p:animClr clrSpc="rgb" dir="cw">
                                      <p:cBhvr override="childStyle">
                                        <p:cTn dur="1" fill="hold" display="0" masterRel="nextClick" afterEffect="1"/>
                                        <p:tgtEl>
                                          <p:spTgt spid="3">
                                            <p:txEl>
                                              <p:pRg st="1" end="1"/>
                                            </p:txEl>
                                          </p:spTgt>
                                        </p:tgtEl>
                                        <p:attrNameLst>
                                          <p:attrName>ppt_c</p:attrName>
                                        </p:attrNameLst>
                                      </p:cBhvr>
                                      <p:to>
                                        <a:srgbClr val="B2B2B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How to TDD?</a:t>
            </a:r>
          </a:p>
        </p:txBody>
      </p:sp>
      <p:sp>
        <p:nvSpPr>
          <p:cNvPr id="3" name="Content Placeholder 2"/>
          <p:cNvSpPr>
            <a:spLocks noGrp="1"/>
          </p:cNvSpPr>
          <p:nvPr>
            <p:ph idx="1"/>
          </p:nvPr>
        </p:nvSpPr>
        <p:spPr>
          <a:xfrm>
            <a:off x="838199" y="1825624"/>
            <a:ext cx="11263175" cy="4779637"/>
          </a:xfrm>
        </p:spPr>
        <p:txBody>
          <a:bodyPr>
            <a:normAutofit/>
          </a:bodyPr>
          <a:lstStyle/>
          <a:p>
            <a:pPr marL="514350" indent="-514350">
              <a:buAutoNum type="arabicPeriod"/>
            </a:pPr>
            <a:r>
              <a:rPr lang="en-US" dirty="0"/>
              <a:t>Think</a:t>
            </a:r>
          </a:p>
          <a:p>
            <a:pPr marL="514350" indent="-514350">
              <a:buAutoNum type="arabicPeriod"/>
            </a:pPr>
            <a:r>
              <a:rPr lang="en-US" dirty="0"/>
              <a:t>Write a test that describes the behavior you want to see</a:t>
            </a:r>
          </a:p>
          <a:p>
            <a:pPr marL="514350" indent="-514350">
              <a:buAutoNum type="arabicPeriod"/>
            </a:pPr>
            <a:r>
              <a:rPr lang="en-US" dirty="0"/>
              <a:t>Run the test and watch it fail </a:t>
            </a:r>
            <a:r>
              <a:rPr lang="en-US" i="1" dirty="0"/>
              <a:t>for the right reason</a:t>
            </a:r>
          </a:p>
          <a:p>
            <a:pPr marL="514350" indent="-514350">
              <a:buAutoNum type="arabicPeriod"/>
            </a:pPr>
            <a:r>
              <a:rPr lang="en-US" dirty="0"/>
              <a:t>Write code to make it pass</a:t>
            </a:r>
          </a:p>
          <a:p>
            <a:pPr marL="514350" indent="-514350">
              <a:buAutoNum type="arabicPeriod"/>
            </a:pPr>
            <a:r>
              <a:rPr lang="en-US" dirty="0"/>
              <a:t>Refactor</a:t>
            </a:r>
          </a:p>
          <a:p>
            <a:pPr marL="514350" indent="-514350">
              <a:buAutoNum type="arabicPeriod"/>
            </a:pPr>
            <a:r>
              <a:rPr lang="en-US" dirty="0"/>
              <a:t>Repeat</a:t>
            </a: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5108011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subTnLst>
                                    <p:animClr clrSpc="rgb" dir="cw">
                                      <p:cBhvr override="childStyle">
                                        <p:cTn dur="1" fill="hold" display="0" masterRel="nextClick" afterEffect="1"/>
                                        <p:tgtEl>
                                          <p:spTgt spid="3">
                                            <p:txEl>
                                              <p:pRg st="0" end="0"/>
                                            </p:txEl>
                                          </p:spTgt>
                                        </p:tgtEl>
                                        <p:attrNameLst>
                                          <p:attrName>ppt_c</p:attrName>
                                        </p:attrNameLst>
                                      </p:cBhvr>
                                      <p:to>
                                        <a:srgbClr val="B2B2B2"/>
                                      </p:to>
                                    </p:animClr>
                                  </p:sub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subTnLst>
                                    <p:animClr clrSpc="rgb" dir="cw">
                                      <p:cBhvr override="childStyle">
                                        <p:cTn dur="1" fill="hold" display="0" masterRel="nextClick" afterEffect="1"/>
                                        <p:tgtEl>
                                          <p:spTgt spid="3">
                                            <p:txEl>
                                              <p:pRg st="1" end="1"/>
                                            </p:txEl>
                                          </p:spTgt>
                                        </p:tgtEl>
                                        <p:attrNameLst>
                                          <p:attrName>ppt_c</p:attrName>
                                        </p:attrNameLst>
                                      </p:cBhvr>
                                      <p:to>
                                        <a:srgbClr val="B2B2B2"/>
                                      </p:to>
                                    </p:animClr>
                                  </p:sub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subTnLst>
                                    <p:animClr clrSpc="rgb" dir="cw">
                                      <p:cBhvr override="childStyle">
                                        <p:cTn dur="1" fill="hold" display="0" masterRel="nextClick" afterEffect="1"/>
                                        <p:tgtEl>
                                          <p:spTgt spid="3">
                                            <p:txEl>
                                              <p:pRg st="2" end="2"/>
                                            </p:txEl>
                                          </p:spTgt>
                                        </p:tgtEl>
                                        <p:attrNameLst>
                                          <p:attrName>ppt_c</p:attrName>
                                        </p:attrNameLst>
                                      </p:cBhvr>
                                      <p:to>
                                        <a:srgbClr val="B2B2B2"/>
                                      </p:to>
                                    </p:animClr>
                                  </p:sub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subTnLst>
                                    <p:animClr clrSpc="rgb" dir="cw">
                                      <p:cBhvr override="childStyle">
                                        <p:cTn dur="1" fill="hold" display="0" masterRel="nextClick" afterEffect="1"/>
                                        <p:tgtEl>
                                          <p:spTgt spid="3">
                                            <p:txEl>
                                              <p:pRg st="3" end="3"/>
                                            </p:txEl>
                                          </p:spTgt>
                                        </p:tgtEl>
                                        <p:attrNameLst>
                                          <p:attrName>ppt_c</p:attrName>
                                        </p:attrNameLst>
                                      </p:cBhvr>
                                      <p:to>
                                        <a:srgbClr val="B2B2B2"/>
                                      </p:to>
                                    </p:animClr>
                                  </p:sub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subTnLst>
                                    <p:animClr clrSpc="rgb" dir="cw">
                                      <p:cBhvr override="childStyle">
                                        <p:cTn dur="1" fill="hold" display="0" masterRel="nextClick" afterEffect="1"/>
                                        <p:tgtEl>
                                          <p:spTgt spid="3">
                                            <p:txEl>
                                              <p:pRg st="4" end="4"/>
                                            </p:txEl>
                                          </p:spTgt>
                                        </p:tgtEl>
                                        <p:attrNameLst>
                                          <p:attrName>ppt_c</p:attrName>
                                        </p:attrNameLst>
                                      </p:cBhvr>
                                      <p:to>
                                        <a:srgbClr val="B2B2B2"/>
                                      </p:to>
                                    </p:animClr>
                                  </p:sub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subTnLst>
                                    <p:animClr clrSpc="rgb" dir="cw">
                                      <p:cBhvr override="childStyle">
                                        <p:cTn dur="1" fill="hold" display="0" masterRel="nextClick" afterEffect="1"/>
                                        <p:tgtEl>
                                          <p:spTgt spid="3">
                                            <p:txEl>
                                              <p:pRg st="5" end="5"/>
                                            </p:txEl>
                                          </p:spTgt>
                                        </p:tgtEl>
                                        <p:attrNameLst>
                                          <p:attrName>ppt_c</p:attrName>
                                        </p:attrNameLst>
                                      </p:cBhvr>
                                      <p:to>
                                        <a:srgbClr val="B2B2B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How to TDD?</a:t>
            </a:r>
          </a:p>
        </p:txBody>
      </p:sp>
      <p:pic>
        <p:nvPicPr>
          <p:cNvPr id="3" name="Picture 6" descr="What is Test Driven Development (TDD)? – Kaizenko">
            <a:extLst>
              <a:ext uri="{FF2B5EF4-FFF2-40B4-BE49-F238E27FC236}">
                <a16:creationId xmlns:a16="http://schemas.microsoft.com/office/drawing/2014/main" id="{3D992B7F-4A2C-E8C9-551E-3E8185EF25E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94701" y="1600253"/>
            <a:ext cx="6353175" cy="46291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57008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F69B6"/>
        </a:solidFill>
        <a:effectLst/>
      </p:bgPr>
    </p:bg>
    <p:spTree>
      <p:nvGrpSpPr>
        <p:cNvPr id="1" name=""/>
        <p:cNvGrpSpPr/>
        <p:nvPr/>
      </p:nvGrpSpPr>
      <p:grpSpPr>
        <a:xfrm>
          <a:off x="0" y="0"/>
          <a:ext cx="0" cy="0"/>
          <a:chOff x="0" y="0"/>
          <a:chExt cx="0" cy="0"/>
        </a:xfrm>
      </p:grpSpPr>
      <p:sp>
        <p:nvSpPr>
          <p:cNvPr id="6" name="Rectangle 3">
            <a:extLst>
              <a:ext uri="{FF2B5EF4-FFF2-40B4-BE49-F238E27FC236}">
                <a16:creationId xmlns:a16="http://schemas.microsoft.com/office/drawing/2014/main" id="{BB283152-FBC1-C977-C049-07878CAA1033}"/>
              </a:ext>
            </a:extLst>
          </p:cNvPr>
          <p:cNvSpPr>
            <a:spLocks noChangeArrowheads="1"/>
          </p:cNvSpPr>
          <p:nvPr/>
        </p:nvSpPr>
        <p:spPr bwMode="auto">
          <a:xfrm>
            <a:off x="741680" y="1420247"/>
            <a:ext cx="11002907" cy="46474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6500" b="1" dirty="0">
                <a:solidFill>
                  <a:srgbClr val="FFFFFF"/>
                </a:solidFill>
              </a:rPr>
              <a:t>“</a:t>
            </a:r>
            <a:r>
              <a:rPr kumimoji="0" lang="en-US" altLang="en-US" sz="6500" b="1" i="0" u="none" strike="noStrike" cap="none" normalizeH="0" baseline="0" dirty="0">
                <a:ln>
                  <a:noFill/>
                </a:ln>
                <a:solidFill>
                  <a:srgbClr val="FFFFFF"/>
                </a:solidFill>
                <a:effectLst/>
              </a:rPr>
              <a:t>If you haven’t seen a test fail, you don’t know if it works.”    </a:t>
            </a:r>
            <a:endParaRPr kumimoji="0" lang="en-US" altLang="en-US" sz="65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3000" b="1" i="0" u="none" strike="noStrike" cap="none" normalizeH="0" baseline="0" dirty="0">
                <a:ln>
                  <a:noFill/>
                </a:ln>
                <a:solidFill>
                  <a:srgbClr val="FFFFFF"/>
                </a:solidFill>
                <a:effectLst/>
              </a:rPr>
              <a:t>         </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3000" b="1" dirty="0">
              <a:solidFill>
                <a:srgbClr val="FFFFFF"/>
              </a:solidFill>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800" b="0" i="0" u="none" strike="noStrike" cap="none" normalizeH="0" baseline="0" dirty="0">
                <a:ln>
                  <a:noFill/>
                </a:ln>
                <a:solidFill>
                  <a:schemeClr val="tx1"/>
                </a:solidFill>
                <a:effectLst/>
              </a:rPr>
            </a:br>
            <a:endParaRPr kumimoji="0" lang="en-US" altLang="en-US"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3000" b="1" i="0" u="none" strike="noStrike" cap="none" normalizeH="0" baseline="0" dirty="0">
                <a:ln>
                  <a:noFill/>
                </a:ln>
                <a:solidFill>
                  <a:srgbClr val="FFFFFF"/>
                </a:solidFill>
                <a:effectLst/>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3000" b="1" dirty="0">
                <a:solidFill>
                  <a:srgbClr val="FFFFFF"/>
                </a:solidFill>
              </a:rPr>
              <a:t>						     </a:t>
            </a:r>
            <a:r>
              <a:rPr kumimoji="0" lang="en-US" altLang="en-US" sz="3600" b="1" i="0" u="none" strike="noStrike" cap="none" normalizeH="0" baseline="0" dirty="0">
                <a:ln>
                  <a:noFill/>
                </a:ln>
                <a:solidFill>
                  <a:srgbClr val="FFFFFF"/>
                </a:solidFill>
                <a:effectLst/>
              </a:rPr>
              <a:t>Eric Evans</a:t>
            </a:r>
            <a:endParaRPr kumimoji="0" lang="en-US" altLang="en-US" sz="3600" b="0" i="0" u="none" strike="noStrike" cap="none" normalizeH="0" baseline="0" dirty="0">
              <a:ln>
                <a:noFill/>
              </a:ln>
              <a:solidFill>
                <a:schemeClr val="tx1"/>
              </a:solidFill>
              <a:effectLst/>
            </a:endParaRPr>
          </a:p>
        </p:txBody>
      </p:sp>
      <p:pic>
        <p:nvPicPr>
          <p:cNvPr id="1026" name="Picture 2">
            <a:extLst>
              <a:ext uri="{FF2B5EF4-FFF2-40B4-BE49-F238E27FC236}">
                <a16:creationId xmlns:a16="http://schemas.microsoft.com/office/drawing/2014/main" id="{92449862-2455-B2FF-E8BF-E9600AFBAD33}"/>
              </a:ext>
            </a:extLst>
          </p:cNvPr>
          <p:cNvPicPr>
            <a:picLocks noChangeAspect="1" noChangeArrowheads="1"/>
          </p:cNvPicPr>
          <p:nvPr/>
        </p:nvPicPr>
        <p:blipFill>
          <a:blip r:embed="rId3">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8593503" y="3612874"/>
            <a:ext cx="4547683" cy="34619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934346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Why Test Driven Development?</a:t>
            </a:r>
          </a:p>
        </p:txBody>
      </p:sp>
      <p:sp>
        <p:nvSpPr>
          <p:cNvPr id="3" name="Content Placeholder 2"/>
          <p:cNvSpPr>
            <a:spLocks noGrp="1"/>
          </p:cNvSpPr>
          <p:nvPr>
            <p:ph idx="1"/>
          </p:nvPr>
        </p:nvSpPr>
        <p:spPr>
          <a:xfrm>
            <a:off x="838199" y="1825624"/>
            <a:ext cx="11263175" cy="4779637"/>
          </a:xfrm>
        </p:spPr>
        <p:txBody>
          <a:bodyPr>
            <a:normAutofit/>
          </a:bodyPr>
          <a:lstStyle/>
          <a:p>
            <a:r>
              <a:rPr lang="en-US" dirty="0"/>
              <a:t>Work in small steps (minimizes waste, minimizes WIP)</a:t>
            </a:r>
          </a:p>
          <a:p>
            <a:r>
              <a:rPr lang="en-US" dirty="0"/>
              <a:t>Focus</a:t>
            </a:r>
          </a:p>
          <a:p>
            <a:r>
              <a:rPr lang="en-US" dirty="0"/>
              <a:t>Much less time in the debugger</a:t>
            </a:r>
          </a:p>
          <a:p>
            <a:r>
              <a:rPr lang="en-US" dirty="0"/>
              <a:t>Thinking through failure states</a:t>
            </a:r>
          </a:p>
          <a:p>
            <a:r>
              <a:rPr lang="en-US" dirty="0"/>
              <a:t>Confidence</a:t>
            </a:r>
          </a:p>
          <a:p>
            <a:r>
              <a:rPr lang="en-US" dirty="0"/>
              <a:t>Design feedback, hard to write test? Design might be wrong</a:t>
            </a:r>
          </a:p>
          <a:p>
            <a:r>
              <a:rPr lang="en-US" dirty="0"/>
              <a:t>Oh yeah… regression tests are nice too</a:t>
            </a: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6703358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subTnLst>
                                    <p:animClr clrSpc="rgb" dir="cw">
                                      <p:cBhvr override="childStyle">
                                        <p:cTn dur="1" fill="hold" display="0" masterRel="nextClick" afterEffect="1"/>
                                        <p:tgtEl>
                                          <p:spTgt spid="3">
                                            <p:txEl>
                                              <p:pRg st="0" end="0"/>
                                            </p:txEl>
                                          </p:spTgt>
                                        </p:tgtEl>
                                        <p:attrNameLst>
                                          <p:attrName>ppt_c</p:attrName>
                                        </p:attrNameLst>
                                      </p:cBhvr>
                                      <p:to>
                                        <a:srgbClr val="B2B2B2"/>
                                      </p:to>
                                    </p:animClr>
                                  </p:sub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subTnLst>
                                    <p:animClr clrSpc="rgb" dir="cw">
                                      <p:cBhvr override="childStyle">
                                        <p:cTn dur="1" fill="hold" display="0" masterRel="nextClick" afterEffect="1"/>
                                        <p:tgtEl>
                                          <p:spTgt spid="3">
                                            <p:txEl>
                                              <p:pRg st="1" end="1"/>
                                            </p:txEl>
                                          </p:spTgt>
                                        </p:tgtEl>
                                        <p:attrNameLst>
                                          <p:attrName>ppt_c</p:attrName>
                                        </p:attrNameLst>
                                      </p:cBhvr>
                                      <p:to>
                                        <a:srgbClr val="B2B2B2"/>
                                      </p:to>
                                    </p:animClr>
                                  </p:sub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subTnLst>
                                    <p:animClr clrSpc="rgb" dir="cw">
                                      <p:cBhvr override="childStyle">
                                        <p:cTn dur="1" fill="hold" display="0" masterRel="nextClick" afterEffect="1"/>
                                        <p:tgtEl>
                                          <p:spTgt spid="3">
                                            <p:txEl>
                                              <p:pRg st="2" end="2"/>
                                            </p:txEl>
                                          </p:spTgt>
                                        </p:tgtEl>
                                        <p:attrNameLst>
                                          <p:attrName>ppt_c</p:attrName>
                                        </p:attrNameLst>
                                      </p:cBhvr>
                                      <p:to>
                                        <a:srgbClr val="B2B2B2"/>
                                      </p:to>
                                    </p:animClr>
                                  </p:sub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subTnLst>
                                    <p:animClr clrSpc="rgb" dir="cw">
                                      <p:cBhvr override="childStyle">
                                        <p:cTn dur="1" fill="hold" display="0" masterRel="nextClick" afterEffect="1"/>
                                        <p:tgtEl>
                                          <p:spTgt spid="3">
                                            <p:txEl>
                                              <p:pRg st="3" end="3"/>
                                            </p:txEl>
                                          </p:spTgt>
                                        </p:tgtEl>
                                        <p:attrNameLst>
                                          <p:attrName>ppt_c</p:attrName>
                                        </p:attrNameLst>
                                      </p:cBhvr>
                                      <p:to>
                                        <a:srgbClr val="B2B2B2"/>
                                      </p:to>
                                    </p:animClr>
                                  </p:sub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subTnLst>
                                    <p:animClr clrSpc="rgb" dir="cw">
                                      <p:cBhvr override="childStyle">
                                        <p:cTn dur="1" fill="hold" display="0" masterRel="nextClick" afterEffect="1"/>
                                        <p:tgtEl>
                                          <p:spTgt spid="3">
                                            <p:txEl>
                                              <p:pRg st="4" end="4"/>
                                            </p:txEl>
                                          </p:spTgt>
                                        </p:tgtEl>
                                        <p:attrNameLst>
                                          <p:attrName>ppt_c</p:attrName>
                                        </p:attrNameLst>
                                      </p:cBhvr>
                                      <p:to>
                                        <a:srgbClr val="B2B2B2"/>
                                      </p:to>
                                    </p:animClr>
                                  </p:sub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subTnLst>
                                    <p:animClr clrSpc="rgb" dir="cw">
                                      <p:cBhvr override="childStyle">
                                        <p:cTn dur="1" fill="hold" display="0" masterRel="nextClick" afterEffect="1"/>
                                        <p:tgtEl>
                                          <p:spTgt spid="3">
                                            <p:txEl>
                                              <p:pRg st="5" end="5"/>
                                            </p:txEl>
                                          </p:spTgt>
                                        </p:tgtEl>
                                        <p:attrNameLst>
                                          <p:attrName>ppt_c</p:attrName>
                                        </p:attrNameLst>
                                      </p:cBhvr>
                                      <p:to>
                                        <a:srgbClr val="B2B2B2"/>
                                      </p:to>
                                    </p:animClr>
                                  </p:sub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subTnLst>
                                    <p:animClr clrSpc="rgb" dir="cw">
                                      <p:cBhvr override="childStyle">
                                        <p:cTn dur="1" fill="hold" display="0" masterRel="nextClick" afterEffect="1"/>
                                        <p:tgtEl>
                                          <p:spTgt spid="3">
                                            <p:txEl>
                                              <p:pRg st="6" end="6"/>
                                            </p:txEl>
                                          </p:spTgt>
                                        </p:tgtEl>
                                        <p:attrNameLst>
                                          <p:attrName>ppt_c</p:attrName>
                                        </p:attrNameLst>
                                      </p:cBhvr>
                                      <p:to>
                                        <a:srgbClr val="B2B2B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What is NOT TDD?</a:t>
            </a:r>
          </a:p>
        </p:txBody>
      </p:sp>
      <p:sp>
        <p:nvSpPr>
          <p:cNvPr id="3" name="Content Placeholder 2"/>
          <p:cNvSpPr>
            <a:spLocks noGrp="1"/>
          </p:cNvSpPr>
          <p:nvPr>
            <p:ph idx="1"/>
          </p:nvPr>
        </p:nvSpPr>
        <p:spPr>
          <a:xfrm>
            <a:off x="838200" y="1825625"/>
            <a:ext cx="10515600" cy="4749836"/>
          </a:xfrm>
        </p:spPr>
        <p:txBody>
          <a:bodyPr>
            <a:normAutofit/>
          </a:bodyPr>
          <a:lstStyle/>
          <a:p>
            <a:r>
              <a:rPr lang="en-US" dirty="0"/>
              <a:t>TDD is NOT a synonym for writing tests</a:t>
            </a:r>
          </a:p>
          <a:p>
            <a:r>
              <a:rPr lang="en-US" dirty="0"/>
              <a:t>TDD is NOT writing multiple tests up front before writing any production code</a:t>
            </a:r>
          </a:p>
          <a:p>
            <a:r>
              <a:rPr lang="en-US" dirty="0"/>
              <a:t>TDD does NOT mean no bugs ever (just less)</a:t>
            </a:r>
          </a:p>
          <a:p>
            <a:r>
              <a:rPr lang="en-US" dirty="0"/>
              <a:t>TDD is not good for adding tests to existing production code</a:t>
            </a:r>
          </a:p>
          <a:p>
            <a:r>
              <a:rPr lang="en-US" dirty="0"/>
              <a:t>TDD zealots do more harm than good</a:t>
            </a:r>
          </a:p>
        </p:txBody>
      </p:sp>
      <p:grpSp>
        <p:nvGrpSpPr>
          <p:cNvPr id="4" name="Group 3">
            <a:extLst>
              <a:ext uri="{FF2B5EF4-FFF2-40B4-BE49-F238E27FC236}">
                <a16:creationId xmlns:a16="http://schemas.microsoft.com/office/drawing/2014/main" id="{62B5E2B8-6DB5-E579-DCF6-CEA0B73209AC}"/>
              </a:ext>
            </a:extLst>
          </p:cNvPr>
          <p:cNvGrpSpPr/>
          <p:nvPr/>
        </p:nvGrpSpPr>
        <p:grpSpPr>
          <a:xfrm>
            <a:off x="9970651" y="6185410"/>
            <a:ext cx="2130724" cy="474323"/>
            <a:chOff x="9970651" y="6185410"/>
            <a:chExt cx="2130724" cy="474323"/>
          </a:xfrm>
        </p:grpSpPr>
        <p:sp>
          <p:nvSpPr>
            <p:cNvPr id="5" name="Subtitle 2">
              <a:extLst>
                <a:ext uri="{FF2B5EF4-FFF2-40B4-BE49-F238E27FC236}">
                  <a16:creationId xmlns:a16="http://schemas.microsoft.com/office/drawing/2014/main" id="{39E6DB0C-F73B-398E-DF73-1948DD15BB43}"/>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6" name="Rectangle 5">
              <a:extLst>
                <a:ext uri="{FF2B5EF4-FFF2-40B4-BE49-F238E27FC236}">
                  <a16:creationId xmlns:a16="http://schemas.microsoft.com/office/drawing/2014/main" id="{32CF94CF-02D6-634F-37FE-EDC871002EE5}"/>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6668894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subTnLst>
                                    <p:animClr clrSpc="rgb" dir="cw">
                                      <p:cBhvr override="childStyle">
                                        <p:cTn dur="1" fill="hold" display="0" masterRel="nextClick" afterEffect="1"/>
                                        <p:tgtEl>
                                          <p:spTgt spid="3">
                                            <p:txEl>
                                              <p:pRg st="0" end="0"/>
                                            </p:txEl>
                                          </p:spTgt>
                                        </p:tgtEl>
                                        <p:attrNameLst>
                                          <p:attrName>ppt_c</p:attrName>
                                        </p:attrNameLst>
                                      </p:cBhvr>
                                      <p:to>
                                        <a:srgbClr val="A6A6A6"/>
                                      </p:to>
                                    </p:animClr>
                                  </p:sub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subTnLst>
                                    <p:animClr clrSpc="rgb" dir="cw">
                                      <p:cBhvr override="childStyle">
                                        <p:cTn dur="1" fill="hold" display="0" masterRel="nextClick" afterEffect="1"/>
                                        <p:tgtEl>
                                          <p:spTgt spid="3">
                                            <p:txEl>
                                              <p:pRg st="1" end="1"/>
                                            </p:txEl>
                                          </p:spTgt>
                                        </p:tgtEl>
                                        <p:attrNameLst>
                                          <p:attrName>ppt_c</p:attrName>
                                        </p:attrNameLst>
                                      </p:cBhvr>
                                      <p:to>
                                        <a:srgbClr val="A6A6A6"/>
                                      </p:to>
                                    </p:animClr>
                                  </p:sub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subTnLst>
                                    <p:animClr clrSpc="rgb" dir="cw">
                                      <p:cBhvr override="childStyle">
                                        <p:cTn dur="1" fill="hold" display="0" masterRel="nextClick" afterEffect="1"/>
                                        <p:tgtEl>
                                          <p:spTgt spid="3">
                                            <p:txEl>
                                              <p:pRg st="2" end="2"/>
                                            </p:txEl>
                                          </p:spTgt>
                                        </p:tgtEl>
                                        <p:attrNameLst>
                                          <p:attrName>ppt_c</p:attrName>
                                        </p:attrNameLst>
                                      </p:cBhvr>
                                      <p:to>
                                        <a:srgbClr val="A6A6A6"/>
                                      </p:to>
                                    </p:animClr>
                                  </p:sub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subTnLst>
                                    <p:animClr clrSpc="rgb" dir="cw">
                                      <p:cBhvr override="childStyle">
                                        <p:cTn dur="1" fill="hold" display="0" masterRel="nextClick" afterEffect="1"/>
                                        <p:tgtEl>
                                          <p:spTgt spid="3">
                                            <p:txEl>
                                              <p:pRg st="3" end="3"/>
                                            </p:txEl>
                                          </p:spTgt>
                                        </p:tgtEl>
                                        <p:attrNameLst>
                                          <p:attrName>ppt_c</p:attrName>
                                        </p:attrNameLst>
                                      </p:cBhvr>
                                      <p:to>
                                        <a:srgbClr val="A6A6A6"/>
                                      </p:to>
                                    </p:animClr>
                                  </p:sub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subTnLst>
                                    <p:animClr clrSpc="rgb" dir="cw">
                                      <p:cBhvr override="childStyle">
                                        <p:cTn dur="1" fill="hold" display="0" masterRel="nextClick" afterEffect="1"/>
                                        <p:tgtEl>
                                          <p:spTgt spid="3">
                                            <p:txEl>
                                              <p:pRg st="4" end="4"/>
                                            </p:txEl>
                                          </p:spTgt>
                                        </p:tgtEl>
                                        <p:attrNameLst>
                                          <p:attrName>ppt_c</p:attrName>
                                        </p:attrNameLst>
                                      </p:cBhvr>
                                      <p:to>
                                        <a:srgbClr val="A6A6A6"/>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F69B6"/>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0E0AF11-A4C9-45AA-A06E-24045DF01CE8}"/>
              </a:ext>
            </a:extLst>
          </p:cNvPr>
          <p:cNvSpPr/>
          <p:nvPr/>
        </p:nvSpPr>
        <p:spPr>
          <a:xfrm>
            <a:off x="-19458" y="-6059"/>
            <a:ext cx="12211458" cy="6864059"/>
          </a:xfrm>
          <a:prstGeom prst="rect">
            <a:avLst/>
          </a:prstGeom>
          <a:solidFill>
            <a:srgbClr val="0F69B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23961254-86DC-4239-85AC-F87EEB565B01}"/>
              </a:ext>
            </a:extLst>
          </p:cNvPr>
          <p:cNvSpPr>
            <a:spLocks noGrp="1"/>
          </p:cNvSpPr>
          <p:nvPr>
            <p:ph type="title"/>
          </p:nvPr>
        </p:nvSpPr>
        <p:spPr>
          <a:xfrm>
            <a:off x="-19457" y="365125"/>
            <a:ext cx="8871627" cy="6027511"/>
          </a:xfrm>
        </p:spPr>
        <p:txBody>
          <a:bodyPr>
            <a:normAutofit/>
          </a:bodyPr>
          <a:lstStyle/>
          <a:p>
            <a:pPr algn="ctr"/>
            <a:r>
              <a:rPr lang="en-US" sz="10000" dirty="0">
                <a:solidFill>
                  <a:schemeClr val="bg1"/>
                </a:solidFill>
                <a:latin typeface="+mn-lt"/>
              </a:rPr>
              <a:t>Applying TDD</a:t>
            </a:r>
            <a:br>
              <a:rPr lang="en-US" sz="10000" dirty="0">
                <a:solidFill>
                  <a:schemeClr val="bg1"/>
                </a:solidFill>
                <a:latin typeface="+mn-lt"/>
              </a:rPr>
            </a:br>
            <a:r>
              <a:rPr lang="en-US" sz="10000" dirty="0">
                <a:solidFill>
                  <a:schemeClr val="bg1"/>
                </a:solidFill>
                <a:latin typeface="+mn-lt"/>
              </a:rPr>
              <a:t>to </a:t>
            </a:r>
            <a:r>
              <a:rPr lang="en-US" sz="10000" dirty="0" err="1">
                <a:solidFill>
                  <a:schemeClr val="bg1"/>
                </a:solidFill>
                <a:latin typeface="+mn-lt"/>
              </a:rPr>
              <a:t>Blazor</a:t>
            </a:r>
            <a:endParaRPr lang="en-US" sz="10000" dirty="0">
              <a:solidFill>
                <a:schemeClr val="bg1"/>
              </a:solidFill>
              <a:latin typeface="+mn-lt"/>
            </a:endParaRPr>
          </a:p>
        </p:txBody>
      </p:sp>
      <p:pic>
        <p:nvPicPr>
          <p:cNvPr id="3" name="Picture 2" descr="Bootstrap+Blazor essentials - DEV Community">
            <a:extLst>
              <a:ext uri="{FF2B5EF4-FFF2-40B4-BE49-F238E27FC236}">
                <a16:creationId xmlns:a16="http://schemas.microsoft.com/office/drawing/2014/main" id="{E9E2DD8B-906A-F3DA-F26B-92BFA379BB24}"/>
              </a:ext>
            </a:extLst>
          </p:cNvPr>
          <p:cNvPicPr>
            <a:picLocks noChangeAspect="1" noChangeArrowheads="1"/>
          </p:cNvPicPr>
          <p:nvPr/>
        </p:nvPicPr>
        <p:blipFill>
          <a:blip r:embed="rId3">
            <a:clrChange>
              <a:clrFrom>
                <a:srgbClr val="6F43A4"/>
              </a:clrFrom>
              <a:clrTo>
                <a:srgbClr val="6F43A4">
                  <a:alpha val="0"/>
                </a:srgbClr>
              </a:clrTo>
            </a:clrChange>
            <a:extLst>
              <a:ext uri="{28A0092B-C50C-407E-A947-70E740481C1C}">
                <a14:useLocalDpi xmlns:a14="http://schemas.microsoft.com/office/drawing/2010/main" val="0"/>
              </a:ext>
            </a:extLst>
          </a:blip>
          <a:srcRect/>
          <a:stretch>
            <a:fillRect/>
          </a:stretch>
        </p:blipFill>
        <p:spPr bwMode="auto">
          <a:xfrm>
            <a:off x="9203862" y="4065593"/>
            <a:ext cx="2792407" cy="27924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714115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Introduction to Tools</a:t>
            </a:r>
          </a:p>
        </p:txBody>
      </p:sp>
      <p:sp>
        <p:nvSpPr>
          <p:cNvPr id="3" name="Content Placeholder 2"/>
          <p:cNvSpPr>
            <a:spLocks noGrp="1"/>
          </p:cNvSpPr>
          <p:nvPr>
            <p:ph idx="1"/>
          </p:nvPr>
        </p:nvSpPr>
        <p:spPr>
          <a:xfrm>
            <a:off x="838199" y="1825624"/>
            <a:ext cx="11263175" cy="4779637"/>
          </a:xfrm>
        </p:spPr>
        <p:txBody>
          <a:bodyPr>
            <a:normAutofit/>
          </a:bodyPr>
          <a:lstStyle/>
          <a:p>
            <a:r>
              <a:rPr lang="en-US" dirty="0" err="1"/>
              <a:t>xUnit</a:t>
            </a:r>
            <a:endParaRPr lang="en-US" dirty="0"/>
          </a:p>
          <a:p>
            <a:r>
              <a:rPr lang="en-US" dirty="0" err="1"/>
              <a:t>Shouldly</a:t>
            </a:r>
            <a:endParaRPr lang="en-US" dirty="0"/>
          </a:p>
          <a:p>
            <a:r>
              <a:rPr lang="en-US" dirty="0" err="1"/>
              <a:t>bUnit</a:t>
            </a:r>
            <a:endParaRPr lang="en-US" dirty="0"/>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12326399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solidFill>
                  <a:schemeClr val="bg1">
                    <a:lumMod val="65000"/>
                  </a:schemeClr>
                </a:solidFill>
              </a:rPr>
              <a:t>xUnit</a:t>
            </a:r>
            <a:endParaRPr lang="en-US" dirty="0">
              <a:solidFill>
                <a:schemeClr val="bg1">
                  <a:lumMod val="65000"/>
                </a:schemeClr>
              </a:solidFill>
            </a:endParaRPr>
          </a:p>
        </p:txBody>
      </p:sp>
      <p:sp>
        <p:nvSpPr>
          <p:cNvPr id="3" name="Content Placeholder 2"/>
          <p:cNvSpPr>
            <a:spLocks noGrp="1"/>
          </p:cNvSpPr>
          <p:nvPr>
            <p:ph idx="1"/>
          </p:nvPr>
        </p:nvSpPr>
        <p:spPr>
          <a:xfrm>
            <a:off x="838199" y="1825624"/>
            <a:ext cx="11263175" cy="4779637"/>
          </a:xfrm>
        </p:spPr>
        <p:txBody>
          <a:bodyPr>
            <a:normAutofit/>
          </a:bodyPr>
          <a:lstStyle/>
          <a:p>
            <a:r>
              <a:rPr lang="en-US" dirty="0"/>
              <a:t>Test framework</a:t>
            </a:r>
          </a:p>
          <a:p>
            <a:r>
              <a:rPr lang="en-US" dirty="0"/>
              <a:t>Used by Microsoft to test .NET</a:t>
            </a: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115319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subTnLst>
                                    <p:animClr clrSpc="rgb" dir="cw">
                                      <p:cBhvr override="childStyle">
                                        <p:cTn dur="1" fill="hold" display="0" masterRel="nextClick" afterEffect="1"/>
                                        <p:tgtEl>
                                          <p:spTgt spid="3">
                                            <p:txEl>
                                              <p:pRg st="0" end="0"/>
                                            </p:txEl>
                                          </p:spTgt>
                                        </p:tgtEl>
                                        <p:attrNameLst>
                                          <p:attrName>ppt_c</p:attrName>
                                        </p:attrNameLst>
                                      </p:cBhvr>
                                      <p:to>
                                        <a:srgbClr val="B2B2B2"/>
                                      </p:to>
                                    </p:animClr>
                                  </p:sub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subTnLst>
                                    <p:animClr clrSpc="rgb" dir="cw">
                                      <p:cBhvr override="childStyle">
                                        <p:cTn dur="1" fill="hold" display="0" masterRel="nextClick" afterEffect="1"/>
                                        <p:tgtEl>
                                          <p:spTgt spid="3">
                                            <p:txEl>
                                              <p:pRg st="1" end="1"/>
                                            </p:txEl>
                                          </p:spTgt>
                                        </p:tgtEl>
                                        <p:attrNameLst>
                                          <p:attrName>ppt_c</p:attrName>
                                        </p:attrNameLst>
                                      </p:cBhvr>
                                      <p:to>
                                        <a:srgbClr val="B2B2B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B5E7855-536D-EC33-3FC5-996C20955F27}"/>
              </a:ext>
            </a:extLst>
          </p:cNvPr>
          <p:cNvPicPr>
            <a:picLocks noChangeAspect="1"/>
          </p:cNvPicPr>
          <p:nvPr/>
        </p:nvPicPr>
        <p:blipFill>
          <a:blip r:embed="rId3"/>
          <a:stretch>
            <a:fillRect/>
          </a:stretch>
        </p:blipFill>
        <p:spPr>
          <a:xfrm>
            <a:off x="1827279" y="1815611"/>
            <a:ext cx="9332704" cy="4244875"/>
          </a:xfrm>
          <a:prstGeom prst="rect">
            <a:avLst/>
          </a:prstGeom>
        </p:spPr>
      </p:pic>
      <p:sp>
        <p:nvSpPr>
          <p:cNvPr id="2" name="Title 1"/>
          <p:cNvSpPr>
            <a:spLocks noGrp="1"/>
          </p:cNvSpPr>
          <p:nvPr>
            <p:ph type="title"/>
          </p:nvPr>
        </p:nvSpPr>
        <p:spPr/>
        <p:txBody>
          <a:bodyPr/>
          <a:lstStyle/>
          <a:p>
            <a:r>
              <a:rPr lang="en-US" dirty="0" err="1">
                <a:solidFill>
                  <a:schemeClr val="bg1">
                    <a:lumMod val="65000"/>
                  </a:schemeClr>
                </a:solidFill>
              </a:rPr>
              <a:t>xUnit</a:t>
            </a:r>
            <a:endParaRPr lang="en-US" dirty="0">
              <a:solidFill>
                <a:schemeClr val="bg1">
                  <a:lumMod val="65000"/>
                </a:schemeClr>
              </a:solidFill>
            </a:endParaRP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4">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2" name="Straight Arrow Connector 11">
            <a:extLst>
              <a:ext uri="{FF2B5EF4-FFF2-40B4-BE49-F238E27FC236}">
                <a16:creationId xmlns:a16="http://schemas.microsoft.com/office/drawing/2014/main" id="{3E49E464-5756-DBE1-B14C-E105000E5BB7}"/>
              </a:ext>
            </a:extLst>
          </p:cNvPr>
          <p:cNvCxnSpPr>
            <a:cxnSpLocks/>
          </p:cNvCxnSpPr>
          <p:nvPr/>
        </p:nvCxnSpPr>
        <p:spPr>
          <a:xfrm>
            <a:off x="763674" y="2017228"/>
            <a:ext cx="1166972" cy="0"/>
          </a:xfrm>
          <a:prstGeom prst="straightConnector1">
            <a:avLst/>
          </a:prstGeom>
          <a:ln w="762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9443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solidFill>
                  <a:schemeClr val="bg1">
                    <a:lumMod val="65000"/>
                  </a:schemeClr>
                </a:solidFill>
              </a:rPr>
              <a:t>Shouldly</a:t>
            </a:r>
            <a:endParaRPr lang="en-US" dirty="0">
              <a:solidFill>
                <a:schemeClr val="bg1">
                  <a:lumMod val="65000"/>
                </a:schemeClr>
              </a:solidFill>
            </a:endParaRPr>
          </a:p>
        </p:txBody>
      </p:sp>
      <p:sp>
        <p:nvSpPr>
          <p:cNvPr id="3" name="Content Placeholder 2"/>
          <p:cNvSpPr>
            <a:spLocks noGrp="1"/>
          </p:cNvSpPr>
          <p:nvPr>
            <p:ph idx="1"/>
          </p:nvPr>
        </p:nvSpPr>
        <p:spPr>
          <a:xfrm>
            <a:off x="838199" y="1825624"/>
            <a:ext cx="11263175" cy="4779637"/>
          </a:xfrm>
        </p:spPr>
        <p:txBody>
          <a:bodyPr>
            <a:normAutofit/>
          </a:bodyPr>
          <a:lstStyle/>
          <a:p>
            <a:r>
              <a:rPr lang="en-US" dirty="0"/>
              <a:t>Assertion library</a:t>
            </a:r>
          </a:p>
          <a:p>
            <a:r>
              <a:rPr lang="en-US" dirty="0"/>
              <a:t>~80M downloads on NuGet</a:t>
            </a:r>
          </a:p>
          <a:p>
            <a:r>
              <a:rPr lang="en-US" dirty="0"/>
              <a:t>Cleaner assertions</a:t>
            </a: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596340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subTnLst>
                                    <p:animClr clrSpc="rgb" dir="cw">
                                      <p:cBhvr override="childStyle">
                                        <p:cTn dur="1" fill="hold" display="0" masterRel="nextClick" afterEffect="1"/>
                                        <p:tgtEl>
                                          <p:spTgt spid="3">
                                            <p:txEl>
                                              <p:pRg st="0" end="0"/>
                                            </p:txEl>
                                          </p:spTgt>
                                        </p:tgtEl>
                                        <p:attrNameLst>
                                          <p:attrName>ppt_c</p:attrName>
                                        </p:attrNameLst>
                                      </p:cBhvr>
                                      <p:to>
                                        <a:srgbClr val="B2B2B2"/>
                                      </p:to>
                                    </p:animClr>
                                  </p:sub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subTnLst>
                                    <p:animClr clrSpc="rgb" dir="cw">
                                      <p:cBhvr override="childStyle">
                                        <p:cTn dur="1" fill="hold" display="0" masterRel="nextClick" afterEffect="1"/>
                                        <p:tgtEl>
                                          <p:spTgt spid="3">
                                            <p:txEl>
                                              <p:pRg st="1" end="1"/>
                                            </p:txEl>
                                          </p:spTgt>
                                        </p:tgtEl>
                                        <p:attrNameLst>
                                          <p:attrName>ppt_c</p:attrName>
                                        </p:attrNameLst>
                                      </p:cBhvr>
                                      <p:to>
                                        <a:srgbClr val="B2B2B2"/>
                                      </p:to>
                                    </p:animClr>
                                  </p:sub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subTnLst>
                                    <p:animClr clrSpc="rgb" dir="cw">
                                      <p:cBhvr override="childStyle">
                                        <p:cTn dur="1" fill="hold" display="0" masterRel="nextClick" afterEffect="1"/>
                                        <p:tgtEl>
                                          <p:spTgt spid="3">
                                            <p:txEl>
                                              <p:pRg st="2" end="2"/>
                                            </p:txEl>
                                          </p:spTgt>
                                        </p:tgtEl>
                                        <p:attrNameLst>
                                          <p:attrName>ppt_c</p:attrName>
                                        </p:attrNameLst>
                                      </p:cBhvr>
                                      <p:to>
                                        <a:srgbClr val="B2B2B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solidFill>
                  <a:schemeClr val="bg1">
                    <a:lumMod val="65000"/>
                  </a:schemeClr>
                </a:solidFill>
              </a:rPr>
              <a:t>Shouldly</a:t>
            </a:r>
            <a:endParaRPr lang="en-US" dirty="0">
              <a:solidFill>
                <a:schemeClr val="bg1">
                  <a:lumMod val="65000"/>
                </a:schemeClr>
              </a:solidFill>
            </a:endParaRP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5" name="Picture 4">
            <a:extLst>
              <a:ext uri="{FF2B5EF4-FFF2-40B4-BE49-F238E27FC236}">
                <a16:creationId xmlns:a16="http://schemas.microsoft.com/office/drawing/2014/main" id="{C6873F79-420F-6537-BB60-8EADEE0D2E87}"/>
              </a:ext>
            </a:extLst>
          </p:cNvPr>
          <p:cNvPicPr>
            <a:picLocks noChangeAspect="1"/>
          </p:cNvPicPr>
          <p:nvPr/>
        </p:nvPicPr>
        <p:blipFill>
          <a:blip r:embed="rId4"/>
          <a:stretch>
            <a:fillRect/>
          </a:stretch>
        </p:blipFill>
        <p:spPr>
          <a:xfrm>
            <a:off x="1827279" y="1815611"/>
            <a:ext cx="9332704" cy="4244875"/>
          </a:xfrm>
          <a:prstGeom prst="rect">
            <a:avLst/>
          </a:prstGeom>
        </p:spPr>
      </p:pic>
      <p:cxnSp>
        <p:nvCxnSpPr>
          <p:cNvPr id="3" name="Straight Arrow Connector 2">
            <a:extLst>
              <a:ext uri="{FF2B5EF4-FFF2-40B4-BE49-F238E27FC236}">
                <a16:creationId xmlns:a16="http://schemas.microsoft.com/office/drawing/2014/main" id="{361687FD-3599-F627-FBEA-4C50E40495B0}"/>
              </a:ext>
            </a:extLst>
          </p:cNvPr>
          <p:cNvCxnSpPr>
            <a:cxnSpLocks/>
          </p:cNvCxnSpPr>
          <p:nvPr/>
        </p:nvCxnSpPr>
        <p:spPr>
          <a:xfrm>
            <a:off x="1153287" y="5485695"/>
            <a:ext cx="1166972" cy="0"/>
          </a:xfrm>
          <a:prstGeom prst="straightConnector1">
            <a:avLst/>
          </a:prstGeom>
          <a:ln w="762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1563241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solidFill>
                  <a:schemeClr val="bg1">
                    <a:lumMod val="65000"/>
                  </a:schemeClr>
                </a:solidFill>
              </a:rPr>
              <a:t>bUnit</a:t>
            </a:r>
            <a:endParaRPr lang="en-US" dirty="0">
              <a:solidFill>
                <a:schemeClr val="bg1">
                  <a:lumMod val="65000"/>
                </a:schemeClr>
              </a:solidFill>
            </a:endParaRPr>
          </a:p>
        </p:txBody>
      </p:sp>
      <p:sp>
        <p:nvSpPr>
          <p:cNvPr id="3" name="Content Placeholder 2"/>
          <p:cNvSpPr>
            <a:spLocks noGrp="1"/>
          </p:cNvSpPr>
          <p:nvPr>
            <p:ph idx="1"/>
          </p:nvPr>
        </p:nvSpPr>
        <p:spPr>
          <a:xfrm>
            <a:off x="838199" y="1825624"/>
            <a:ext cx="11263175" cy="4779637"/>
          </a:xfrm>
        </p:spPr>
        <p:txBody>
          <a:bodyPr>
            <a:normAutofit/>
          </a:bodyPr>
          <a:lstStyle/>
          <a:p>
            <a:r>
              <a:rPr lang="en-US" dirty="0"/>
              <a:t>Helper library for testing </a:t>
            </a:r>
            <a:r>
              <a:rPr lang="en-US" dirty="0" err="1"/>
              <a:t>Blazor</a:t>
            </a:r>
            <a:endParaRPr lang="en-US" dirty="0"/>
          </a:p>
          <a:p>
            <a:r>
              <a:rPr lang="en-US" dirty="0"/>
              <a:t>Renders components</a:t>
            </a:r>
          </a:p>
          <a:p>
            <a:r>
              <a:rPr lang="en-US" dirty="0"/>
              <a:t>Queries for the DOM</a:t>
            </a:r>
          </a:p>
          <a:p>
            <a:r>
              <a:rPr lang="en-US" dirty="0"/>
              <a:t>Inject fake dependencies</a:t>
            </a:r>
          </a:p>
          <a:p>
            <a:r>
              <a:rPr lang="en-US" dirty="0"/>
              <a:t>Fakes for various things (i.e. </a:t>
            </a:r>
            <a:r>
              <a:rPr lang="en-US" dirty="0" err="1"/>
              <a:t>NavigationManager</a:t>
            </a:r>
            <a:r>
              <a:rPr lang="en-US" dirty="0"/>
              <a:t>)</a:t>
            </a: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0323041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subTnLst>
                                    <p:animClr clrSpc="rgb" dir="cw">
                                      <p:cBhvr override="childStyle">
                                        <p:cTn dur="1" fill="hold" display="0" masterRel="nextClick" afterEffect="1"/>
                                        <p:tgtEl>
                                          <p:spTgt spid="3">
                                            <p:txEl>
                                              <p:pRg st="0" end="0"/>
                                            </p:txEl>
                                          </p:spTgt>
                                        </p:tgtEl>
                                        <p:attrNameLst>
                                          <p:attrName>ppt_c</p:attrName>
                                        </p:attrNameLst>
                                      </p:cBhvr>
                                      <p:to>
                                        <a:srgbClr val="B2B2B2"/>
                                      </p:to>
                                    </p:animClr>
                                  </p:sub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subTnLst>
                                    <p:animClr clrSpc="rgb" dir="cw">
                                      <p:cBhvr override="childStyle">
                                        <p:cTn dur="1" fill="hold" display="0" masterRel="nextClick" afterEffect="1"/>
                                        <p:tgtEl>
                                          <p:spTgt spid="3">
                                            <p:txEl>
                                              <p:pRg st="1" end="1"/>
                                            </p:txEl>
                                          </p:spTgt>
                                        </p:tgtEl>
                                        <p:attrNameLst>
                                          <p:attrName>ppt_c</p:attrName>
                                        </p:attrNameLst>
                                      </p:cBhvr>
                                      <p:to>
                                        <a:srgbClr val="B2B2B2"/>
                                      </p:to>
                                    </p:animClr>
                                  </p:sub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subTnLst>
                                    <p:animClr clrSpc="rgb" dir="cw">
                                      <p:cBhvr override="childStyle">
                                        <p:cTn dur="1" fill="hold" display="0" masterRel="nextClick" afterEffect="1"/>
                                        <p:tgtEl>
                                          <p:spTgt spid="3">
                                            <p:txEl>
                                              <p:pRg st="2" end="2"/>
                                            </p:txEl>
                                          </p:spTgt>
                                        </p:tgtEl>
                                        <p:attrNameLst>
                                          <p:attrName>ppt_c</p:attrName>
                                        </p:attrNameLst>
                                      </p:cBhvr>
                                      <p:to>
                                        <a:srgbClr val="B2B2B2"/>
                                      </p:to>
                                    </p:animClr>
                                  </p:sub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subTnLst>
                                    <p:animClr clrSpc="rgb" dir="cw">
                                      <p:cBhvr override="childStyle">
                                        <p:cTn dur="1" fill="hold" display="0" masterRel="nextClick" afterEffect="1"/>
                                        <p:tgtEl>
                                          <p:spTgt spid="3">
                                            <p:txEl>
                                              <p:pRg st="3" end="3"/>
                                            </p:txEl>
                                          </p:spTgt>
                                        </p:tgtEl>
                                        <p:attrNameLst>
                                          <p:attrName>ppt_c</p:attrName>
                                        </p:attrNameLst>
                                      </p:cBhvr>
                                      <p:to>
                                        <a:srgbClr val="B2B2B2"/>
                                      </p:to>
                                    </p:animClr>
                                  </p:sub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subTnLst>
                                    <p:animClr clrSpc="rgb" dir="cw">
                                      <p:cBhvr override="childStyle">
                                        <p:cTn dur="1" fill="hold" display="0" masterRel="nextClick" afterEffect="1"/>
                                        <p:tgtEl>
                                          <p:spTgt spid="3">
                                            <p:txEl>
                                              <p:pRg st="4" end="4"/>
                                            </p:txEl>
                                          </p:spTgt>
                                        </p:tgtEl>
                                        <p:attrNameLst>
                                          <p:attrName>ppt_c</p:attrName>
                                        </p:attrNameLst>
                                      </p:cBhvr>
                                      <p:to>
                                        <a:srgbClr val="B2B2B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1A88828-5E33-19A7-AA3C-C2CCE39C4CA5}"/>
              </a:ext>
            </a:extLst>
          </p:cNvPr>
          <p:cNvPicPr>
            <a:picLocks noChangeAspect="1"/>
          </p:cNvPicPr>
          <p:nvPr/>
        </p:nvPicPr>
        <p:blipFill>
          <a:blip r:embed="rId3"/>
          <a:stretch>
            <a:fillRect/>
          </a:stretch>
        </p:blipFill>
        <p:spPr>
          <a:xfrm>
            <a:off x="1827279" y="1815611"/>
            <a:ext cx="9332704" cy="4244875"/>
          </a:xfrm>
          <a:prstGeom prst="rect">
            <a:avLst/>
          </a:prstGeom>
        </p:spPr>
      </p:pic>
      <p:sp>
        <p:nvSpPr>
          <p:cNvPr id="2" name="Title 1"/>
          <p:cNvSpPr>
            <a:spLocks noGrp="1"/>
          </p:cNvSpPr>
          <p:nvPr>
            <p:ph type="title"/>
          </p:nvPr>
        </p:nvSpPr>
        <p:spPr/>
        <p:txBody>
          <a:bodyPr/>
          <a:lstStyle/>
          <a:p>
            <a:r>
              <a:rPr lang="en-US" dirty="0" err="1">
                <a:solidFill>
                  <a:schemeClr val="bg1">
                    <a:lumMod val="65000"/>
                  </a:schemeClr>
                </a:solidFill>
              </a:rPr>
              <a:t>bUnit</a:t>
            </a:r>
            <a:endParaRPr lang="en-US" dirty="0">
              <a:solidFill>
                <a:schemeClr val="bg1">
                  <a:lumMod val="65000"/>
                </a:schemeClr>
              </a:solidFill>
            </a:endParaRP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4">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Rectangle 2">
            <a:extLst>
              <a:ext uri="{FF2B5EF4-FFF2-40B4-BE49-F238E27FC236}">
                <a16:creationId xmlns:a16="http://schemas.microsoft.com/office/drawing/2014/main" id="{9774468E-00A8-CC5E-4A6B-AC60D7499755}"/>
              </a:ext>
            </a:extLst>
          </p:cNvPr>
          <p:cNvSpPr/>
          <p:nvPr/>
        </p:nvSpPr>
        <p:spPr>
          <a:xfrm>
            <a:off x="2170446" y="2813538"/>
            <a:ext cx="8989537" cy="2513836"/>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6006691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What should I test?</a:t>
            </a:r>
          </a:p>
        </p:txBody>
      </p:sp>
      <p:sp>
        <p:nvSpPr>
          <p:cNvPr id="3" name="Content Placeholder 2"/>
          <p:cNvSpPr>
            <a:spLocks noGrp="1"/>
          </p:cNvSpPr>
          <p:nvPr>
            <p:ph idx="1"/>
          </p:nvPr>
        </p:nvSpPr>
        <p:spPr>
          <a:xfrm>
            <a:off x="838199" y="1825624"/>
            <a:ext cx="11263175" cy="5032376"/>
          </a:xfrm>
        </p:spPr>
        <p:txBody>
          <a:bodyPr>
            <a:normAutofit/>
          </a:bodyPr>
          <a:lstStyle/>
          <a:p>
            <a:r>
              <a:rPr lang="en-US" dirty="0"/>
              <a:t>Behavior</a:t>
            </a:r>
          </a:p>
          <a:p>
            <a:r>
              <a:rPr lang="en-US" dirty="0"/>
              <a:t>Not that CSS classes exist or any other attributes directly exist</a:t>
            </a:r>
          </a:p>
          <a:p>
            <a:r>
              <a:rPr lang="en-US" dirty="0"/>
              <a:t>You can’t prove your app looks good with tests</a:t>
            </a:r>
          </a:p>
          <a:p>
            <a:r>
              <a:rPr lang="en-US" dirty="0"/>
              <a:t>Behavior</a:t>
            </a:r>
          </a:p>
          <a:p>
            <a:r>
              <a:rPr lang="en-US" dirty="0"/>
              <a:t>If I can delete code that breaks your app, but your tests don’t – that’s a problem</a:t>
            </a:r>
          </a:p>
          <a:p>
            <a:r>
              <a:rPr lang="en-US" dirty="0"/>
              <a:t>If my tests break but my application isn’t broken - that’s a problem</a:t>
            </a:r>
          </a:p>
          <a:p>
            <a:pPr lvl="1"/>
            <a:r>
              <a:rPr lang="en-US" dirty="0"/>
              <a:t>Flaky Test?</a:t>
            </a:r>
          </a:p>
          <a:p>
            <a:pPr lvl="1"/>
            <a:r>
              <a:rPr lang="en-US" dirty="0"/>
              <a:t>Implementation detail?</a:t>
            </a: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0053332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subTnLst>
                                    <p:animClr clrSpc="rgb" dir="cw">
                                      <p:cBhvr override="childStyle">
                                        <p:cTn dur="1" fill="hold" display="0" masterRel="nextClick" afterEffect="1"/>
                                        <p:tgtEl>
                                          <p:spTgt spid="3">
                                            <p:txEl>
                                              <p:pRg st="0" end="0"/>
                                            </p:txEl>
                                          </p:spTgt>
                                        </p:tgtEl>
                                        <p:attrNameLst>
                                          <p:attrName>ppt_c</p:attrName>
                                        </p:attrNameLst>
                                      </p:cBhvr>
                                      <p:to>
                                        <a:srgbClr val="B2B2B2"/>
                                      </p:to>
                                    </p:animClr>
                                  </p:sub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subTnLst>
                                    <p:animClr clrSpc="rgb" dir="cw">
                                      <p:cBhvr override="childStyle">
                                        <p:cTn dur="1" fill="hold" display="0" masterRel="nextClick" afterEffect="1"/>
                                        <p:tgtEl>
                                          <p:spTgt spid="3">
                                            <p:txEl>
                                              <p:pRg st="1" end="1"/>
                                            </p:txEl>
                                          </p:spTgt>
                                        </p:tgtEl>
                                        <p:attrNameLst>
                                          <p:attrName>ppt_c</p:attrName>
                                        </p:attrNameLst>
                                      </p:cBhvr>
                                      <p:to>
                                        <a:srgbClr val="B2B2B2"/>
                                      </p:to>
                                    </p:animClr>
                                  </p:sub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subTnLst>
                                    <p:animClr clrSpc="rgb" dir="cw">
                                      <p:cBhvr override="childStyle">
                                        <p:cTn dur="1" fill="hold" display="0" masterRel="nextClick" afterEffect="1"/>
                                        <p:tgtEl>
                                          <p:spTgt spid="3">
                                            <p:txEl>
                                              <p:pRg st="2" end="2"/>
                                            </p:txEl>
                                          </p:spTgt>
                                        </p:tgtEl>
                                        <p:attrNameLst>
                                          <p:attrName>ppt_c</p:attrName>
                                        </p:attrNameLst>
                                      </p:cBhvr>
                                      <p:to>
                                        <a:srgbClr val="B2B2B2"/>
                                      </p:to>
                                    </p:animClr>
                                  </p:sub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subTnLst>
                                    <p:animClr clrSpc="rgb" dir="cw">
                                      <p:cBhvr override="childStyle">
                                        <p:cTn dur="1" fill="hold" display="0" masterRel="nextClick" afterEffect="1"/>
                                        <p:tgtEl>
                                          <p:spTgt spid="3">
                                            <p:txEl>
                                              <p:pRg st="3" end="3"/>
                                            </p:txEl>
                                          </p:spTgt>
                                        </p:tgtEl>
                                        <p:attrNameLst>
                                          <p:attrName>ppt_c</p:attrName>
                                        </p:attrNameLst>
                                      </p:cBhvr>
                                      <p:to>
                                        <a:srgbClr val="B2B2B2"/>
                                      </p:to>
                                    </p:animClr>
                                  </p:sub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subTnLst>
                                    <p:animClr clrSpc="rgb" dir="cw">
                                      <p:cBhvr override="childStyle">
                                        <p:cTn dur="1" fill="hold" display="0" masterRel="nextClick" afterEffect="1"/>
                                        <p:tgtEl>
                                          <p:spTgt spid="3">
                                            <p:txEl>
                                              <p:pRg st="4" end="4"/>
                                            </p:txEl>
                                          </p:spTgt>
                                        </p:tgtEl>
                                        <p:attrNameLst>
                                          <p:attrName>ppt_c</p:attrName>
                                        </p:attrNameLst>
                                      </p:cBhvr>
                                      <p:to>
                                        <a:srgbClr val="B2B2B2"/>
                                      </p:to>
                                    </p:animClr>
                                  </p:sub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subTnLst>
                                    <p:animClr clrSpc="rgb" dir="cw">
                                      <p:cBhvr override="childStyle">
                                        <p:cTn dur="1" fill="hold" display="0" masterRel="nextClick" afterEffect="1"/>
                                        <p:tgtEl>
                                          <p:spTgt spid="3">
                                            <p:txEl>
                                              <p:pRg st="5" end="5"/>
                                            </p:txEl>
                                          </p:spTgt>
                                        </p:tgtEl>
                                        <p:attrNameLst>
                                          <p:attrName>ppt_c</p:attrName>
                                        </p:attrNameLst>
                                      </p:cBhvr>
                                      <p:to>
                                        <a:srgbClr val="B2B2B2"/>
                                      </p:to>
                                    </p:animClr>
                                  </p:subTnLst>
                                </p:cTn>
                              </p:par>
                              <p:par>
                                <p:cTn id="33" presetID="10" presetClass="entr" presetSubtype="0" fill="hold" grpId="0" nodeType="with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fade">
                                      <p:cBhvr>
                                        <p:cTn id="35" dur="500"/>
                                        <p:tgtEl>
                                          <p:spTgt spid="3">
                                            <p:txEl>
                                              <p:pRg st="6" end="6"/>
                                            </p:txEl>
                                          </p:spTgt>
                                        </p:tgtEl>
                                      </p:cBhvr>
                                    </p:animEffect>
                                  </p:childTnLst>
                                  <p:subTnLst>
                                    <p:animClr clrSpc="rgb" dir="cw">
                                      <p:cBhvr override="childStyle">
                                        <p:cTn dur="1" fill="hold" display="0" masterRel="nextClick" afterEffect="1"/>
                                        <p:tgtEl>
                                          <p:spTgt spid="3">
                                            <p:txEl>
                                              <p:pRg st="6" end="6"/>
                                            </p:txEl>
                                          </p:spTgt>
                                        </p:tgtEl>
                                        <p:attrNameLst>
                                          <p:attrName>ppt_c</p:attrName>
                                        </p:attrNameLst>
                                      </p:cBhvr>
                                      <p:to>
                                        <a:srgbClr val="B2B2B2"/>
                                      </p:to>
                                    </p:animClr>
                                  </p:subTnLst>
                                </p:cTn>
                              </p:par>
                              <p:par>
                                <p:cTn id="36" presetID="10" presetClass="entr" presetSubtype="0" fill="hold" grpId="0" nodeType="withEffect">
                                  <p:stCondLst>
                                    <p:cond delay="0"/>
                                  </p:stCondLst>
                                  <p:childTnLst>
                                    <p:set>
                                      <p:cBhvr>
                                        <p:cTn id="37" dur="1" fill="hold">
                                          <p:stCondLst>
                                            <p:cond delay="0"/>
                                          </p:stCondLst>
                                        </p:cTn>
                                        <p:tgtEl>
                                          <p:spTgt spid="3">
                                            <p:txEl>
                                              <p:pRg st="7" end="7"/>
                                            </p:txEl>
                                          </p:spTgt>
                                        </p:tgtEl>
                                        <p:attrNameLst>
                                          <p:attrName>style.visibility</p:attrName>
                                        </p:attrNameLst>
                                      </p:cBhvr>
                                      <p:to>
                                        <p:strVal val="visible"/>
                                      </p:to>
                                    </p:set>
                                    <p:animEffect transition="in" filter="fade">
                                      <p:cBhvr>
                                        <p:cTn id="38" dur="500"/>
                                        <p:tgtEl>
                                          <p:spTgt spid="3">
                                            <p:txEl>
                                              <p:pRg st="7" end="7"/>
                                            </p:txEl>
                                          </p:spTgt>
                                        </p:tgtEl>
                                      </p:cBhvr>
                                    </p:animEffect>
                                  </p:childTnLst>
                                  <p:subTnLst>
                                    <p:animClr clrSpc="rgb" dir="cw">
                                      <p:cBhvr override="childStyle">
                                        <p:cTn dur="1" fill="hold" display="0" masterRel="nextClick" afterEffect="1"/>
                                        <p:tgtEl>
                                          <p:spTgt spid="3">
                                            <p:txEl>
                                              <p:pRg st="7" end="7"/>
                                            </p:txEl>
                                          </p:spTgt>
                                        </p:tgtEl>
                                        <p:attrNameLst>
                                          <p:attrName>ppt_c</p:attrName>
                                        </p:attrNameLst>
                                      </p:cBhvr>
                                      <p:to>
                                        <a:srgbClr val="B2B2B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0" name="Picture 9">
            <a:extLst>
              <a:ext uri="{FF2B5EF4-FFF2-40B4-BE49-F238E27FC236}">
                <a16:creationId xmlns:a16="http://schemas.microsoft.com/office/drawing/2014/main" id="{AB2A7FE8-B853-F131-B77C-9ECEA24EBB72}"/>
              </a:ext>
            </a:extLst>
          </p:cNvPr>
          <p:cNvPicPr>
            <a:picLocks noChangeAspect="1"/>
          </p:cNvPicPr>
          <p:nvPr/>
        </p:nvPicPr>
        <p:blipFill>
          <a:blip r:embed="rId4"/>
          <a:stretch>
            <a:fillRect/>
          </a:stretch>
        </p:blipFill>
        <p:spPr>
          <a:xfrm>
            <a:off x="1466715" y="810952"/>
            <a:ext cx="6944694" cy="3467584"/>
          </a:xfrm>
          <a:prstGeom prst="rect">
            <a:avLst/>
          </a:prstGeom>
        </p:spPr>
      </p:pic>
      <p:sp>
        <p:nvSpPr>
          <p:cNvPr id="2" name="Title 1"/>
          <p:cNvSpPr>
            <a:spLocks noGrp="1"/>
          </p:cNvSpPr>
          <p:nvPr>
            <p:ph type="title"/>
          </p:nvPr>
        </p:nvSpPr>
        <p:spPr>
          <a:xfrm>
            <a:off x="1466715" y="2644745"/>
            <a:ext cx="8720937" cy="3467584"/>
          </a:xfrm>
        </p:spPr>
        <p:txBody>
          <a:bodyPr>
            <a:normAutofit/>
          </a:bodyPr>
          <a:lstStyle/>
          <a:p>
            <a:r>
              <a:rPr lang="en-US" sz="2400" dirty="0">
                <a:solidFill>
                  <a:schemeClr val="bg1">
                    <a:lumMod val="65000"/>
                  </a:schemeClr>
                </a:solidFill>
                <a:latin typeface="+mn-lt"/>
              </a:rPr>
              <a:t>❌</a:t>
            </a:r>
            <a:br>
              <a:rPr lang="en-US" sz="2400" dirty="0">
                <a:solidFill>
                  <a:schemeClr val="bg1">
                    <a:lumMod val="65000"/>
                  </a:schemeClr>
                </a:solidFill>
                <a:latin typeface="+mn-lt"/>
              </a:rPr>
            </a:br>
            <a:br>
              <a:rPr lang="en-US" sz="2400" dirty="0">
                <a:solidFill>
                  <a:schemeClr val="bg1">
                    <a:lumMod val="65000"/>
                  </a:schemeClr>
                </a:solidFill>
                <a:latin typeface="+mn-lt"/>
              </a:rPr>
            </a:br>
            <a:br>
              <a:rPr lang="en-US" sz="2400" dirty="0">
                <a:solidFill>
                  <a:schemeClr val="bg1">
                    <a:lumMod val="65000"/>
                  </a:schemeClr>
                </a:solidFill>
                <a:latin typeface="+mn-lt"/>
              </a:rPr>
            </a:br>
            <a:r>
              <a:rPr lang="en-US" sz="2800" dirty="0">
                <a:latin typeface="+mn-lt"/>
              </a:rPr>
              <a:t>Current Count is an implementation detail, not behavior</a:t>
            </a:r>
            <a:endParaRPr lang="en-US" sz="2800" dirty="0">
              <a:solidFill>
                <a:schemeClr val="bg1">
                  <a:lumMod val="65000"/>
                </a:schemeClr>
              </a:solidFill>
              <a:latin typeface="+mn-lt"/>
            </a:endParaRPr>
          </a:p>
        </p:txBody>
      </p:sp>
    </p:spTree>
    <p:extLst>
      <p:ext uri="{BB962C8B-B14F-4D97-AF65-F5344CB8AC3E}">
        <p14:creationId xmlns:p14="http://schemas.microsoft.com/office/powerpoint/2010/main" val="34506522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4" name="Picture 3">
            <a:extLst>
              <a:ext uri="{FF2B5EF4-FFF2-40B4-BE49-F238E27FC236}">
                <a16:creationId xmlns:a16="http://schemas.microsoft.com/office/drawing/2014/main" id="{F9BC5333-8ECE-EB3E-0AB7-043D0B14ECEF}"/>
              </a:ext>
            </a:extLst>
          </p:cNvPr>
          <p:cNvPicPr>
            <a:picLocks noChangeAspect="1"/>
          </p:cNvPicPr>
          <p:nvPr/>
        </p:nvPicPr>
        <p:blipFill>
          <a:blip r:embed="rId4"/>
          <a:stretch>
            <a:fillRect/>
          </a:stretch>
        </p:blipFill>
        <p:spPr>
          <a:xfrm>
            <a:off x="1446619" y="861717"/>
            <a:ext cx="8083519" cy="3465576"/>
          </a:xfrm>
          <a:prstGeom prst="rect">
            <a:avLst/>
          </a:prstGeom>
        </p:spPr>
      </p:pic>
      <p:sp>
        <p:nvSpPr>
          <p:cNvPr id="2" name="Title 1"/>
          <p:cNvSpPr>
            <a:spLocks noGrp="1"/>
          </p:cNvSpPr>
          <p:nvPr>
            <p:ph type="title"/>
          </p:nvPr>
        </p:nvSpPr>
        <p:spPr>
          <a:xfrm>
            <a:off x="1466715" y="2644745"/>
            <a:ext cx="8720937" cy="3467584"/>
          </a:xfrm>
        </p:spPr>
        <p:txBody>
          <a:bodyPr>
            <a:normAutofit/>
          </a:bodyPr>
          <a:lstStyle/>
          <a:p>
            <a:r>
              <a:rPr lang="en-US" sz="2400" dirty="0">
                <a:solidFill>
                  <a:schemeClr val="bg1">
                    <a:lumMod val="65000"/>
                  </a:schemeClr>
                </a:solidFill>
                <a:latin typeface="+mn-lt"/>
              </a:rPr>
              <a:t>❌</a:t>
            </a:r>
            <a:br>
              <a:rPr lang="en-US" sz="2400" dirty="0">
                <a:solidFill>
                  <a:schemeClr val="bg1">
                    <a:lumMod val="65000"/>
                  </a:schemeClr>
                </a:solidFill>
                <a:latin typeface="+mn-lt"/>
              </a:rPr>
            </a:br>
            <a:br>
              <a:rPr lang="en-US" sz="2400" dirty="0">
                <a:solidFill>
                  <a:schemeClr val="bg1">
                    <a:lumMod val="65000"/>
                  </a:schemeClr>
                </a:solidFill>
                <a:latin typeface="+mn-lt"/>
              </a:rPr>
            </a:br>
            <a:br>
              <a:rPr lang="en-US" sz="2400" dirty="0">
                <a:solidFill>
                  <a:schemeClr val="bg1">
                    <a:lumMod val="65000"/>
                  </a:schemeClr>
                </a:solidFill>
                <a:latin typeface="+mn-lt"/>
              </a:rPr>
            </a:br>
            <a:r>
              <a:rPr lang="en-US" sz="2800" dirty="0">
                <a:latin typeface="+mn-lt"/>
              </a:rPr>
              <a:t>The HTML  is an implementation detail, not behavior</a:t>
            </a:r>
            <a:endParaRPr lang="en-US" sz="2800" dirty="0">
              <a:solidFill>
                <a:schemeClr val="bg1">
                  <a:lumMod val="65000"/>
                </a:schemeClr>
              </a:solidFill>
              <a:latin typeface="+mn-lt"/>
            </a:endParaRPr>
          </a:p>
        </p:txBody>
      </p:sp>
    </p:spTree>
    <p:extLst>
      <p:ext uri="{BB962C8B-B14F-4D97-AF65-F5344CB8AC3E}">
        <p14:creationId xmlns:p14="http://schemas.microsoft.com/office/powerpoint/2010/main" val="1532397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E66949D-4A29-8A13-E77A-BD8EB9C49C5F}"/>
              </a:ext>
            </a:extLst>
          </p:cNvPr>
          <p:cNvPicPr>
            <a:picLocks noChangeAspect="1"/>
          </p:cNvPicPr>
          <p:nvPr/>
        </p:nvPicPr>
        <p:blipFill>
          <a:blip r:embed="rId3"/>
          <a:stretch>
            <a:fillRect/>
          </a:stretch>
        </p:blipFill>
        <p:spPr>
          <a:xfrm>
            <a:off x="1466714" y="445273"/>
            <a:ext cx="8486927" cy="3860183"/>
          </a:xfrm>
          <a:prstGeom prst="rect">
            <a:avLst/>
          </a:prstGeom>
        </p:spPr>
      </p:pic>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4">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 name="Title 1">
            <a:extLst>
              <a:ext uri="{FF2B5EF4-FFF2-40B4-BE49-F238E27FC236}">
                <a16:creationId xmlns:a16="http://schemas.microsoft.com/office/drawing/2014/main" id="{A007C0E2-0F27-1F92-FBA8-5923C1CCF770}"/>
              </a:ext>
            </a:extLst>
          </p:cNvPr>
          <p:cNvSpPr txBox="1">
            <a:spLocks/>
          </p:cNvSpPr>
          <p:nvPr/>
        </p:nvSpPr>
        <p:spPr>
          <a:xfrm>
            <a:off x="1466715" y="2644745"/>
            <a:ext cx="8720937" cy="346758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400" dirty="0">
                <a:solidFill>
                  <a:schemeClr val="bg1">
                    <a:lumMod val="65000"/>
                  </a:schemeClr>
                </a:solidFill>
                <a:latin typeface="+mn-lt"/>
              </a:rPr>
              <a:t>✅</a:t>
            </a:r>
            <a:br>
              <a:rPr lang="en-US" sz="2400" dirty="0">
                <a:solidFill>
                  <a:schemeClr val="bg1">
                    <a:lumMod val="65000"/>
                  </a:schemeClr>
                </a:solidFill>
                <a:latin typeface="+mn-lt"/>
              </a:rPr>
            </a:br>
            <a:br>
              <a:rPr lang="en-US" sz="2400" dirty="0">
                <a:solidFill>
                  <a:schemeClr val="bg1">
                    <a:lumMod val="65000"/>
                  </a:schemeClr>
                </a:solidFill>
                <a:latin typeface="+mn-lt"/>
              </a:rPr>
            </a:br>
            <a:br>
              <a:rPr lang="en-US" sz="2400" dirty="0">
                <a:solidFill>
                  <a:schemeClr val="bg1">
                    <a:lumMod val="65000"/>
                  </a:schemeClr>
                </a:solidFill>
                <a:latin typeface="+mn-lt"/>
              </a:rPr>
            </a:br>
            <a:r>
              <a:rPr lang="en-US" sz="2800" dirty="0">
                <a:latin typeface="+mn-lt"/>
              </a:rPr>
              <a:t>This is the behavior you care about!</a:t>
            </a:r>
            <a:endParaRPr lang="en-US" sz="2800" dirty="0">
              <a:solidFill>
                <a:schemeClr val="bg1">
                  <a:lumMod val="65000"/>
                </a:schemeClr>
              </a:solidFill>
              <a:latin typeface="+mn-lt"/>
            </a:endParaRPr>
          </a:p>
        </p:txBody>
      </p:sp>
    </p:spTree>
    <p:extLst>
      <p:ext uri="{BB962C8B-B14F-4D97-AF65-F5344CB8AC3E}">
        <p14:creationId xmlns:p14="http://schemas.microsoft.com/office/powerpoint/2010/main" val="7317626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 name="Group 1">
            <a:extLst>
              <a:ext uri="{FF2B5EF4-FFF2-40B4-BE49-F238E27FC236}">
                <a16:creationId xmlns:a16="http://schemas.microsoft.com/office/drawing/2014/main" id="{5F7F7958-544D-5CAE-9C35-6D64AFDAAA78}"/>
              </a:ext>
            </a:extLst>
          </p:cNvPr>
          <p:cNvGrpSpPr/>
          <p:nvPr/>
        </p:nvGrpSpPr>
        <p:grpSpPr>
          <a:xfrm>
            <a:off x="2450813" y="3333179"/>
            <a:ext cx="8720937" cy="4476992"/>
            <a:chOff x="1064141" y="1042154"/>
            <a:chExt cx="8720937" cy="4476992"/>
          </a:xfrm>
        </p:grpSpPr>
        <p:pic>
          <p:nvPicPr>
            <p:cNvPr id="7" name="Picture 6">
              <a:extLst>
                <a:ext uri="{FF2B5EF4-FFF2-40B4-BE49-F238E27FC236}">
                  <a16:creationId xmlns:a16="http://schemas.microsoft.com/office/drawing/2014/main" id="{4ACC0E85-103C-AE60-7D9C-6D041BA41A50}"/>
                </a:ext>
              </a:extLst>
            </p:cNvPr>
            <p:cNvPicPr>
              <a:picLocks noChangeAspect="1"/>
            </p:cNvPicPr>
            <p:nvPr/>
          </p:nvPicPr>
          <p:blipFill>
            <a:blip r:embed="rId4"/>
            <a:stretch>
              <a:fillRect/>
            </a:stretch>
          </p:blipFill>
          <p:spPr>
            <a:xfrm>
              <a:off x="1157513" y="1042154"/>
              <a:ext cx="6227064" cy="2743200"/>
            </a:xfrm>
            <a:prstGeom prst="rect">
              <a:avLst/>
            </a:prstGeom>
          </p:spPr>
        </p:pic>
        <p:sp>
          <p:nvSpPr>
            <p:cNvPr id="10" name="Title 1">
              <a:extLst>
                <a:ext uri="{FF2B5EF4-FFF2-40B4-BE49-F238E27FC236}">
                  <a16:creationId xmlns:a16="http://schemas.microsoft.com/office/drawing/2014/main" id="{A007C0E2-0F27-1F92-FBA8-5923C1CCF770}"/>
                </a:ext>
              </a:extLst>
            </p:cNvPr>
            <p:cNvSpPr txBox="1">
              <a:spLocks/>
            </p:cNvSpPr>
            <p:nvPr/>
          </p:nvSpPr>
          <p:spPr>
            <a:xfrm>
              <a:off x="1064141" y="2051562"/>
              <a:ext cx="8720937" cy="346758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400" dirty="0">
                  <a:solidFill>
                    <a:schemeClr val="bg1">
                      <a:lumMod val="65000"/>
                    </a:schemeClr>
                  </a:solidFill>
                  <a:latin typeface="+mn-lt"/>
                </a:rPr>
                <a:t>✅</a:t>
              </a:r>
              <a:br>
                <a:rPr lang="en-US" sz="2400" dirty="0">
                  <a:solidFill>
                    <a:schemeClr val="bg1">
                      <a:lumMod val="65000"/>
                    </a:schemeClr>
                  </a:solidFill>
                  <a:latin typeface="+mn-lt"/>
                </a:rPr>
              </a:br>
              <a:br>
                <a:rPr lang="en-US" sz="2400" dirty="0">
                  <a:solidFill>
                    <a:schemeClr val="bg1">
                      <a:lumMod val="65000"/>
                    </a:schemeClr>
                  </a:solidFill>
                  <a:latin typeface="+mn-lt"/>
                </a:rPr>
              </a:br>
              <a:endParaRPr lang="en-US" sz="2800" dirty="0">
                <a:solidFill>
                  <a:schemeClr val="bg1">
                    <a:lumMod val="65000"/>
                  </a:schemeClr>
                </a:solidFill>
                <a:latin typeface="+mn-lt"/>
              </a:endParaRPr>
            </a:p>
          </p:txBody>
        </p:sp>
      </p:grpSp>
      <p:pic>
        <p:nvPicPr>
          <p:cNvPr id="3" name="Picture 2">
            <a:extLst>
              <a:ext uri="{FF2B5EF4-FFF2-40B4-BE49-F238E27FC236}">
                <a16:creationId xmlns:a16="http://schemas.microsoft.com/office/drawing/2014/main" id="{30B400E3-A835-A281-1BF8-2124019BCE09}"/>
              </a:ext>
            </a:extLst>
          </p:cNvPr>
          <p:cNvPicPr>
            <a:picLocks noChangeAspect="1"/>
          </p:cNvPicPr>
          <p:nvPr/>
        </p:nvPicPr>
        <p:blipFill>
          <a:blip r:embed="rId5"/>
          <a:stretch>
            <a:fillRect/>
          </a:stretch>
        </p:blipFill>
        <p:spPr>
          <a:xfrm>
            <a:off x="0" y="257811"/>
            <a:ext cx="5493936" cy="2743200"/>
          </a:xfrm>
          <a:prstGeom prst="rect">
            <a:avLst/>
          </a:prstGeom>
        </p:spPr>
      </p:pic>
      <p:sp>
        <p:nvSpPr>
          <p:cNvPr id="4" name="Title 1">
            <a:extLst>
              <a:ext uri="{FF2B5EF4-FFF2-40B4-BE49-F238E27FC236}">
                <a16:creationId xmlns:a16="http://schemas.microsoft.com/office/drawing/2014/main" id="{4D89D62C-DD49-47A9-E539-8BEDD77A0B0C}"/>
              </a:ext>
            </a:extLst>
          </p:cNvPr>
          <p:cNvSpPr>
            <a:spLocks noGrp="1"/>
          </p:cNvSpPr>
          <p:nvPr>
            <p:ph type="title"/>
          </p:nvPr>
        </p:nvSpPr>
        <p:spPr>
          <a:xfrm>
            <a:off x="-100483" y="1142549"/>
            <a:ext cx="8720937" cy="3467584"/>
          </a:xfrm>
        </p:spPr>
        <p:txBody>
          <a:bodyPr>
            <a:normAutofit/>
          </a:bodyPr>
          <a:lstStyle/>
          <a:p>
            <a:r>
              <a:rPr lang="en-US" sz="2400" dirty="0">
                <a:solidFill>
                  <a:schemeClr val="bg1">
                    <a:lumMod val="65000"/>
                  </a:schemeClr>
                </a:solidFill>
                <a:latin typeface="+mn-lt"/>
              </a:rPr>
              <a:t>❌</a:t>
            </a:r>
            <a:br>
              <a:rPr lang="en-US" sz="2400" dirty="0">
                <a:solidFill>
                  <a:schemeClr val="bg1">
                    <a:lumMod val="65000"/>
                  </a:schemeClr>
                </a:solidFill>
                <a:latin typeface="+mn-lt"/>
              </a:rPr>
            </a:br>
            <a:endParaRPr lang="en-US" sz="2800" dirty="0">
              <a:solidFill>
                <a:schemeClr val="bg1">
                  <a:lumMod val="65000"/>
                </a:schemeClr>
              </a:solidFill>
              <a:latin typeface="+mn-lt"/>
            </a:endParaRPr>
          </a:p>
        </p:txBody>
      </p:sp>
      <p:pic>
        <p:nvPicPr>
          <p:cNvPr id="5" name="Picture 4">
            <a:extLst>
              <a:ext uri="{FF2B5EF4-FFF2-40B4-BE49-F238E27FC236}">
                <a16:creationId xmlns:a16="http://schemas.microsoft.com/office/drawing/2014/main" id="{F1EEEA22-05ED-ADBC-1BC8-3F3622048F2A}"/>
              </a:ext>
            </a:extLst>
          </p:cNvPr>
          <p:cNvPicPr>
            <a:picLocks noChangeAspect="1"/>
          </p:cNvPicPr>
          <p:nvPr/>
        </p:nvPicPr>
        <p:blipFill>
          <a:blip r:embed="rId6"/>
          <a:stretch>
            <a:fillRect/>
          </a:stretch>
        </p:blipFill>
        <p:spPr>
          <a:xfrm>
            <a:off x="5657717" y="279936"/>
            <a:ext cx="6398564" cy="2743200"/>
          </a:xfrm>
          <a:prstGeom prst="rect">
            <a:avLst/>
          </a:prstGeom>
        </p:spPr>
      </p:pic>
      <p:sp>
        <p:nvSpPr>
          <p:cNvPr id="11" name="Title 1">
            <a:extLst>
              <a:ext uri="{FF2B5EF4-FFF2-40B4-BE49-F238E27FC236}">
                <a16:creationId xmlns:a16="http://schemas.microsoft.com/office/drawing/2014/main" id="{860BC049-6206-7793-702D-7D4357E3A248}"/>
              </a:ext>
            </a:extLst>
          </p:cNvPr>
          <p:cNvSpPr txBox="1">
            <a:spLocks/>
          </p:cNvSpPr>
          <p:nvPr/>
        </p:nvSpPr>
        <p:spPr>
          <a:xfrm>
            <a:off x="5550295" y="1217219"/>
            <a:ext cx="5701842" cy="346758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400" dirty="0">
                <a:solidFill>
                  <a:schemeClr val="bg1">
                    <a:lumMod val="65000"/>
                  </a:schemeClr>
                </a:solidFill>
                <a:latin typeface="+mn-lt"/>
              </a:rPr>
              <a:t>❌</a:t>
            </a:r>
            <a:br>
              <a:rPr lang="en-US" sz="2400" dirty="0">
                <a:solidFill>
                  <a:schemeClr val="bg1">
                    <a:lumMod val="65000"/>
                  </a:schemeClr>
                </a:solidFill>
                <a:latin typeface="+mn-lt"/>
              </a:rPr>
            </a:br>
            <a:br>
              <a:rPr lang="en-US" sz="2400" dirty="0">
                <a:solidFill>
                  <a:schemeClr val="bg1">
                    <a:lumMod val="65000"/>
                  </a:schemeClr>
                </a:solidFill>
                <a:latin typeface="+mn-lt"/>
              </a:rPr>
            </a:br>
            <a:endParaRPr lang="en-US" sz="2800" dirty="0">
              <a:solidFill>
                <a:schemeClr val="bg1">
                  <a:lumMod val="65000"/>
                </a:schemeClr>
              </a:solidFill>
              <a:latin typeface="+mn-lt"/>
            </a:endParaRPr>
          </a:p>
        </p:txBody>
      </p:sp>
    </p:spTree>
    <p:extLst>
      <p:ext uri="{BB962C8B-B14F-4D97-AF65-F5344CB8AC3E}">
        <p14:creationId xmlns:p14="http://schemas.microsoft.com/office/powerpoint/2010/main" val="112176021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0E0AF11-A4C9-45AA-A06E-24045DF01CE8}"/>
              </a:ext>
            </a:extLst>
          </p:cNvPr>
          <p:cNvSpPr/>
          <p:nvPr/>
        </p:nvSpPr>
        <p:spPr>
          <a:xfrm>
            <a:off x="-19458" y="-6059"/>
            <a:ext cx="12211458" cy="6864059"/>
          </a:xfrm>
          <a:prstGeom prst="rect">
            <a:avLst/>
          </a:prstGeom>
          <a:solidFill>
            <a:srgbClr val="0F69B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23961254-86DC-4239-85AC-F87EEB565B01}"/>
              </a:ext>
            </a:extLst>
          </p:cNvPr>
          <p:cNvSpPr>
            <a:spLocks noGrp="1"/>
          </p:cNvSpPr>
          <p:nvPr>
            <p:ph type="title"/>
          </p:nvPr>
        </p:nvSpPr>
        <p:spPr>
          <a:xfrm>
            <a:off x="-19458" y="1391478"/>
            <a:ext cx="12209669" cy="4343400"/>
          </a:xfrm>
        </p:spPr>
        <p:txBody>
          <a:bodyPr>
            <a:normAutofit/>
          </a:bodyPr>
          <a:lstStyle/>
          <a:p>
            <a:pPr algn="ctr"/>
            <a:r>
              <a:rPr lang="en-US" sz="6000" dirty="0">
                <a:solidFill>
                  <a:schemeClr val="bg1"/>
                </a:solidFill>
                <a:latin typeface="+mn-lt"/>
              </a:rPr>
              <a:t>“The more your tests resemble the way your software is used the more confidence they can give you.”</a:t>
            </a:r>
            <a:br>
              <a:rPr lang="en-US" sz="5200" dirty="0">
                <a:solidFill>
                  <a:schemeClr val="bg1"/>
                </a:solidFill>
                <a:latin typeface="+mn-lt"/>
              </a:rPr>
            </a:br>
            <a:br>
              <a:rPr lang="en-US" sz="5200" dirty="0">
                <a:solidFill>
                  <a:schemeClr val="bg1"/>
                </a:solidFill>
                <a:latin typeface="+mn-lt"/>
              </a:rPr>
            </a:br>
            <a:endParaRPr lang="en-US" sz="4000" dirty="0">
              <a:solidFill>
                <a:schemeClr val="bg1"/>
              </a:solidFill>
              <a:latin typeface="+mn-lt"/>
            </a:endParaRPr>
          </a:p>
        </p:txBody>
      </p:sp>
      <p:sp>
        <p:nvSpPr>
          <p:cNvPr id="6" name="Title 1">
            <a:extLst>
              <a:ext uri="{FF2B5EF4-FFF2-40B4-BE49-F238E27FC236}">
                <a16:creationId xmlns:a16="http://schemas.microsoft.com/office/drawing/2014/main" id="{45B3AC00-E78B-86A9-776B-19CF9B4BE935}"/>
              </a:ext>
            </a:extLst>
          </p:cNvPr>
          <p:cNvSpPr txBox="1">
            <a:spLocks/>
          </p:cNvSpPr>
          <p:nvPr/>
        </p:nvSpPr>
        <p:spPr>
          <a:xfrm>
            <a:off x="-135414" y="4757388"/>
            <a:ext cx="10065477" cy="195801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3600" dirty="0">
                <a:solidFill>
                  <a:schemeClr val="accent1">
                    <a:lumMod val="40000"/>
                    <a:lumOff val="60000"/>
                  </a:schemeClr>
                </a:solidFill>
                <a:latin typeface="+mn-lt"/>
              </a:rPr>
              <a:t>Kent C </a:t>
            </a:r>
            <a:r>
              <a:rPr lang="en-US" sz="3600" dirty="0" err="1">
                <a:solidFill>
                  <a:schemeClr val="accent1">
                    <a:lumMod val="40000"/>
                    <a:lumOff val="60000"/>
                  </a:schemeClr>
                </a:solidFill>
                <a:latin typeface="+mn-lt"/>
              </a:rPr>
              <a:t>Dodds</a:t>
            </a:r>
            <a:endParaRPr lang="en-US" sz="3600" dirty="0">
              <a:solidFill>
                <a:schemeClr val="accent1">
                  <a:lumMod val="40000"/>
                  <a:lumOff val="60000"/>
                </a:schemeClr>
              </a:solidFill>
              <a:latin typeface="+mn-lt"/>
            </a:endParaRPr>
          </a:p>
          <a:p>
            <a:pPr algn="r"/>
            <a:br>
              <a:rPr lang="en-US" sz="1600" dirty="0">
                <a:solidFill>
                  <a:schemeClr val="accent1">
                    <a:lumMod val="40000"/>
                    <a:lumOff val="60000"/>
                  </a:schemeClr>
                </a:solidFill>
                <a:latin typeface="+mn-lt"/>
              </a:rPr>
            </a:br>
            <a:r>
              <a:rPr lang="en-US" sz="1600" dirty="0">
                <a:solidFill>
                  <a:schemeClr val="accent1">
                    <a:lumMod val="40000"/>
                    <a:lumOff val="60000"/>
                  </a:schemeClr>
                </a:solidFill>
                <a:latin typeface="+mn-lt"/>
              </a:rPr>
              <a:t>react-testing-library creator</a:t>
            </a:r>
          </a:p>
        </p:txBody>
      </p:sp>
      <p:pic>
        <p:nvPicPr>
          <p:cNvPr id="1028" name="Picture 4">
            <a:extLst>
              <a:ext uri="{FF2B5EF4-FFF2-40B4-BE49-F238E27FC236}">
                <a16:creationId xmlns:a16="http://schemas.microsoft.com/office/drawing/2014/main" id="{0E92FAAB-144B-84D2-CA2D-22D4C092F2A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471074" y="4138863"/>
            <a:ext cx="2719137" cy="27191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61166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What should I NOT test?</a:t>
            </a:r>
          </a:p>
        </p:txBody>
      </p:sp>
      <p:sp>
        <p:nvSpPr>
          <p:cNvPr id="3" name="Content Placeholder 2"/>
          <p:cNvSpPr>
            <a:spLocks noGrp="1"/>
          </p:cNvSpPr>
          <p:nvPr>
            <p:ph idx="1"/>
          </p:nvPr>
        </p:nvSpPr>
        <p:spPr>
          <a:xfrm>
            <a:off x="838199" y="1825624"/>
            <a:ext cx="11263175" cy="5032376"/>
          </a:xfrm>
        </p:spPr>
        <p:txBody>
          <a:bodyPr>
            <a:normAutofit/>
          </a:bodyPr>
          <a:lstStyle/>
          <a:p>
            <a:r>
              <a:rPr lang="en-US" dirty="0"/>
              <a:t>You can’t test if your app looks good – so </a:t>
            </a:r>
            <a:r>
              <a:rPr lang="en-US"/>
              <a:t>don’t test CSS</a:t>
            </a:r>
            <a:endParaRPr lang="en-US" dirty="0"/>
          </a:p>
          <a:p>
            <a:r>
              <a:rPr lang="en-US" dirty="0"/>
              <a:t>Do NOT test implementation details</a:t>
            </a:r>
          </a:p>
          <a:p>
            <a:r>
              <a:rPr lang="en-US" dirty="0"/>
              <a:t>Avoid using </a:t>
            </a:r>
            <a:r>
              <a:rPr lang="en-US" dirty="0" err="1"/>
              <a:t>MarkupMatches</a:t>
            </a:r>
            <a:r>
              <a:rPr lang="en-US" dirty="0"/>
              <a:t> for applications</a:t>
            </a:r>
          </a:p>
          <a:p>
            <a:r>
              <a:rPr lang="en-US" dirty="0"/>
              <a:t>Too many implementation details (i.e. classes, DOM nodes, etc.)</a:t>
            </a:r>
          </a:p>
          <a:p>
            <a:r>
              <a:rPr lang="en-US" dirty="0"/>
              <a:t>Avoid using .Instance for applications</a:t>
            </a:r>
          </a:p>
          <a:p>
            <a:r>
              <a:rPr lang="en-US" dirty="0"/>
              <a:t>Too many implementation details (i.e. Property, Methods, etc.)</a:t>
            </a: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114592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subTnLst>
                                    <p:animClr clrSpc="rgb" dir="cw">
                                      <p:cBhvr override="childStyle">
                                        <p:cTn dur="1" fill="hold" display="0" masterRel="nextClick" afterEffect="1"/>
                                        <p:tgtEl>
                                          <p:spTgt spid="3">
                                            <p:txEl>
                                              <p:pRg st="0" end="0"/>
                                            </p:txEl>
                                          </p:spTgt>
                                        </p:tgtEl>
                                        <p:attrNameLst>
                                          <p:attrName>ppt_c</p:attrName>
                                        </p:attrNameLst>
                                      </p:cBhvr>
                                      <p:to>
                                        <a:srgbClr val="B2B2B2"/>
                                      </p:to>
                                    </p:animClr>
                                  </p:sub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subTnLst>
                                    <p:animClr clrSpc="rgb" dir="cw">
                                      <p:cBhvr override="childStyle">
                                        <p:cTn dur="1" fill="hold" display="0" masterRel="nextClick" afterEffect="1"/>
                                        <p:tgtEl>
                                          <p:spTgt spid="3">
                                            <p:txEl>
                                              <p:pRg st="1" end="1"/>
                                            </p:txEl>
                                          </p:spTgt>
                                        </p:tgtEl>
                                        <p:attrNameLst>
                                          <p:attrName>ppt_c</p:attrName>
                                        </p:attrNameLst>
                                      </p:cBhvr>
                                      <p:to>
                                        <a:srgbClr val="B2B2B2"/>
                                      </p:to>
                                    </p:animClr>
                                  </p:sub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subTnLst>
                                    <p:animClr clrSpc="rgb" dir="cw">
                                      <p:cBhvr override="childStyle">
                                        <p:cTn dur="1" fill="hold" display="0" masterRel="nextClick" afterEffect="1"/>
                                        <p:tgtEl>
                                          <p:spTgt spid="3">
                                            <p:txEl>
                                              <p:pRg st="2" end="2"/>
                                            </p:txEl>
                                          </p:spTgt>
                                        </p:tgtEl>
                                        <p:attrNameLst>
                                          <p:attrName>ppt_c</p:attrName>
                                        </p:attrNameLst>
                                      </p:cBhvr>
                                      <p:to>
                                        <a:srgbClr val="B2B2B2"/>
                                      </p:to>
                                    </p:animClr>
                                  </p:sub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subTnLst>
                                    <p:animClr clrSpc="rgb" dir="cw">
                                      <p:cBhvr override="childStyle">
                                        <p:cTn dur="1" fill="hold" display="0" masterRel="nextClick" afterEffect="1"/>
                                        <p:tgtEl>
                                          <p:spTgt spid="3">
                                            <p:txEl>
                                              <p:pRg st="3" end="3"/>
                                            </p:txEl>
                                          </p:spTgt>
                                        </p:tgtEl>
                                        <p:attrNameLst>
                                          <p:attrName>ppt_c</p:attrName>
                                        </p:attrNameLst>
                                      </p:cBhvr>
                                      <p:to>
                                        <a:srgbClr val="B2B2B2"/>
                                      </p:to>
                                    </p:animClr>
                                  </p:sub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subTnLst>
                                    <p:animClr clrSpc="rgb" dir="cw">
                                      <p:cBhvr override="childStyle">
                                        <p:cTn dur="1" fill="hold" display="0" masterRel="nextClick" afterEffect="1"/>
                                        <p:tgtEl>
                                          <p:spTgt spid="3">
                                            <p:txEl>
                                              <p:pRg st="4" end="4"/>
                                            </p:txEl>
                                          </p:spTgt>
                                        </p:tgtEl>
                                        <p:attrNameLst>
                                          <p:attrName>ppt_c</p:attrName>
                                        </p:attrNameLst>
                                      </p:cBhvr>
                                      <p:to>
                                        <a:srgbClr val="B2B2B2"/>
                                      </p:to>
                                    </p:animClr>
                                  </p:sub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subTnLst>
                                    <p:animClr clrSpc="rgb" dir="cw">
                                      <p:cBhvr override="childStyle">
                                        <p:cTn dur="1" fill="hold" display="0" masterRel="nextClick" afterEffect="1"/>
                                        <p:tgtEl>
                                          <p:spTgt spid="3">
                                            <p:txEl>
                                              <p:pRg st="5" end="5"/>
                                            </p:txEl>
                                          </p:spTgt>
                                        </p:tgtEl>
                                        <p:attrNameLst>
                                          <p:attrName>ppt_c</p:attrName>
                                        </p:attrNameLst>
                                      </p:cBhvr>
                                      <p:to>
                                        <a:srgbClr val="B2B2B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Avoid snapshot tests (like Verify)</a:t>
            </a:r>
          </a:p>
        </p:txBody>
      </p:sp>
      <p:sp>
        <p:nvSpPr>
          <p:cNvPr id="3" name="Content Placeholder 2"/>
          <p:cNvSpPr>
            <a:spLocks noGrp="1"/>
          </p:cNvSpPr>
          <p:nvPr>
            <p:ph idx="1"/>
          </p:nvPr>
        </p:nvSpPr>
        <p:spPr>
          <a:xfrm>
            <a:off x="838199" y="1825624"/>
            <a:ext cx="11263175" cy="5032376"/>
          </a:xfrm>
        </p:spPr>
        <p:txBody>
          <a:bodyPr>
            <a:normAutofit/>
          </a:bodyPr>
          <a:lstStyle/>
          <a:p>
            <a:r>
              <a:rPr lang="en-US" dirty="0"/>
              <a:t>Avoid using snapshots for your </a:t>
            </a:r>
            <a:r>
              <a:rPr lang="en-US" dirty="0" err="1"/>
              <a:t>Blazor</a:t>
            </a:r>
            <a:r>
              <a:rPr lang="en-US" dirty="0"/>
              <a:t> components… (mostly)</a:t>
            </a:r>
          </a:p>
          <a:p>
            <a:r>
              <a:rPr lang="en-US" dirty="0"/>
              <a:t>Snapshots don’t capture desired behavior</a:t>
            </a:r>
          </a:p>
          <a:p>
            <a:r>
              <a:rPr lang="en-US" dirty="0"/>
              <a:t>Too many implementation details (i.e. classes, DOM nodes, etc.)</a:t>
            </a:r>
          </a:p>
          <a:p>
            <a:r>
              <a:rPr lang="en-US" dirty="0"/>
              <a:t>Results in I see people start blindly accepting changes </a:t>
            </a:r>
          </a:p>
          <a:p>
            <a:r>
              <a:rPr lang="en-US" dirty="0"/>
              <a:t>Can’t TDD it because it relies on the final output</a:t>
            </a:r>
          </a:p>
          <a:p>
            <a:r>
              <a:rPr lang="en-US" dirty="0"/>
              <a:t>Only use snapshots when doing a total refactor but output should be the same</a:t>
            </a:r>
          </a:p>
          <a:p>
            <a:r>
              <a:rPr lang="en-US" dirty="0"/>
              <a:t>Then delete the test</a:t>
            </a: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6266130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subTnLst>
                                    <p:animClr clrSpc="rgb" dir="cw">
                                      <p:cBhvr override="childStyle">
                                        <p:cTn dur="1" fill="hold" display="0" masterRel="nextClick" afterEffect="1"/>
                                        <p:tgtEl>
                                          <p:spTgt spid="3">
                                            <p:txEl>
                                              <p:pRg st="0" end="0"/>
                                            </p:txEl>
                                          </p:spTgt>
                                        </p:tgtEl>
                                        <p:attrNameLst>
                                          <p:attrName>ppt_c</p:attrName>
                                        </p:attrNameLst>
                                      </p:cBhvr>
                                      <p:to>
                                        <a:srgbClr val="B2B2B2"/>
                                      </p:to>
                                    </p:animClr>
                                  </p:sub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subTnLst>
                                    <p:animClr clrSpc="rgb" dir="cw">
                                      <p:cBhvr override="childStyle">
                                        <p:cTn dur="1" fill="hold" display="0" masterRel="nextClick" afterEffect="1"/>
                                        <p:tgtEl>
                                          <p:spTgt spid="3">
                                            <p:txEl>
                                              <p:pRg st="1" end="1"/>
                                            </p:txEl>
                                          </p:spTgt>
                                        </p:tgtEl>
                                        <p:attrNameLst>
                                          <p:attrName>ppt_c</p:attrName>
                                        </p:attrNameLst>
                                      </p:cBhvr>
                                      <p:to>
                                        <a:srgbClr val="B2B2B2"/>
                                      </p:to>
                                    </p:animClr>
                                  </p:sub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subTnLst>
                                    <p:animClr clrSpc="rgb" dir="cw">
                                      <p:cBhvr override="childStyle">
                                        <p:cTn dur="1" fill="hold" display="0" masterRel="nextClick" afterEffect="1"/>
                                        <p:tgtEl>
                                          <p:spTgt spid="3">
                                            <p:txEl>
                                              <p:pRg st="2" end="2"/>
                                            </p:txEl>
                                          </p:spTgt>
                                        </p:tgtEl>
                                        <p:attrNameLst>
                                          <p:attrName>ppt_c</p:attrName>
                                        </p:attrNameLst>
                                      </p:cBhvr>
                                      <p:to>
                                        <a:srgbClr val="B2B2B2"/>
                                      </p:to>
                                    </p:animClr>
                                  </p:sub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subTnLst>
                                    <p:animClr clrSpc="rgb" dir="cw">
                                      <p:cBhvr override="childStyle">
                                        <p:cTn dur="1" fill="hold" display="0" masterRel="nextClick" afterEffect="1"/>
                                        <p:tgtEl>
                                          <p:spTgt spid="3">
                                            <p:txEl>
                                              <p:pRg st="3" end="3"/>
                                            </p:txEl>
                                          </p:spTgt>
                                        </p:tgtEl>
                                        <p:attrNameLst>
                                          <p:attrName>ppt_c</p:attrName>
                                        </p:attrNameLst>
                                      </p:cBhvr>
                                      <p:to>
                                        <a:srgbClr val="B2B2B2"/>
                                      </p:to>
                                    </p:animClr>
                                  </p:sub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subTnLst>
                                    <p:animClr clrSpc="rgb" dir="cw">
                                      <p:cBhvr override="childStyle">
                                        <p:cTn dur="1" fill="hold" display="0" masterRel="nextClick" afterEffect="1"/>
                                        <p:tgtEl>
                                          <p:spTgt spid="3">
                                            <p:txEl>
                                              <p:pRg st="4" end="4"/>
                                            </p:txEl>
                                          </p:spTgt>
                                        </p:tgtEl>
                                        <p:attrNameLst>
                                          <p:attrName>ppt_c</p:attrName>
                                        </p:attrNameLst>
                                      </p:cBhvr>
                                      <p:to>
                                        <a:srgbClr val="B2B2B2"/>
                                      </p:to>
                                    </p:animClr>
                                  </p:sub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subTnLst>
                                    <p:animClr clrSpc="rgb" dir="cw">
                                      <p:cBhvr override="childStyle">
                                        <p:cTn dur="1" fill="hold" display="0" masterRel="nextClick" afterEffect="1"/>
                                        <p:tgtEl>
                                          <p:spTgt spid="3">
                                            <p:txEl>
                                              <p:pRg st="5" end="5"/>
                                            </p:txEl>
                                          </p:spTgt>
                                        </p:tgtEl>
                                        <p:attrNameLst>
                                          <p:attrName>ppt_c</p:attrName>
                                        </p:attrNameLst>
                                      </p:cBhvr>
                                      <p:to>
                                        <a:srgbClr val="B2B2B2"/>
                                      </p:to>
                                    </p:animClr>
                                  </p:sub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subTnLst>
                                    <p:animClr clrSpc="rgb" dir="cw">
                                      <p:cBhvr override="childStyle">
                                        <p:cTn dur="1" fill="hold" display="0" masterRel="nextClick" afterEffect="1"/>
                                        <p:tgtEl>
                                          <p:spTgt spid="3">
                                            <p:txEl>
                                              <p:pRg st="6" end="6"/>
                                            </p:txEl>
                                          </p:spTgt>
                                        </p:tgtEl>
                                        <p:attrNameLst>
                                          <p:attrName>ppt_c</p:attrName>
                                        </p:attrNameLst>
                                      </p:cBhvr>
                                      <p:to>
                                        <a:srgbClr val="B2B2B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0E0AF11-A4C9-45AA-A06E-24045DF01CE8}"/>
              </a:ext>
            </a:extLst>
          </p:cNvPr>
          <p:cNvSpPr/>
          <p:nvPr/>
        </p:nvSpPr>
        <p:spPr>
          <a:xfrm>
            <a:off x="-19458" y="-6059"/>
            <a:ext cx="12211458" cy="6864059"/>
          </a:xfrm>
          <a:prstGeom prst="rect">
            <a:avLst/>
          </a:prstGeom>
          <a:solidFill>
            <a:srgbClr val="0F69B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23961254-86DC-4239-85AC-F87EEB565B01}"/>
              </a:ext>
            </a:extLst>
          </p:cNvPr>
          <p:cNvSpPr>
            <a:spLocks noGrp="1"/>
          </p:cNvSpPr>
          <p:nvPr>
            <p:ph type="title"/>
          </p:nvPr>
        </p:nvSpPr>
        <p:spPr>
          <a:xfrm>
            <a:off x="-19457" y="365125"/>
            <a:ext cx="8871627" cy="6027511"/>
          </a:xfrm>
        </p:spPr>
        <p:txBody>
          <a:bodyPr>
            <a:normAutofit/>
          </a:bodyPr>
          <a:lstStyle/>
          <a:p>
            <a:pPr algn="ctr"/>
            <a:r>
              <a:rPr lang="en-US" sz="10000" dirty="0">
                <a:solidFill>
                  <a:schemeClr val="bg1"/>
                </a:solidFill>
                <a:latin typeface="+mn-lt"/>
              </a:rPr>
              <a:t>Live Coding!</a:t>
            </a:r>
          </a:p>
        </p:txBody>
      </p:sp>
      <p:pic>
        <p:nvPicPr>
          <p:cNvPr id="3" name="Picture 2" descr="Bootstrap+Blazor essentials - DEV Community">
            <a:extLst>
              <a:ext uri="{FF2B5EF4-FFF2-40B4-BE49-F238E27FC236}">
                <a16:creationId xmlns:a16="http://schemas.microsoft.com/office/drawing/2014/main" id="{A22EF284-3473-628A-F45D-443967773296}"/>
              </a:ext>
            </a:extLst>
          </p:cNvPr>
          <p:cNvPicPr>
            <a:picLocks noChangeAspect="1" noChangeArrowheads="1"/>
          </p:cNvPicPr>
          <p:nvPr/>
        </p:nvPicPr>
        <p:blipFill>
          <a:blip r:embed="rId3">
            <a:clrChange>
              <a:clrFrom>
                <a:srgbClr val="6F43A4"/>
              </a:clrFrom>
              <a:clrTo>
                <a:srgbClr val="6F43A4">
                  <a:alpha val="0"/>
                </a:srgbClr>
              </a:clrTo>
            </a:clrChange>
            <a:extLst>
              <a:ext uri="{28A0092B-C50C-407E-A947-70E740481C1C}">
                <a14:useLocalDpi xmlns:a14="http://schemas.microsoft.com/office/drawing/2010/main" val="0"/>
              </a:ext>
            </a:extLst>
          </a:blip>
          <a:srcRect/>
          <a:stretch>
            <a:fillRect/>
          </a:stretch>
        </p:blipFill>
        <p:spPr bwMode="auto">
          <a:xfrm>
            <a:off x="9203862" y="4065593"/>
            <a:ext cx="2792407" cy="27924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284835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F69B6"/>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E7171-AFDD-4862-9A69-284665CD3345}"/>
              </a:ext>
            </a:extLst>
          </p:cNvPr>
          <p:cNvSpPr>
            <a:spLocks noGrp="1"/>
          </p:cNvSpPr>
          <p:nvPr>
            <p:ph type="ctrTitle"/>
          </p:nvPr>
        </p:nvSpPr>
        <p:spPr>
          <a:xfrm>
            <a:off x="0" y="0"/>
            <a:ext cx="12192000" cy="6858000"/>
          </a:xfrm>
        </p:spPr>
        <p:txBody>
          <a:bodyPr anchor="ctr">
            <a:normAutofit/>
          </a:bodyPr>
          <a:lstStyle/>
          <a:p>
            <a:r>
              <a:rPr lang="en-US" sz="9600" b="1" dirty="0">
                <a:solidFill>
                  <a:schemeClr val="bg1"/>
                </a:solidFill>
                <a:latin typeface="+mn-lt"/>
                <a:ea typeface="Open Sans" panose="020B0606030504020204" pitchFamily="34" charset="0"/>
                <a:cs typeface="Open Sans" panose="020B0606030504020204" pitchFamily="34" charset="0"/>
              </a:rPr>
              <a:t>Slight TDD Detour</a:t>
            </a:r>
          </a:p>
        </p:txBody>
      </p:sp>
    </p:spTree>
    <p:extLst>
      <p:ext uri="{BB962C8B-B14F-4D97-AF65-F5344CB8AC3E}">
        <p14:creationId xmlns:p14="http://schemas.microsoft.com/office/powerpoint/2010/main" val="362564241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F69B6"/>
        </a:solidFill>
        <a:effectLst/>
      </p:bgPr>
    </p:bg>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id="{2AC5399C-C18B-8ED5-EBB5-0C7409165845}"/>
              </a:ext>
            </a:extLst>
          </p:cNvPr>
          <p:cNvPicPr>
            <a:picLocks noChangeAspect="1" noChangeArrowheads="1"/>
          </p:cNvPicPr>
          <p:nvPr/>
        </p:nvPicPr>
        <p:blipFill>
          <a:blip r:embed="rId3">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9042502" y="3090833"/>
            <a:ext cx="3767167" cy="3767167"/>
          </a:xfrm>
          <a:prstGeom prst="rect">
            <a:avLst/>
          </a:prstGeom>
          <a:noFill/>
          <a:extLst>
            <a:ext uri="{909E8E84-426E-40DD-AFC4-6F175D3DCCD1}">
              <a14:hiddenFill xmlns:a14="http://schemas.microsoft.com/office/drawing/2010/main">
                <a:solidFill>
                  <a:srgbClr val="FFFFFF"/>
                </a:solidFill>
              </a14:hiddenFill>
            </a:ext>
          </a:extLst>
        </p:spPr>
      </p:pic>
      <p:sp>
        <p:nvSpPr>
          <p:cNvPr id="6" name="Title 1">
            <a:extLst>
              <a:ext uri="{FF2B5EF4-FFF2-40B4-BE49-F238E27FC236}">
                <a16:creationId xmlns:a16="http://schemas.microsoft.com/office/drawing/2014/main" id="{ACEB5D41-28A2-6A8B-02C8-131D45C6B954}"/>
              </a:ext>
            </a:extLst>
          </p:cNvPr>
          <p:cNvSpPr>
            <a:spLocks noGrp="1"/>
          </p:cNvSpPr>
          <p:nvPr>
            <p:ph type="ctrTitle"/>
          </p:nvPr>
        </p:nvSpPr>
        <p:spPr>
          <a:xfrm>
            <a:off x="192946" y="1346752"/>
            <a:ext cx="11568419" cy="5439941"/>
          </a:xfrm>
        </p:spPr>
        <p:txBody>
          <a:bodyPr>
            <a:no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4800" b="1" i="0" u="none" strike="noStrike" cap="none" normalizeH="0" baseline="0" dirty="0">
                <a:ln>
                  <a:noFill/>
                </a:ln>
                <a:solidFill>
                  <a:srgbClr val="FFFFFF"/>
                </a:solidFill>
                <a:effectLst/>
                <a:latin typeface="+mn-lt"/>
              </a:rPr>
              <a:t>“Remove everything that has no relevance to the story. If you say in the first chapter that there is a rifle hanging on the wall, in the second or third chapter it absolutely must go off. If it's not going to be fired, </a:t>
            </a:r>
            <a:br>
              <a:rPr kumimoji="0" lang="en-US" altLang="en-US" sz="4800" b="1" i="0" u="none" strike="noStrike" cap="none" normalizeH="0" baseline="0" dirty="0">
                <a:ln>
                  <a:noFill/>
                </a:ln>
                <a:solidFill>
                  <a:srgbClr val="FFFFFF"/>
                </a:solidFill>
                <a:effectLst/>
                <a:latin typeface="+mn-lt"/>
              </a:rPr>
            </a:br>
            <a:r>
              <a:rPr kumimoji="0" lang="en-US" altLang="en-US" sz="4800" b="1" i="0" u="none" strike="noStrike" cap="none" normalizeH="0" baseline="0" dirty="0">
                <a:ln>
                  <a:noFill/>
                </a:ln>
                <a:solidFill>
                  <a:srgbClr val="FFFFFF"/>
                </a:solidFill>
                <a:effectLst/>
                <a:latin typeface="+mn-lt"/>
              </a:rPr>
              <a:t>it shouldn't be hanging there.”</a:t>
            </a:r>
            <a:br>
              <a:rPr kumimoji="0" lang="en-US" altLang="en-US" sz="4800" b="1" i="0" u="none" strike="noStrike" cap="none" normalizeH="0" baseline="0" dirty="0">
                <a:ln>
                  <a:noFill/>
                </a:ln>
                <a:solidFill>
                  <a:srgbClr val="FFFFFF"/>
                </a:solidFill>
                <a:effectLst/>
                <a:latin typeface="+mn-lt"/>
              </a:rPr>
            </a:br>
            <a:br>
              <a:rPr kumimoji="0" lang="en-US" altLang="en-US" sz="4800" b="1" i="0" u="none" strike="noStrike" cap="none" normalizeH="0" baseline="0" dirty="0">
                <a:ln>
                  <a:noFill/>
                </a:ln>
                <a:solidFill>
                  <a:srgbClr val="FFFFFF"/>
                </a:solidFill>
                <a:effectLst/>
                <a:latin typeface="+mn-lt"/>
              </a:rPr>
            </a:br>
            <a:r>
              <a:rPr kumimoji="0" lang="en-US" altLang="en-US" sz="4800" b="1" i="0" u="none" strike="noStrike" cap="none" normalizeH="0" baseline="0" dirty="0">
                <a:ln>
                  <a:noFill/>
                </a:ln>
                <a:solidFill>
                  <a:srgbClr val="FFFFFF"/>
                </a:solidFill>
                <a:effectLst/>
                <a:latin typeface="+mn-lt"/>
              </a:rPr>
              <a:t>						</a:t>
            </a:r>
            <a:r>
              <a:rPr kumimoji="0" lang="en-US" altLang="en-US" sz="3600" b="1" i="0" u="none" strike="noStrike" cap="none" normalizeH="0" baseline="0" dirty="0">
                <a:ln>
                  <a:noFill/>
                </a:ln>
                <a:solidFill>
                  <a:srgbClr val="FFFFFF"/>
                </a:solidFill>
                <a:effectLst/>
                <a:latin typeface="+mn-lt"/>
              </a:rPr>
              <a:t>Anton Chekhov</a:t>
            </a:r>
          </a:p>
        </p:txBody>
      </p:sp>
    </p:spTree>
    <p:extLst>
      <p:ext uri="{BB962C8B-B14F-4D97-AF65-F5344CB8AC3E}">
        <p14:creationId xmlns:p14="http://schemas.microsoft.com/office/powerpoint/2010/main" val="20279561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Chekhov’s Gun Applied to Testing</a:t>
            </a:r>
          </a:p>
        </p:txBody>
      </p:sp>
      <p:pic>
        <p:nvPicPr>
          <p:cNvPr id="6" name="Picture 5">
            <a:extLst>
              <a:ext uri="{FF2B5EF4-FFF2-40B4-BE49-F238E27FC236}">
                <a16:creationId xmlns:a16="http://schemas.microsoft.com/office/drawing/2014/main" id="{934CAD4D-5CAA-7960-E810-A844A566C04B}"/>
              </a:ext>
            </a:extLst>
          </p:cNvPr>
          <p:cNvPicPr>
            <a:picLocks noChangeAspect="1"/>
          </p:cNvPicPr>
          <p:nvPr/>
        </p:nvPicPr>
        <p:blipFill>
          <a:blip r:embed="rId3"/>
          <a:stretch>
            <a:fillRect/>
          </a:stretch>
        </p:blipFill>
        <p:spPr>
          <a:xfrm>
            <a:off x="838200" y="1628017"/>
            <a:ext cx="9922865" cy="3958834"/>
          </a:xfrm>
          <a:prstGeom prst="rect">
            <a:avLst/>
          </a:prstGeom>
        </p:spPr>
      </p:pic>
      <p:grpSp>
        <p:nvGrpSpPr>
          <p:cNvPr id="7" name="Group 6">
            <a:extLst>
              <a:ext uri="{FF2B5EF4-FFF2-40B4-BE49-F238E27FC236}">
                <a16:creationId xmlns:a16="http://schemas.microsoft.com/office/drawing/2014/main" id="{72B0E343-A635-9CD5-971D-3E2603B71959}"/>
              </a:ext>
            </a:extLst>
          </p:cNvPr>
          <p:cNvGrpSpPr/>
          <p:nvPr/>
        </p:nvGrpSpPr>
        <p:grpSpPr>
          <a:xfrm>
            <a:off x="9970651" y="6185410"/>
            <a:ext cx="2130724" cy="474323"/>
            <a:chOff x="9970651" y="6185410"/>
            <a:chExt cx="2130724" cy="474323"/>
          </a:xfrm>
        </p:grpSpPr>
        <p:sp>
          <p:nvSpPr>
            <p:cNvPr id="8" name="Subtitle 2">
              <a:extLst>
                <a:ext uri="{FF2B5EF4-FFF2-40B4-BE49-F238E27FC236}">
                  <a16:creationId xmlns:a16="http://schemas.microsoft.com/office/drawing/2014/main" id="{A9F98D58-55FB-1ACB-4A6B-B6B72BA233E2}"/>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9" name="Rectangle 8">
              <a:extLst>
                <a:ext uri="{FF2B5EF4-FFF2-40B4-BE49-F238E27FC236}">
                  <a16:creationId xmlns:a16="http://schemas.microsoft.com/office/drawing/2014/main" id="{D0BCC9F9-5874-40C7-442E-8640C6DEC092}"/>
                </a:ext>
              </a:extLst>
            </p:cNvPr>
            <p:cNvSpPr/>
            <p:nvPr/>
          </p:nvSpPr>
          <p:spPr>
            <a:xfrm>
              <a:off x="9970651" y="6285411"/>
              <a:ext cx="347472" cy="274320"/>
            </a:xfrm>
            <a:prstGeom prst="rect">
              <a:avLst/>
            </a:prstGeom>
            <a:blipFill dpi="0" rotWithShape="1">
              <a:blip r:embed="rId4">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Rectangle 2">
            <a:extLst>
              <a:ext uri="{FF2B5EF4-FFF2-40B4-BE49-F238E27FC236}">
                <a16:creationId xmlns:a16="http://schemas.microsoft.com/office/drawing/2014/main" id="{B44CAB4F-2FC2-9B45-C397-D8D7B19EB025}"/>
              </a:ext>
            </a:extLst>
          </p:cNvPr>
          <p:cNvSpPr/>
          <p:nvPr/>
        </p:nvSpPr>
        <p:spPr>
          <a:xfrm>
            <a:off x="1518687" y="3170583"/>
            <a:ext cx="1686683" cy="273327"/>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304446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heel(1)">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Chekhov’s Gun Applied to Testing</a:t>
            </a:r>
          </a:p>
        </p:txBody>
      </p:sp>
      <p:pic>
        <p:nvPicPr>
          <p:cNvPr id="3" name="Picture 2">
            <a:extLst>
              <a:ext uri="{FF2B5EF4-FFF2-40B4-BE49-F238E27FC236}">
                <a16:creationId xmlns:a16="http://schemas.microsoft.com/office/drawing/2014/main" id="{D8EFA6CD-6F12-A3AC-F9A6-A4C2854DAAAF}"/>
              </a:ext>
            </a:extLst>
          </p:cNvPr>
          <p:cNvPicPr>
            <a:picLocks noChangeAspect="1"/>
          </p:cNvPicPr>
          <p:nvPr/>
        </p:nvPicPr>
        <p:blipFill>
          <a:blip r:embed="rId3"/>
          <a:stretch>
            <a:fillRect/>
          </a:stretch>
        </p:blipFill>
        <p:spPr>
          <a:xfrm>
            <a:off x="838200" y="1623576"/>
            <a:ext cx="10759903" cy="3074259"/>
          </a:xfrm>
          <a:prstGeom prst="rect">
            <a:avLst/>
          </a:prstGeom>
        </p:spPr>
      </p:pic>
      <p:grpSp>
        <p:nvGrpSpPr>
          <p:cNvPr id="4" name="Group 3">
            <a:extLst>
              <a:ext uri="{FF2B5EF4-FFF2-40B4-BE49-F238E27FC236}">
                <a16:creationId xmlns:a16="http://schemas.microsoft.com/office/drawing/2014/main" id="{A1488E22-0CBC-98F8-82DC-D738CEB3FC6D}"/>
              </a:ext>
            </a:extLst>
          </p:cNvPr>
          <p:cNvGrpSpPr/>
          <p:nvPr/>
        </p:nvGrpSpPr>
        <p:grpSpPr>
          <a:xfrm>
            <a:off x="9970651" y="6185410"/>
            <a:ext cx="2130724" cy="474323"/>
            <a:chOff x="9970651" y="6185410"/>
            <a:chExt cx="2130724" cy="474323"/>
          </a:xfrm>
        </p:grpSpPr>
        <p:sp>
          <p:nvSpPr>
            <p:cNvPr id="5" name="Subtitle 2">
              <a:extLst>
                <a:ext uri="{FF2B5EF4-FFF2-40B4-BE49-F238E27FC236}">
                  <a16:creationId xmlns:a16="http://schemas.microsoft.com/office/drawing/2014/main" id="{5BB54C27-43DB-4533-302C-F5902CA3109B}"/>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7" name="Rectangle 6">
              <a:extLst>
                <a:ext uri="{FF2B5EF4-FFF2-40B4-BE49-F238E27FC236}">
                  <a16:creationId xmlns:a16="http://schemas.microsoft.com/office/drawing/2014/main" id="{5F6BD471-A3E3-D199-B949-D5B017809992}"/>
                </a:ext>
              </a:extLst>
            </p:cNvPr>
            <p:cNvSpPr/>
            <p:nvPr/>
          </p:nvSpPr>
          <p:spPr>
            <a:xfrm>
              <a:off x="9970651" y="6285411"/>
              <a:ext cx="347472" cy="274320"/>
            </a:xfrm>
            <a:prstGeom prst="rect">
              <a:avLst/>
            </a:prstGeom>
            <a:blipFill dpi="0" rotWithShape="1">
              <a:blip r:embed="rId4">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 name="Rectangle 5">
            <a:extLst>
              <a:ext uri="{FF2B5EF4-FFF2-40B4-BE49-F238E27FC236}">
                <a16:creationId xmlns:a16="http://schemas.microsoft.com/office/drawing/2014/main" id="{94B2DC20-C933-590E-DDCA-B44BDD809D97}"/>
              </a:ext>
            </a:extLst>
          </p:cNvPr>
          <p:cNvSpPr/>
          <p:nvPr/>
        </p:nvSpPr>
        <p:spPr>
          <a:xfrm>
            <a:off x="1205605" y="2499128"/>
            <a:ext cx="4091952" cy="567094"/>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283659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heel(1)">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Chekhov’s Gun Applied to Testing</a:t>
            </a:r>
          </a:p>
        </p:txBody>
      </p:sp>
      <p:pic>
        <p:nvPicPr>
          <p:cNvPr id="4" name="Picture 3">
            <a:extLst>
              <a:ext uri="{FF2B5EF4-FFF2-40B4-BE49-F238E27FC236}">
                <a16:creationId xmlns:a16="http://schemas.microsoft.com/office/drawing/2014/main" id="{B83DB506-8488-902E-A355-AEE34B3001B1}"/>
              </a:ext>
            </a:extLst>
          </p:cNvPr>
          <p:cNvPicPr>
            <a:picLocks noChangeAspect="1"/>
          </p:cNvPicPr>
          <p:nvPr/>
        </p:nvPicPr>
        <p:blipFill>
          <a:blip r:embed="rId3"/>
          <a:stretch>
            <a:fillRect/>
          </a:stretch>
        </p:blipFill>
        <p:spPr>
          <a:xfrm>
            <a:off x="838200" y="1611237"/>
            <a:ext cx="11023432" cy="2751038"/>
          </a:xfrm>
          <a:prstGeom prst="rect">
            <a:avLst/>
          </a:prstGeom>
        </p:spPr>
      </p:pic>
      <p:grpSp>
        <p:nvGrpSpPr>
          <p:cNvPr id="5" name="Group 4">
            <a:extLst>
              <a:ext uri="{FF2B5EF4-FFF2-40B4-BE49-F238E27FC236}">
                <a16:creationId xmlns:a16="http://schemas.microsoft.com/office/drawing/2014/main" id="{BFA6246E-5D7B-6A3C-B02B-EAF2D15899C1}"/>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7277FBCD-4B61-1AF6-B039-7F24F9957C44}"/>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7" name="Rectangle 6">
              <a:extLst>
                <a:ext uri="{FF2B5EF4-FFF2-40B4-BE49-F238E27FC236}">
                  <a16:creationId xmlns:a16="http://schemas.microsoft.com/office/drawing/2014/main" id="{11521F5F-8E3C-F603-D1F9-C136B2D38A17}"/>
                </a:ext>
              </a:extLst>
            </p:cNvPr>
            <p:cNvSpPr/>
            <p:nvPr/>
          </p:nvSpPr>
          <p:spPr>
            <a:xfrm>
              <a:off x="9970651" y="6285411"/>
              <a:ext cx="347472" cy="274320"/>
            </a:xfrm>
            <a:prstGeom prst="rect">
              <a:avLst/>
            </a:prstGeom>
            <a:blipFill dpi="0" rotWithShape="1">
              <a:blip r:embed="rId4">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Rectangle 2">
            <a:extLst>
              <a:ext uri="{FF2B5EF4-FFF2-40B4-BE49-F238E27FC236}">
                <a16:creationId xmlns:a16="http://schemas.microsoft.com/office/drawing/2014/main" id="{1EF68BA8-D627-7710-8750-BBBDA74540F9}"/>
              </a:ext>
            </a:extLst>
          </p:cNvPr>
          <p:cNvSpPr/>
          <p:nvPr/>
        </p:nvSpPr>
        <p:spPr>
          <a:xfrm>
            <a:off x="1205605" y="2499128"/>
            <a:ext cx="2807899" cy="282400"/>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944984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heel(1)">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Chekhov’s Gun Applied to Testing</a:t>
            </a:r>
          </a:p>
        </p:txBody>
      </p:sp>
      <p:pic>
        <p:nvPicPr>
          <p:cNvPr id="3" name="Picture 2">
            <a:extLst>
              <a:ext uri="{FF2B5EF4-FFF2-40B4-BE49-F238E27FC236}">
                <a16:creationId xmlns:a16="http://schemas.microsoft.com/office/drawing/2014/main" id="{86A79F40-B059-86EA-AABF-E72A68709CC1}"/>
              </a:ext>
            </a:extLst>
          </p:cNvPr>
          <p:cNvPicPr>
            <a:picLocks noChangeAspect="1"/>
          </p:cNvPicPr>
          <p:nvPr/>
        </p:nvPicPr>
        <p:blipFill>
          <a:blip r:embed="rId3"/>
          <a:stretch>
            <a:fillRect/>
          </a:stretch>
        </p:blipFill>
        <p:spPr>
          <a:xfrm>
            <a:off x="838200" y="1601665"/>
            <a:ext cx="11001743" cy="2801370"/>
          </a:xfrm>
          <a:prstGeom prst="rect">
            <a:avLst/>
          </a:prstGeom>
        </p:spPr>
      </p:pic>
      <p:grpSp>
        <p:nvGrpSpPr>
          <p:cNvPr id="6" name="Group 5">
            <a:extLst>
              <a:ext uri="{FF2B5EF4-FFF2-40B4-BE49-F238E27FC236}">
                <a16:creationId xmlns:a16="http://schemas.microsoft.com/office/drawing/2014/main" id="{F60C324A-0336-8155-AE49-0623B8858F76}"/>
              </a:ext>
            </a:extLst>
          </p:cNvPr>
          <p:cNvGrpSpPr/>
          <p:nvPr/>
        </p:nvGrpSpPr>
        <p:grpSpPr>
          <a:xfrm>
            <a:off x="9970651" y="6185410"/>
            <a:ext cx="2130724" cy="474323"/>
            <a:chOff x="9970651" y="6185410"/>
            <a:chExt cx="2130724" cy="474323"/>
          </a:xfrm>
        </p:grpSpPr>
        <p:sp>
          <p:nvSpPr>
            <p:cNvPr id="7" name="Subtitle 2">
              <a:extLst>
                <a:ext uri="{FF2B5EF4-FFF2-40B4-BE49-F238E27FC236}">
                  <a16:creationId xmlns:a16="http://schemas.microsoft.com/office/drawing/2014/main" id="{EC185816-8FF9-2116-E8E3-E5D035D36201}"/>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46D100CB-5CA3-7983-8B34-78566599AF24}"/>
                </a:ext>
              </a:extLst>
            </p:cNvPr>
            <p:cNvSpPr/>
            <p:nvPr/>
          </p:nvSpPr>
          <p:spPr>
            <a:xfrm>
              <a:off x="9970651" y="6285411"/>
              <a:ext cx="347472" cy="274320"/>
            </a:xfrm>
            <a:prstGeom prst="rect">
              <a:avLst/>
            </a:prstGeom>
            <a:blipFill dpi="0" rotWithShape="1">
              <a:blip r:embed="rId4">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Rectangle 3">
            <a:extLst>
              <a:ext uri="{FF2B5EF4-FFF2-40B4-BE49-F238E27FC236}">
                <a16:creationId xmlns:a16="http://schemas.microsoft.com/office/drawing/2014/main" id="{06F4DDA4-B4B2-B48B-6B3F-EC874C693E5B}"/>
              </a:ext>
            </a:extLst>
          </p:cNvPr>
          <p:cNvSpPr/>
          <p:nvPr/>
        </p:nvSpPr>
        <p:spPr>
          <a:xfrm>
            <a:off x="2607320" y="3063099"/>
            <a:ext cx="2035861" cy="326204"/>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120495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heel(1)">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Chekhov’s Gun Applied to Testing</a:t>
            </a:r>
          </a:p>
        </p:txBody>
      </p:sp>
      <p:pic>
        <p:nvPicPr>
          <p:cNvPr id="4" name="Picture 3">
            <a:extLst>
              <a:ext uri="{FF2B5EF4-FFF2-40B4-BE49-F238E27FC236}">
                <a16:creationId xmlns:a16="http://schemas.microsoft.com/office/drawing/2014/main" id="{BCFE5EDB-AF6C-8CF9-D389-D8EFA2212DBB}"/>
              </a:ext>
            </a:extLst>
          </p:cNvPr>
          <p:cNvPicPr>
            <a:picLocks noChangeAspect="1"/>
          </p:cNvPicPr>
          <p:nvPr/>
        </p:nvPicPr>
        <p:blipFill>
          <a:blip r:embed="rId3"/>
          <a:stretch>
            <a:fillRect/>
          </a:stretch>
        </p:blipFill>
        <p:spPr>
          <a:xfrm>
            <a:off x="838200" y="4278911"/>
            <a:ext cx="8719550" cy="2220256"/>
          </a:xfrm>
          <a:prstGeom prst="rect">
            <a:avLst/>
          </a:prstGeom>
        </p:spPr>
      </p:pic>
      <p:pic>
        <p:nvPicPr>
          <p:cNvPr id="5" name="Picture 4">
            <a:extLst>
              <a:ext uri="{FF2B5EF4-FFF2-40B4-BE49-F238E27FC236}">
                <a16:creationId xmlns:a16="http://schemas.microsoft.com/office/drawing/2014/main" id="{43B5AAC5-8D84-FFB0-AEE5-C90404C91709}"/>
              </a:ext>
            </a:extLst>
          </p:cNvPr>
          <p:cNvPicPr>
            <a:picLocks noChangeAspect="1"/>
          </p:cNvPicPr>
          <p:nvPr/>
        </p:nvPicPr>
        <p:blipFill>
          <a:blip r:embed="rId4"/>
          <a:stretch>
            <a:fillRect/>
          </a:stretch>
        </p:blipFill>
        <p:spPr>
          <a:xfrm>
            <a:off x="838200" y="1543480"/>
            <a:ext cx="6696017" cy="2671448"/>
          </a:xfrm>
          <a:prstGeom prst="rect">
            <a:avLst/>
          </a:prstGeom>
        </p:spPr>
      </p:pic>
      <p:grpSp>
        <p:nvGrpSpPr>
          <p:cNvPr id="9" name="Group 8">
            <a:extLst>
              <a:ext uri="{FF2B5EF4-FFF2-40B4-BE49-F238E27FC236}">
                <a16:creationId xmlns:a16="http://schemas.microsoft.com/office/drawing/2014/main" id="{5471CB04-EAAE-70B9-C4B5-D1B509942CD3}"/>
              </a:ext>
            </a:extLst>
          </p:cNvPr>
          <p:cNvGrpSpPr/>
          <p:nvPr/>
        </p:nvGrpSpPr>
        <p:grpSpPr>
          <a:xfrm>
            <a:off x="9970651" y="6185410"/>
            <a:ext cx="2130724" cy="474323"/>
            <a:chOff x="9970651" y="6185410"/>
            <a:chExt cx="2130724" cy="474323"/>
          </a:xfrm>
        </p:grpSpPr>
        <p:sp>
          <p:nvSpPr>
            <p:cNvPr id="10" name="Subtitle 2">
              <a:extLst>
                <a:ext uri="{FF2B5EF4-FFF2-40B4-BE49-F238E27FC236}">
                  <a16:creationId xmlns:a16="http://schemas.microsoft.com/office/drawing/2014/main" id="{47D04CDB-D5EF-9A88-3773-158096EDF173}"/>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11" name="Rectangle 10">
              <a:extLst>
                <a:ext uri="{FF2B5EF4-FFF2-40B4-BE49-F238E27FC236}">
                  <a16:creationId xmlns:a16="http://schemas.microsoft.com/office/drawing/2014/main" id="{68952D55-F743-8C72-6FAD-ED97609A0227}"/>
                </a:ext>
              </a:extLst>
            </p:cNvPr>
            <p:cNvSpPr/>
            <p:nvPr/>
          </p:nvSpPr>
          <p:spPr>
            <a:xfrm>
              <a:off x="9970651" y="6285411"/>
              <a:ext cx="347472" cy="274320"/>
            </a:xfrm>
            <a:prstGeom prst="rect">
              <a:avLst/>
            </a:prstGeom>
            <a:blipFill dpi="0" rotWithShape="1">
              <a:blip r:embed="rId5">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7830919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F69B6"/>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E7171-AFDD-4862-9A69-284665CD3345}"/>
              </a:ext>
            </a:extLst>
          </p:cNvPr>
          <p:cNvSpPr>
            <a:spLocks noGrp="1"/>
          </p:cNvSpPr>
          <p:nvPr>
            <p:ph type="ctrTitle"/>
          </p:nvPr>
        </p:nvSpPr>
        <p:spPr>
          <a:xfrm>
            <a:off x="0" y="0"/>
            <a:ext cx="12192000" cy="6858000"/>
          </a:xfrm>
        </p:spPr>
        <p:txBody>
          <a:bodyPr anchor="ctr">
            <a:normAutofit/>
          </a:bodyPr>
          <a:lstStyle/>
          <a:p>
            <a:r>
              <a:rPr lang="en-US" sz="9600" b="1" dirty="0">
                <a:solidFill>
                  <a:schemeClr val="bg1"/>
                </a:solidFill>
                <a:latin typeface="+mn-lt"/>
                <a:ea typeface="Open Sans" panose="020B0606030504020204" pitchFamily="34" charset="0"/>
                <a:cs typeface="Open Sans" panose="020B0606030504020204" pitchFamily="34" charset="0"/>
              </a:rPr>
              <a:t>&lt;/ </a:t>
            </a:r>
            <a:r>
              <a:rPr lang="en-US" sz="9600" b="1" dirty="0" err="1">
                <a:solidFill>
                  <a:schemeClr val="bg1"/>
                </a:solidFill>
                <a:latin typeface="+mn-lt"/>
                <a:ea typeface="Open Sans" panose="020B0606030504020204" pitchFamily="34" charset="0"/>
                <a:cs typeface="Open Sans" panose="020B0606030504020204" pitchFamily="34" charset="0"/>
              </a:rPr>
              <a:t>ChekhovsGun</a:t>
            </a:r>
            <a:r>
              <a:rPr lang="en-US" sz="9600" b="1" dirty="0">
                <a:solidFill>
                  <a:schemeClr val="bg1"/>
                </a:solidFill>
                <a:latin typeface="+mn-lt"/>
                <a:ea typeface="Open Sans" panose="020B0606030504020204" pitchFamily="34" charset="0"/>
                <a:cs typeface="Open Sans" panose="020B0606030504020204" pitchFamily="34" charset="0"/>
              </a:rPr>
              <a:t>&gt;</a:t>
            </a:r>
          </a:p>
        </p:txBody>
      </p:sp>
    </p:spTree>
    <p:extLst>
      <p:ext uri="{BB962C8B-B14F-4D97-AF65-F5344CB8AC3E}">
        <p14:creationId xmlns:p14="http://schemas.microsoft.com/office/powerpoint/2010/main" val="84195182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solidFill>
                  <a:schemeClr val="bg1">
                    <a:lumMod val="65000"/>
                  </a:schemeClr>
                </a:solidFill>
              </a:rPr>
              <a:t>bunit.web.query</a:t>
            </a:r>
            <a:endParaRPr lang="en-US" dirty="0">
              <a:solidFill>
                <a:schemeClr val="bg1">
                  <a:lumMod val="65000"/>
                </a:schemeClr>
              </a:solidFill>
            </a:endParaRPr>
          </a:p>
        </p:txBody>
      </p:sp>
      <p:sp>
        <p:nvSpPr>
          <p:cNvPr id="3" name="Content Placeholder 2"/>
          <p:cNvSpPr>
            <a:spLocks noGrp="1"/>
          </p:cNvSpPr>
          <p:nvPr>
            <p:ph idx="1"/>
          </p:nvPr>
        </p:nvSpPr>
        <p:spPr>
          <a:xfrm>
            <a:off x="838199" y="1825624"/>
            <a:ext cx="11263175" cy="4779637"/>
          </a:xfrm>
        </p:spPr>
        <p:txBody>
          <a:bodyPr>
            <a:normAutofit/>
          </a:bodyPr>
          <a:lstStyle/>
          <a:p>
            <a:r>
              <a:rPr lang="en-US" dirty="0"/>
              <a:t>More ways to query the DOM that are less implementation specific</a:t>
            </a:r>
          </a:p>
          <a:p>
            <a:r>
              <a:rPr lang="en-US" dirty="0"/>
              <a:t>React Testing Library style</a:t>
            </a:r>
          </a:p>
          <a:p>
            <a:r>
              <a:rPr lang="en-US" dirty="0"/>
              <a:t>Queries promote A11y</a:t>
            </a:r>
          </a:p>
          <a:p>
            <a:r>
              <a:rPr lang="en-US" dirty="0"/>
              <a:t>More coming</a:t>
            </a: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9759945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subTnLst>
                                    <p:animClr clrSpc="rgb" dir="cw">
                                      <p:cBhvr override="childStyle">
                                        <p:cTn dur="1" fill="hold" display="0" masterRel="nextClick" afterEffect="1"/>
                                        <p:tgtEl>
                                          <p:spTgt spid="3">
                                            <p:txEl>
                                              <p:pRg st="0" end="0"/>
                                            </p:txEl>
                                          </p:spTgt>
                                        </p:tgtEl>
                                        <p:attrNameLst>
                                          <p:attrName>ppt_c</p:attrName>
                                        </p:attrNameLst>
                                      </p:cBhvr>
                                      <p:to>
                                        <a:srgbClr val="B2B2B2"/>
                                      </p:to>
                                    </p:animClr>
                                  </p:sub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subTnLst>
                                    <p:animClr clrSpc="rgb" dir="cw">
                                      <p:cBhvr override="childStyle">
                                        <p:cTn dur="1" fill="hold" display="0" masterRel="nextClick" afterEffect="1"/>
                                        <p:tgtEl>
                                          <p:spTgt spid="3">
                                            <p:txEl>
                                              <p:pRg st="1" end="1"/>
                                            </p:txEl>
                                          </p:spTgt>
                                        </p:tgtEl>
                                        <p:attrNameLst>
                                          <p:attrName>ppt_c</p:attrName>
                                        </p:attrNameLst>
                                      </p:cBhvr>
                                      <p:to>
                                        <a:srgbClr val="B2B2B2"/>
                                      </p:to>
                                    </p:animClr>
                                  </p:sub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subTnLst>
                                    <p:animClr clrSpc="rgb" dir="cw">
                                      <p:cBhvr override="childStyle">
                                        <p:cTn dur="1" fill="hold" display="0" masterRel="nextClick" afterEffect="1"/>
                                        <p:tgtEl>
                                          <p:spTgt spid="3">
                                            <p:txEl>
                                              <p:pRg st="2" end="2"/>
                                            </p:txEl>
                                          </p:spTgt>
                                        </p:tgtEl>
                                        <p:attrNameLst>
                                          <p:attrName>ppt_c</p:attrName>
                                        </p:attrNameLst>
                                      </p:cBhvr>
                                      <p:to>
                                        <a:srgbClr val="B2B2B2"/>
                                      </p:to>
                                    </p:animClr>
                                  </p:sub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subTnLst>
                                    <p:animClr clrSpc="rgb" dir="cw">
                                      <p:cBhvr override="childStyle">
                                        <p:cTn dur="1" fill="hold" display="0" masterRel="nextClick" afterEffect="1"/>
                                        <p:tgtEl>
                                          <p:spTgt spid="3">
                                            <p:txEl>
                                              <p:pRg st="3" end="3"/>
                                            </p:txEl>
                                          </p:spTgt>
                                        </p:tgtEl>
                                        <p:attrNameLst>
                                          <p:attrName>ppt_c</p:attrName>
                                        </p:attrNameLst>
                                      </p:cBhvr>
                                      <p:to>
                                        <a:srgbClr val="B2B2B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0E0AF11-A4C9-45AA-A06E-24045DF01CE8}"/>
              </a:ext>
            </a:extLst>
          </p:cNvPr>
          <p:cNvSpPr/>
          <p:nvPr/>
        </p:nvSpPr>
        <p:spPr>
          <a:xfrm>
            <a:off x="-19458" y="-6059"/>
            <a:ext cx="12211458" cy="6864059"/>
          </a:xfrm>
          <a:prstGeom prst="rect">
            <a:avLst/>
          </a:prstGeom>
          <a:solidFill>
            <a:srgbClr val="0F69B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23961254-86DC-4239-85AC-F87EEB565B01}"/>
              </a:ext>
            </a:extLst>
          </p:cNvPr>
          <p:cNvSpPr>
            <a:spLocks noGrp="1"/>
          </p:cNvSpPr>
          <p:nvPr>
            <p:ph type="title"/>
          </p:nvPr>
        </p:nvSpPr>
        <p:spPr>
          <a:xfrm>
            <a:off x="-19457" y="365125"/>
            <a:ext cx="8871627" cy="6027511"/>
          </a:xfrm>
        </p:spPr>
        <p:txBody>
          <a:bodyPr>
            <a:normAutofit/>
          </a:bodyPr>
          <a:lstStyle/>
          <a:p>
            <a:pPr algn="ctr"/>
            <a:r>
              <a:rPr lang="en-US" sz="10000" dirty="0">
                <a:solidFill>
                  <a:schemeClr val="bg1"/>
                </a:solidFill>
                <a:latin typeface="+mn-lt"/>
              </a:rPr>
              <a:t>Live Coding!</a:t>
            </a:r>
          </a:p>
        </p:txBody>
      </p:sp>
      <p:pic>
        <p:nvPicPr>
          <p:cNvPr id="3" name="Picture 2" descr="Bootstrap+Blazor essentials - DEV Community">
            <a:extLst>
              <a:ext uri="{FF2B5EF4-FFF2-40B4-BE49-F238E27FC236}">
                <a16:creationId xmlns:a16="http://schemas.microsoft.com/office/drawing/2014/main" id="{A22EF284-3473-628A-F45D-443967773296}"/>
              </a:ext>
            </a:extLst>
          </p:cNvPr>
          <p:cNvPicPr>
            <a:picLocks noChangeAspect="1" noChangeArrowheads="1"/>
          </p:cNvPicPr>
          <p:nvPr/>
        </p:nvPicPr>
        <p:blipFill>
          <a:blip r:embed="rId3">
            <a:clrChange>
              <a:clrFrom>
                <a:srgbClr val="6F43A4"/>
              </a:clrFrom>
              <a:clrTo>
                <a:srgbClr val="6F43A4">
                  <a:alpha val="0"/>
                </a:srgbClr>
              </a:clrTo>
            </a:clrChange>
            <a:extLst>
              <a:ext uri="{28A0092B-C50C-407E-A947-70E740481C1C}">
                <a14:useLocalDpi xmlns:a14="http://schemas.microsoft.com/office/drawing/2010/main" val="0"/>
              </a:ext>
            </a:extLst>
          </a:blip>
          <a:srcRect/>
          <a:stretch>
            <a:fillRect/>
          </a:stretch>
        </p:blipFill>
        <p:spPr bwMode="auto">
          <a:xfrm>
            <a:off x="9203862" y="4065593"/>
            <a:ext cx="2792407" cy="27924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5650629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F80DC-2FBD-A527-9736-1B318E166B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D9C850-F6F2-FA50-8228-C0F98C127AA5}"/>
              </a:ext>
            </a:extLst>
          </p:cNvPr>
          <p:cNvSpPr>
            <a:spLocks noGrp="1"/>
          </p:cNvSpPr>
          <p:nvPr>
            <p:ph type="title"/>
          </p:nvPr>
        </p:nvSpPr>
        <p:spPr/>
        <p:txBody>
          <a:bodyPr/>
          <a:lstStyle/>
          <a:p>
            <a:r>
              <a:rPr lang="en-US" dirty="0">
                <a:solidFill>
                  <a:schemeClr val="bg1">
                    <a:lumMod val="65000"/>
                  </a:schemeClr>
                </a:solidFill>
              </a:rPr>
              <a:t>But what about AI?</a:t>
            </a:r>
          </a:p>
        </p:txBody>
      </p:sp>
      <p:sp>
        <p:nvSpPr>
          <p:cNvPr id="3" name="Content Placeholder 2">
            <a:extLst>
              <a:ext uri="{FF2B5EF4-FFF2-40B4-BE49-F238E27FC236}">
                <a16:creationId xmlns:a16="http://schemas.microsoft.com/office/drawing/2014/main" id="{E6079305-4737-628E-E8FB-961505C604D1}"/>
              </a:ext>
            </a:extLst>
          </p:cNvPr>
          <p:cNvSpPr>
            <a:spLocks noGrp="1"/>
          </p:cNvSpPr>
          <p:nvPr>
            <p:ph idx="1"/>
          </p:nvPr>
        </p:nvSpPr>
        <p:spPr>
          <a:xfrm>
            <a:off x="838199" y="1825624"/>
            <a:ext cx="11263175" cy="4779637"/>
          </a:xfrm>
        </p:spPr>
        <p:txBody>
          <a:bodyPr>
            <a:normAutofit/>
          </a:bodyPr>
          <a:lstStyle/>
          <a:p>
            <a:r>
              <a:rPr lang="en-US" dirty="0"/>
              <a:t>TDD still relevant</a:t>
            </a:r>
          </a:p>
          <a:p>
            <a:r>
              <a:rPr lang="en-US" dirty="0"/>
              <a:t>TDD keeps AI on the rails, keeps them focused – just like a human</a:t>
            </a:r>
          </a:p>
          <a:p>
            <a:r>
              <a:rPr lang="en-US" dirty="0"/>
              <a:t>Tests are executable intent</a:t>
            </a:r>
          </a:p>
          <a:p>
            <a:r>
              <a:rPr lang="en-US" dirty="0"/>
              <a:t>Tell AI in </a:t>
            </a:r>
            <a:r>
              <a:rPr lang="en-US" dirty="0" err="1"/>
              <a:t>AGENTS.md</a:t>
            </a:r>
            <a:r>
              <a:rPr lang="en-US" dirty="0"/>
              <a:t> to do TDD</a:t>
            </a:r>
          </a:p>
          <a:p>
            <a:r>
              <a:rPr lang="en-US" dirty="0"/>
              <a:t>ATDD very effective with AI – start with failing happy path e2e test then go from there</a:t>
            </a:r>
          </a:p>
        </p:txBody>
      </p:sp>
      <p:grpSp>
        <p:nvGrpSpPr>
          <p:cNvPr id="9" name="Group 8">
            <a:extLst>
              <a:ext uri="{FF2B5EF4-FFF2-40B4-BE49-F238E27FC236}">
                <a16:creationId xmlns:a16="http://schemas.microsoft.com/office/drawing/2014/main" id="{FF23AC0B-62C8-D73E-E13B-455705833E4E}"/>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5EFC24B8-3141-5C5A-F1AB-D4191DA644A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1580F0E9-1BBF-8B7B-6FE4-0853D4614945}"/>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6711108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subTnLst>
                                    <p:animClr clrSpc="rgb" dir="cw">
                                      <p:cBhvr override="childStyle">
                                        <p:cTn dur="1" fill="hold" display="0" masterRel="nextClick" afterEffect="1"/>
                                        <p:tgtEl>
                                          <p:spTgt spid="3">
                                            <p:txEl>
                                              <p:pRg st="0" end="0"/>
                                            </p:txEl>
                                          </p:spTgt>
                                        </p:tgtEl>
                                        <p:attrNameLst>
                                          <p:attrName>ppt_c</p:attrName>
                                        </p:attrNameLst>
                                      </p:cBhvr>
                                      <p:to>
                                        <a:srgbClr val="B2B2B2"/>
                                      </p:to>
                                    </p:animClr>
                                  </p:sub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subTnLst>
                                    <p:animClr clrSpc="rgb" dir="cw">
                                      <p:cBhvr override="childStyle">
                                        <p:cTn dur="1" fill="hold" display="0" masterRel="nextClick" afterEffect="1"/>
                                        <p:tgtEl>
                                          <p:spTgt spid="3">
                                            <p:txEl>
                                              <p:pRg st="1" end="1"/>
                                            </p:txEl>
                                          </p:spTgt>
                                        </p:tgtEl>
                                        <p:attrNameLst>
                                          <p:attrName>ppt_c</p:attrName>
                                        </p:attrNameLst>
                                      </p:cBhvr>
                                      <p:to>
                                        <a:srgbClr val="B2B2B2"/>
                                      </p:to>
                                    </p:animClr>
                                  </p:sub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subTnLst>
                                    <p:animClr clrSpc="rgb" dir="cw">
                                      <p:cBhvr override="childStyle">
                                        <p:cTn dur="1" fill="hold" display="0" masterRel="nextClick" afterEffect="1"/>
                                        <p:tgtEl>
                                          <p:spTgt spid="3">
                                            <p:txEl>
                                              <p:pRg st="2" end="2"/>
                                            </p:txEl>
                                          </p:spTgt>
                                        </p:tgtEl>
                                        <p:attrNameLst>
                                          <p:attrName>ppt_c</p:attrName>
                                        </p:attrNameLst>
                                      </p:cBhvr>
                                      <p:to>
                                        <a:srgbClr val="B2B2B2"/>
                                      </p:to>
                                    </p:animClr>
                                  </p:sub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subTnLst>
                                    <p:animClr clrSpc="rgb" dir="cw">
                                      <p:cBhvr override="childStyle">
                                        <p:cTn dur="1" fill="hold" display="0" masterRel="nextClick" afterEffect="1"/>
                                        <p:tgtEl>
                                          <p:spTgt spid="3">
                                            <p:txEl>
                                              <p:pRg st="3" end="3"/>
                                            </p:txEl>
                                          </p:spTgt>
                                        </p:tgtEl>
                                        <p:attrNameLst>
                                          <p:attrName>ppt_c</p:attrName>
                                        </p:attrNameLst>
                                      </p:cBhvr>
                                      <p:to>
                                        <a:srgbClr val="B2B2B2"/>
                                      </p:to>
                                    </p:animClr>
                                  </p:sub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subTnLst>
                                    <p:animClr clrSpc="rgb" dir="cw">
                                      <p:cBhvr override="childStyle">
                                        <p:cTn dur="1" fill="hold" display="0" masterRel="nextClick" afterEffect="1"/>
                                        <p:tgtEl>
                                          <p:spTgt spid="3">
                                            <p:txEl>
                                              <p:pRg st="4" end="4"/>
                                            </p:txEl>
                                          </p:spTgt>
                                        </p:tgtEl>
                                        <p:attrNameLst>
                                          <p:attrName>ppt_c</p:attrName>
                                        </p:attrNameLst>
                                      </p:cBhvr>
                                      <p:to>
                                        <a:srgbClr val="B2B2B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61E18-FB38-B1A7-CC9A-081696503E5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9063EC3-8CE2-9F51-0FC8-5589E9E33EEE}"/>
              </a:ext>
            </a:extLst>
          </p:cNvPr>
          <p:cNvSpPr/>
          <p:nvPr/>
        </p:nvSpPr>
        <p:spPr>
          <a:xfrm>
            <a:off x="-19458" y="-6059"/>
            <a:ext cx="12211458" cy="6864059"/>
          </a:xfrm>
          <a:prstGeom prst="rect">
            <a:avLst/>
          </a:prstGeom>
          <a:solidFill>
            <a:srgbClr val="0F69B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DAB2A2C3-124C-DA66-DB28-260D80396A59}"/>
              </a:ext>
            </a:extLst>
          </p:cNvPr>
          <p:cNvSpPr>
            <a:spLocks noGrp="1"/>
          </p:cNvSpPr>
          <p:nvPr>
            <p:ph type="title"/>
          </p:nvPr>
        </p:nvSpPr>
        <p:spPr>
          <a:xfrm>
            <a:off x="-19457" y="365125"/>
            <a:ext cx="8871627" cy="6027511"/>
          </a:xfrm>
        </p:spPr>
        <p:txBody>
          <a:bodyPr>
            <a:normAutofit/>
          </a:bodyPr>
          <a:lstStyle/>
          <a:p>
            <a:pPr algn="ctr"/>
            <a:r>
              <a:rPr lang="en-US" sz="10000" dirty="0">
                <a:solidFill>
                  <a:schemeClr val="bg1"/>
                </a:solidFill>
                <a:latin typeface="+mn-lt"/>
              </a:rPr>
              <a:t>Live Coding!</a:t>
            </a:r>
          </a:p>
        </p:txBody>
      </p:sp>
      <p:pic>
        <p:nvPicPr>
          <p:cNvPr id="3" name="Picture 2" descr="Bootstrap+Blazor essentials - DEV Community">
            <a:extLst>
              <a:ext uri="{FF2B5EF4-FFF2-40B4-BE49-F238E27FC236}">
                <a16:creationId xmlns:a16="http://schemas.microsoft.com/office/drawing/2014/main" id="{458F02EC-123F-599F-BA77-D1DB058C8528}"/>
              </a:ext>
            </a:extLst>
          </p:cNvPr>
          <p:cNvPicPr>
            <a:picLocks noChangeAspect="1" noChangeArrowheads="1"/>
          </p:cNvPicPr>
          <p:nvPr/>
        </p:nvPicPr>
        <p:blipFill>
          <a:blip r:embed="rId3">
            <a:clrChange>
              <a:clrFrom>
                <a:srgbClr val="6F43A4"/>
              </a:clrFrom>
              <a:clrTo>
                <a:srgbClr val="6F43A4">
                  <a:alpha val="0"/>
                </a:srgbClr>
              </a:clrTo>
            </a:clrChange>
            <a:extLst>
              <a:ext uri="{28A0092B-C50C-407E-A947-70E740481C1C}">
                <a14:useLocalDpi xmlns:a14="http://schemas.microsoft.com/office/drawing/2010/main" val="0"/>
              </a:ext>
            </a:extLst>
          </a:blip>
          <a:srcRect/>
          <a:stretch>
            <a:fillRect/>
          </a:stretch>
        </p:blipFill>
        <p:spPr bwMode="auto">
          <a:xfrm>
            <a:off x="9203862" y="4065593"/>
            <a:ext cx="2792407" cy="27924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1502738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How can I get started with TDD?</a:t>
            </a:r>
          </a:p>
        </p:txBody>
      </p:sp>
      <p:sp>
        <p:nvSpPr>
          <p:cNvPr id="3" name="Content Placeholder 2"/>
          <p:cNvSpPr>
            <a:spLocks noGrp="1"/>
          </p:cNvSpPr>
          <p:nvPr>
            <p:ph idx="1"/>
          </p:nvPr>
        </p:nvSpPr>
        <p:spPr>
          <a:xfrm>
            <a:off x="838199" y="1825624"/>
            <a:ext cx="11263175" cy="4779637"/>
          </a:xfrm>
        </p:spPr>
        <p:txBody>
          <a:bodyPr>
            <a:normAutofit/>
          </a:bodyPr>
          <a:lstStyle/>
          <a:p>
            <a:r>
              <a:rPr lang="en-US" dirty="0"/>
              <a:t>When you get a bug report coming in</a:t>
            </a:r>
          </a:p>
          <a:p>
            <a:r>
              <a:rPr lang="en-US" dirty="0"/>
              <a:t>Write a failing test that proves the bug exists</a:t>
            </a:r>
          </a:p>
          <a:p>
            <a:r>
              <a:rPr lang="en-US" dirty="0"/>
              <a:t>Make it pass</a:t>
            </a: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144226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subTnLst>
                                    <p:animClr clrSpc="rgb" dir="cw">
                                      <p:cBhvr override="childStyle">
                                        <p:cTn dur="1" fill="hold" display="0" masterRel="nextClick" afterEffect="1"/>
                                        <p:tgtEl>
                                          <p:spTgt spid="3">
                                            <p:txEl>
                                              <p:pRg st="0" end="0"/>
                                            </p:txEl>
                                          </p:spTgt>
                                        </p:tgtEl>
                                        <p:attrNameLst>
                                          <p:attrName>ppt_c</p:attrName>
                                        </p:attrNameLst>
                                      </p:cBhvr>
                                      <p:to>
                                        <a:srgbClr val="B2B2B2"/>
                                      </p:to>
                                    </p:animClr>
                                  </p:sub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subTnLst>
                                    <p:animClr clrSpc="rgb" dir="cw">
                                      <p:cBhvr override="childStyle">
                                        <p:cTn dur="1" fill="hold" display="0" masterRel="nextClick" afterEffect="1"/>
                                        <p:tgtEl>
                                          <p:spTgt spid="3">
                                            <p:txEl>
                                              <p:pRg st="1" end="1"/>
                                            </p:txEl>
                                          </p:spTgt>
                                        </p:tgtEl>
                                        <p:attrNameLst>
                                          <p:attrName>ppt_c</p:attrName>
                                        </p:attrNameLst>
                                      </p:cBhvr>
                                      <p:to>
                                        <a:srgbClr val="B2B2B2"/>
                                      </p:to>
                                    </p:animClr>
                                  </p:sub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subTnLst>
                                    <p:animClr clrSpc="rgb" dir="cw">
                                      <p:cBhvr override="childStyle">
                                        <p:cTn dur="1" fill="hold" display="0" masterRel="nextClick" afterEffect="1"/>
                                        <p:tgtEl>
                                          <p:spTgt spid="3">
                                            <p:txEl>
                                              <p:pRg st="2" end="2"/>
                                            </p:txEl>
                                          </p:spTgt>
                                        </p:tgtEl>
                                        <p:attrNameLst>
                                          <p:attrName>ppt_c</p:attrName>
                                        </p:attrNameLst>
                                      </p:cBhvr>
                                      <p:to>
                                        <a:srgbClr val="B2B2B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0E0AF11-A4C9-45AA-A06E-24045DF01CE8}"/>
              </a:ext>
            </a:extLst>
          </p:cNvPr>
          <p:cNvSpPr/>
          <p:nvPr/>
        </p:nvSpPr>
        <p:spPr>
          <a:xfrm>
            <a:off x="0" y="-6059"/>
            <a:ext cx="12211456" cy="6864059"/>
          </a:xfrm>
          <a:prstGeom prst="rect">
            <a:avLst/>
          </a:prstGeom>
          <a:solidFill>
            <a:srgbClr val="0F69B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23961254-86DC-4239-85AC-F87EEB565B01}"/>
              </a:ext>
            </a:extLst>
          </p:cNvPr>
          <p:cNvSpPr>
            <a:spLocks noGrp="1"/>
          </p:cNvSpPr>
          <p:nvPr>
            <p:ph type="title"/>
          </p:nvPr>
        </p:nvSpPr>
        <p:spPr>
          <a:xfrm>
            <a:off x="-19457" y="365125"/>
            <a:ext cx="8871627" cy="6027511"/>
          </a:xfrm>
        </p:spPr>
        <p:txBody>
          <a:bodyPr>
            <a:normAutofit/>
          </a:bodyPr>
          <a:lstStyle/>
          <a:p>
            <a:pPr algn="ctr"/>
            <a:r>
              <a:rPr lang="en-US" sz="12000" dirty="0">
                <a:solidFill>
                  <a:schemeClr val="bg1"/>
                </a:solidFill>
                <a:latin typeface="+mn-lt"/>
              </a:rPr>
              <a:t>But I don’t </a:t>
            </a:r>
            <a:br>
              <a:rPr lang="en-US" sz="12000" dirty="0">
                <a:solidFill>
                  <a:schemeClr val="bg1"/>
                </a:solidFill>
                <a:latin typeface="+mn-lt"/>
              </a:rPr>
            </a:br>
            <a:r>
              <a:rPr lang="en-US" sz="12000" dirty="0">
                <a:solidFill>
                  <a:schemeClr val="bg1"/>
                </a:solidFill>
                <a:latin typeface="+mn-lt"/>
              </a:rPr>
              <a:t>have time!</a:t>
            </a:r>
          </a:p>
        </p:txBody>
      </p:sp>
      <p:pic>
        <p:nvPicPr>
          <p:cNvPr id="3074" name="Picture 2" descr="Clock PNG Transparent Images | PNG All">
            <a:extLst>
              <a:ext uri="{FF2B5EF4-FFF2-40B4-BE49-F238E27FC236}">
                <a16:creationId xmlns:a16="http://schemas.microsoft.com/office/drawing/2014/main" id="{69EDF2DE-AD11-76EF-19B0-6AFB1B19287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51684" y="2383276"/>
            <a:ext cx="4026388" cy="472277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178524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0E0AF11-A4C9-45AA-A06E-24045DF01CE8}"/>
              </a:ext>
            </a:extLst>
          </p:cNvPr>
          <p:cNvSpPr/>
          <p:nvPr/>
        </p:nvSpPr>
        <p:spPr>
          <a:xfrm>
            <a:off x="0" y="-6059"/>
            <a:ext cx="12192000" cy="6864059"/>
          </a:xfrm>
          <a:prstGeom prst="rect">
            <a:avLst/>
          </a:prstGeom>
          <a:solidFill>
            <a:srgbClr val="0F69B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23961254-86DC-4239-85AC-F87EEB565B01}"/>
              </a:ext>
            </a:extLst>
          </p:cNvPr>
          <p:cNvSpPr>
            <a:spLocks noGrp="1"/>
          </p:cNvSpPr>
          <p:nvPr>
            <p:ph type="title"/>
          </p:nvPr>
        </p:nvSpPr>
        <p:spPr>
          <a:xfrm>
            <a:off x="0" y="365125"/>
            <a:ext cx="8735438" cy="6027511"/>
          </a:xfrm>
        </p:spPr>
        <p:txBody>
          <a:bodyPr>
            <a:normAutofit/>
          </a:bodyPr>
          <a:lstStyle/>
          <a:p>
            <a:pPr algn="ctr"/>
            <a:r>
              <a:rPr lang="en-US" sz="12000" dirty="0">
                <a:solidFill>
                  <a:schemeClr val="bg1"/>
                </a:solidFill>
                <a:latin typeface="+mn-lt"/>
              </a:rPr>
              <a:t>Why?</a:t>
            </a:r>
          </a:p>
        </p:txBody>
      </p:sp>
      <p:pic>
        <p:nvPicPr>
          <p:cNvPr id="2052" name="Picture 4" descr="Thinking Emoji [Free Download IOS Emojis] | Emoji Island">
            <a:extLst>
              <a:ext uri="{FF2B5EF4-FFF2-40B4-BE49-F238E27FC236}">
                <a16:creationId xmlns:a16="http://schemas.microsoft.com/office/drawing/2014/main" id="{51F94315-BAF5-661F-65B0-92F3C0292BB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268360" y="3946988"/>
            <a:ext cx="2744591" cy="28639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6046907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0E0AF11-A4C9-45AA-A06E-24045DF01CE8}"/>
              </a:ext>
            </a:extLst>
          </p:cNvPr>
          <p:cNvSpPr/>
          <p:nvPr/>
        </p:nvSpPr>
        <p:spPr>
          <a:xfrm>
            <a:off x="0" y="-6059"/>
            <a:ext cx="12211456" cy="6864059"/>
          </a:xfrm>
          <a:prstGeom prst="rect">
            <a:avLst/>
          </a:prstGeom>
          <a:solidFill>
            <a:srgbClr val="0F69B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23961254-86DC-4239-85AC-F87EEB565B01}"/>
              </a:ext>
            </a:extLst>
          </p:cNvPr>
          <p:cNvSpPr>
            <a:spLocks noGrp="1"/>
          </p:cNvSpPr>
          <p:nvPr>
            <p:ph type="title"/>
          </p:nvPr>
        </p:nvSpPr>
        <p:spPr>
          <a:xfrm>
            <a:off x="-19457" y="365125"/>
            <a:ext cx="8871627" cy="6027511"/>
          </a:xfrm>
        </p:spPr>
        <p:txBody>
          <a:bodyPr>
            <a:normAutofit/>
          </a:bodyPr>
          <a:lstStyle/>
          <a:p>
            <a:pPr algn="ctr"/>
            <a:r>
              <a:rPr lang="en-US" sz="12000" dirty="0">
                <a:solidFill>
                  <a:schemeClr val="bg1"/>
                </a:solidFill>
                <a:latin typeface="+mn-lt"/>
              </a:rPr>
              <a:t>My boss won’t let me!</a:t>
            </a:r>
          </a:p>
        </p:txBody>
      </p:sp>
      <p:pic>
        <p:nvPicPr>
          <p:cNvPr id="3" name="Picture 2" descr="THAT'D BE GREAT - Bill Lumbergh - Office Space - 90's T-Shirt">
            <a:extLst>
              <a:ext uri="{FF2B5EF4-FFF2-40B4-BE49-F238E27FC236}">
                <a16:creationId xmlns:a16="http://schemas.microsoft.com/office/drawing/2014/main" id="{6C54B2F8-E416-6E00-9893-93DEB00A71D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20365"/>
          <a:stretch/>
        </p:blipFill>
        <p:spPr bwMode="auto">
          <a:xfrm flipH="1">
            <a:off x="7468413" y="3065393"/>
            <a:ext cx="4762500" cy="37926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5274460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0E0AF11-A4C9-45AA-A06E-24045DF01CE8}"/>
              </a:ext>
            </a:extLst>
          </p:cNvPr>
          <p:cNvSpPr/>
          <p:nvPr/>
        </p:nvSpPr>
        <p:spPr>
          <a:xfrm>
            <a:off x="0" y="-6059"/>
            <a:ext cx="12192000" cy="6864059"/>
          </a:xfrm>
          <a:prstGeom prst="rect">
            <a:avLst/>
          </a:prstGeom>
          <a:solidFill>
            <a:srgbClr val="0F69B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itle 1">
            <a:extLst>
              <a:ext uri="{FF2B5EF4-FFF2-40B4-BE49-F238E27FC236}">
                <a16:creationId xmlns:a16="http://schemas.microsoft.com/office/drawing/2014/main" id="{7825FAF2-B601-ED57-0B93-8C277544B9F7}"/>
              </a:ext>
            </a:extLst>
          </p:cNvPr>
          <p:cNvSpPr>
            <a:spLocks noGrp="1"/>
          </p:cNvSpPr>
          <p:nvPr>
            <p:ph type="title"/>
          </p:nvPr>
        </p:nvSpPr>
        <p:spPr>
          <a:xfrm>
            <a:off x="0" y="365125"/>
            <a:ext cx="9717932" cy="6027511"/>
          </a:xfrm>
        </p:spPr>
        <p:txBody>
          <a:bodyPr>
            <a:normAutofit/>
          </a:bodyPr>
          <a:lstStyle/>
          <a:p>
            <a:pPr algn="ctr"/>
            <a:r>
              <a:rPr lang="en-US" sz="10000" dirty="0">
                <a:solidFill>
                  <a:schemeClr val="bg1"/>
                </a:solidFill>
                <a:latin typeface="+mn-lt"/>
              </a:rPr>
              <a:t>What about </a:t>
            </a:r>
            <a:br>
              <a:rPr lang="en-US" sz="10000" dirty="0">
                <a:solidFill>
                  <a:schemeClr val="bg1"/>
                </a:solidFill>
                <a:latin typeface="+mn-lt"/>
              </a:rPr>
            </a:br>
            <a:r>
              <a:rPr lang="en-US" sz="10000" dirty="0">
                <a:solidFill>
                  <a:schemeClr val="bg1"/>
                </a:solidFill>
                <a:latin typeface="+mn-lt"/>
              </a:rPr>
              <a:t>this person?</a:t>
            </a:r>
          </a:p>
        </p:txBody>
      </p:sp>
      <p:pic>
        <p:nvPicPr>
          <p:cNvPr id="4100" name="Picture 4" descr="Surgeon Clipart Png Transparent Png - Full Size Clipart (#5705310) -  PinClipart">
            <a:extLst>
              <a:ext uri="{FF2B5EF4-FFF2-40B4-BE49-F238E27FC236}">
                <a16:creationId xmlns:a16="http://schemas.microsoft.com/office/drawing/2014/main" id="{45F04FF4-B5CE-ECC7-9F20-E9ABFF318BB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812574" y="1882303"/>
            <a:ext cx="2333422" cy="4912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8901074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0E0AF11-A4C9-45AA-A06E-24045DF01CE8}"/>
              </a:ext>
            </a:extLst>
          </p:cNvPr>
          <p:cNvSpPr/>
          <p:nvPr/>
        </p:nvSpPr>
        <p:spPr>
          <a:xfrm>
            <a:off x="0" y="-6059"/>
            <a:ext cx="12192000" cy="6864059"/>
          </a:xfrm>
          <a:prstGeom prst="rect">
            <a:avLst/>
          </a:prstGeom>
          <a:solidFill>
            <a:srgbClr val="0F69B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itle 1">
            <a:extLst>
              <a:ext uri="{FF2B5EF4-FFF2-40B4-BE49-F238E27FC236}">
                <a16:creationId xmlns:a16="http://schemas.microsoft.com/office/drawing/2014/main" id="{7825FAF2-B601-ED57-0B93-8C277544B9F7}"/>
              </a:ext>
            </a:extLst>
          </p:cNvPr>
          <p:cNvSpPr>
            <a:spLocks noGrp="1"/>
          </p:cNvSpPr>
          <p:nvPr>
            <p:ph type="title"/>
          </p:nvPr>
        </p:nvSpPr>
        <p:spPr>
          <a:xfrm>
            <a:off x="0" y="365125"/>
            <a:ext cx="12192000" cy="6027511"/>
          </a:xfrm>
        </p:spPr>
        <p:txBody>
          <a:bodyPr>
            <a:normAutofit/>
          </a:bodyPr>
          <a:lstStyle/>
          <a:p>
            <a:pPr algn="ctr"/>
            <a:r>
              <a:rPr lang="en-US" sz="10000" dirty="0">
                <a:solidFill>
                  <a:schemeClr val="bg1"/>
                </a:solidFill>
                <a:latin typeface="+mn-lt"/>
              </a:rPr>
              <a:t>You don’t get better</a:t>
            </a:r>
            <a:br>
              <a:rPr lang="en-US" sz="10000" dirty="0">
                <a:solidFill>
                  <a:schemeClr val="bg1"/>
                </a:solidFill>
                <a:latin typeface="+mn-lt"/>
              </a:rPr>
            </a:br>
            <a:r>
              <a:rPr lang="en-US" sz="10000" dirty="0">
                <a:solidFill>
                  <a:schemeClr val="bg1"/>
                </a:solidFill>
                <a:latin typeface="+mn-lt"/>
              </a:rPr>
              <a:t>at TDD</a:t>
            </a:r>
            <a:br>
              <a:rPr lang="en-US" sz="10000" dirty="0">
                <a:solidFill>
                  <a:schemeClr val="bg1"/>
                </a:solidFill>
                <a:latin typeface="+mn-lt"/>
              </a:rPr>
            </a:br>
            <a:r>
              <a:rPr lang="en-US" sz="10000" dirty="0">
                <a:solidFill>
                  <a:schemeClr val="bg1"/>
                </a:solidFill>
                <a:latin typeface="+mn-lt"/>
              </a:rPr>
              <a:t>by NOT doing TDD</a:t>
            </a:r>
          </a:p>
        </p:txBody>
      </p:sp>
    </p:spTree>
    <p:extLst>
      <p:ext uri="{BB962C8B-B14F-4D97-AF65-F5344CB8AC3E}">
        <p14:creationId xmlns:p14="http://schemas.microsoft.com/office/powerpoint/2010/main" val="397232316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Takeaways</a:t>
            </a:r>
          </a:p>
        </p:txBody>
      </p:sp>
      <p:sp>
        <p:nvSpPr>
          <p:cNvPr id="3" name="Content Placeholder 2"/>
          <p:cNvSpPr>
            <a:spLocks noGrp="1"/>
          </p:cNvSpPr>
          <p:nvPr>
            <p:ph idx="1"/>
          </p:nvPr>
        </p:nvSpPr>
        <p:spPr>
          <a:xfrm>
            <a:off x="838200" y="1825624"/>
            <a:ext cx="10863876" cy="4779637"/>
          </a:xfrm>
        </p:spPr>
        <p:txBody>
          <a:bodyPr>
            <a:normAutofit/>
          </a:bodyPr>
          <a:lstStyle/>
          <a:p>
            <a:r>
              <a:rPr lang="en-US" dirty="0"/>
              <a:t>Why you should TDD</a:t>
            </a:r>
          </a:p>
          <a:p>
            <a:r>
              <a:rPr lang="en-US" dirty="0"/>
              <a:t>How to test </a:t>
            </a:r>
            <a:r>
              <a:rPr lang="en-US" dirty="0" err="1"/>
              <a:t>Blazor</a:t>
            </a:r>
            <a:endParaRPr lang="en-US" dirty="0"/>
          </a:p>
          <a:p>
            <a:r>
              <a:rPr lang="en-US" dirty="0"/>
              <a:t>What to test in </a:t>
            </a:r>
            <a:r>
              <a:rPr lang="en-US" dirty="0" err="1"/>
              <a:t>Blazor</a:t>
            </a:r>
            <a:endParaRPr lang="en-US" dirty="0"/>
          </a:p>
          <a:p>
            <a:r>
              <a:rPr lang="en-US" dirty="0"/>
              <a:t>How to get started </a:t>
            </a:r>
            <a:r>
              <a:rPr lang="en-US" dirty="0" err="1"/>
              <a:t>TDDing</a:t>
            </a:r>
            <a:r>
              <a:rPr lang="en-US" dirty="0"/>
              <a:t> </a:t>
            </a:r>
            <a:r>
              <a:rPr lang="en-US" dirty="0" err="1"/>
              <a:t>Blazor</a:t>
            </a:r>
            <a:endParaRPr lang="en-US" dirty="0"/>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3">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51772572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bg1">
                    <a:lumMod val="65000"/>
                  </a:schemeClr>
                </a:solidFill>
              </a:rPr>
              <a:t>Resources</a:t>
            </a:r>
          </a:p>
        </p:txBody>
      </p:sp>
      <p:sp>
        <p:nvSpPr>
          <p:cNvPr id="3" name="Content Placeholder 2"/>
          <p:cNvSpPr>
            <a:spLocks noGrp="1"/>
          </p:cNvSpPr>
          <p:nvPr>
            <p:ph idx="1"/>
          </p:nvPr>
        </p:nvSpPr>
        <p:spPr>
          <a:xfrm>
            <a:off x="838200" y="1825624"/>
            <a:ext cx="10515600" cy="4779637"/>
          </a:xfrm>
        </p:spPr>
        <p:txBody>
          <a:bodyPr>
            <a:normAutofit/>
          </a:bodyPr>
          <a:lstStyle/>
          <a:p>
            <a:r>
              <a:rPr lang="en-US" dirty="0"/>
              <a:t>TDD By Example by Kent Beck</a:t>
            </a:r>
          </a:p>
          <a:p>
            <a:r>
              <a:rPr lang="en-US" dirty="0">
                <a:hlinkClick r:id="rId3"/>
              </a:rPr>
              <a:t>Write Tests</a:t>
            </a:r>
            <a:r>
              <a:rPr lang="en-US" dirty="0"/>
              <a:t> blog post by Kent C </a:t>
            </a:r>
            <a:r>
              <a:rPr lang="en-US" dirty="0" err="1"/>
              <a:t>Dodds</a:t>
            </a:r>
            <a:endParaRPr lang="en-US" dirty="0"/>
          </a:p>
          <a:p>
            <a:r>
              <a:rPr lang="en-US" dirty="0">
                <a:hlinkClick r:id="rId4"/>
              </a:rPr>
              <a:t>https://github.com/scottsauber/talks</a:t>
            </a:r>
            <a:r>
              <a:rPr lang="en-US" dirty="0"/>
              <a:t> </a:t>
            </a:r>
          </a:p>
          <a:p>
            <a:r>
              <a:rPr lang="en-US" dirty="0"/>
              <a:t>This slide deck</a:t>
            </a:r>
          </a:p>
        </p:txBody>
      </p:sp>
      <p:grpSp>
        <p:nvGrpSpPr>
          <p:cNvPr id="9" name="Group 8">
            <a:extLst>
              <a:ext uri="{FF2B5EF4-FFF2-40B4-BE49-F238E27FC236}">
                <a16:creationId xmlns:a16="http://schemas.microsoft.com/office/drawing/2014/main" id="{7DE5378A-6FF0-4624-8085-FEF4C35499EF}"/>
              </a:ext>
            </a:extLst>
          </p:cNvPr>
          <p:cNvGrpSpPr/>
          <p:nvPr/>
        </p:nvGrpSpPr>
        <p:grpSpPr>
          <a:xfrm>
            <a:off x="9970651" y="6185410"/>
            <a:ext cx="2130724" cy="474323"/>
            <a:chOff x="9970651" y="6185410"/>
            <a:chExt cx="2130724" cy="474323"/>
          </a:xfrm>
        </p:grpSpPr>
        <p:sp>
          <p:nvSpPr>
            <p:cNvPr id="6" name="Subtitle 2">
              <a:extLst>
                <a:ext uri="{FF2B5EF4-FFF2-40B4-BE49-F238E27FC236}">
                  <a16:creationId xmlns:a16="http://schemas.microsoft.com/office/drawing/2014/main" id="{9DA2B4CB-38FE-4C6E-8BEE-075F81D8685C}"/>
                </a:ext>
              </a:extLst>
            </p:cNvPr>
            <p:cNvSpPr txBox="1">
              <a:spLocks/>
            </p:cNvSpPr>
            <p:nvPr/>
          </p:nvSpPr>
          <p:spPr>
            <a:xfrm>
              <a:off x="10041147" y="6185410"/>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err="1">
                  <a:solidFill>
                    <a:schemeClr val="bg1">
                      <a:lumMod val="65000"/>
                    </a:schemeClr>
                  </a:solidFill>
                </a:rPr>
                <a:t>scottsauber</a:t>
              </a:r>
              <a:endParaRPr lang="en-US" dirty="0">
                <a:solidFill>
                  <a:schemeClr val="bg1">
                    <a:lumMod val="65000"/>
                  </a:schemeClr>
                </a:solidFill>
              </a:endParaRPr>
            </a:p>
          </p:txBody>
        </p:sp>
        <p:sp>
          <p:nvSpPr>
            <p:cNvPr id="8" name="Rectangle 7">
              <a:extLst>
                <a:ext uri="{FF2B5EF4-FFF2-40B4-BE49-F238E27FC236}">
                  <a16:creationId xmlns:a16="http://schemas.microsoft.com/office/drawing/2014/main" id="{2CC1E2DB-378E-4A94-AC9A-4A7142A30669}"/>
                </a:ext>
              </a:extLst>
            </p:cNvPr>
            <p:cNvSpPr/>
            <p:nvPr/>
          </p:nvSpPr>
          <p:spPr>
            <a:xfrm>
              <a:off x="9970651" y="6285411"/>
              <a:ext cx="347472" cy="274320"/>
            </a:xfrm>
            <a:prstGeom prst="rect">
              <a:avLst/>
            </a:prstGeom>
            <a:blipFill dpi="0" rotWithShape="1">
              <a:blip r:embed="rId5">
                <a:alphaModFix amt="50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026" name="Picture 2">
            <a:extLst>
              <a:ext uri="{FF2B5EF4-FFF2-40B4-BE49-F238E27FC236}">
                <a16:creationId xmlns:a16="http://schemas.microsoft.com/office/drawing/2014/main" id="{EB30CBE7-9770-F187-56D3-2DCBA37F453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123346" y="1825624"/>
            <a:ext cx="2402828" cy="30125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7896934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F69B6"/>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961254-86DC-4239-85AC-F87EEB565B01}"/>
              </a:ext>
            </a:extLst>
          </p:cNvPr>
          <p:cNvSpPr>
            <a:spLocks noGrp="1"/>
          </p:cNvSpPr>
          <p:nvPr>
            <p:ph type="title"/>
          </p:nvPr>
        </p:nvSpPr>
        <p:spPr>
          <a:xfrm>
            <a:off x="838200" y="365125"/>
            <a:ext cx="10515600" cy="6027511"/>
          </a:xfrm>
        </p:spPr>
        <p:txBody>
          <a:bodyPr>
            <a:normAutofit/>
          </a:bodyPr>
          <a:lstStyle/>
          <a:p>
            <a:pPr algn="ctr"/>
            <a:r>
              <a:rPr lang="en-US" sz="7200" dirty="0">
                <a:solidFill>
                  <a:schemeClr val="bg1"/>
                </a:solidFill>
                <a:latin typeface="+mn-lt"/>
              </a:rPr>
              <a:t>Questions?</a:t>
            </a:r>
            <a:br>
              <a:rPr lang="en-US" sz="7200" dirty="0">
                <a:solidFill>
                  <a:schemeClr val="bg1"/>
                </a:solidFill>
                <a:latin typeface="+mn-lt"/>
              </a:rPr>
            </a:br>
            <a:r>
              <a:rPr lang="en-US" sz="2400" dirty="0">
                <a:solidFill>
                  <a:schemeClr val="bg1"/>
                </a:solidFill>
                <a:latin typeface="+mn-lt"/>
              </a:rPr>
              <a:t>ssauber@leantechniques.com</a:t>
            </a:r>
          </a:p>
        </p:txBody>
      </p:sp>
      <p:sp>
        <p:nvSpPr>
          <p:cNvPr id="8" name="Subtitle 2">
            <a:extLst>
              <a:ext uri="{FF2B5EF4-FFF2-40B4-BE49-F238E27FC236}">
                <a16:creationId xmlns:a16="http://schemas.microsoft.com/office/drawing/2014/main" id="{097882A2-4820-4881-9C23-D09EE5DE1AF4}"/>
              </a:ext>
            </a:extLst>
          </p:cNvPr>
          <p:cNvSpPr txBox="1">
            <a:spLocks/>
          </p:cNvSpPr>
          <p:nvPr/>
        </p:nvSpPr>
        <p:spPr>
          <a:xfrm>
            <a:off x="90625" y="3418380"/>
            <a:ext cx="12192000" cy="337104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sz="3600" dirty="0">
              <a:solidFill>
                <a:schemeClr val="bg1"/>
              </a:solidFill>
              <a:ea typeface="Open Sans" panose="020B0606030504020204" pitchFamily="34" charset="0"/>
              <a:cs typeface="Open Sans" panose="020B0606030504020204" pitchFamily="34" charset="0"/>
            </a:endParaRPr>
          </a:p>
          <a:p>
            <a:endParaRPr lang="en-US" sz="4000" dirty="0">
              <a:solidFill>
                <a:schemeClr val="bg1"/>
              </a:solidFill>
              <a:ea typeface="Open Sans" panose="020B0606030504020204" pitchFamily="34" charset="0"/>
              <a:cs typeface="Open Sans" panose="020B0606030504020204" pitchFamily="34" charset="0"/>
            </a:endParaRPr>
          </a:p>
          <a:p>
            <a:endParaRPr lang="en-US" dirty="0">
              <a:solidFill>
                <a:schemeClr val="bg1"/>
              </a:solidFill>
              <a:ea typeface="Open Sans" panose="020B0606030504020204" pitchFamily="34" charset="0"/>
              <a:cs typeface="Open Sans" panose="020B0606030504020204" pitchFamily="34" charset="0"/>
            </a:endParaRPr>
          </a:p>
          <a:p>
            <a:endParaRPr lang="en-US" dirty="0">
              <a:solidFill>
                <a:schemeClr val="bg1"/>
              </a:solidFill>
              <a:ea typeface="Open Sans" panose="020B0606030504020204" pitchFamily="34" charset="0"/>
              <a:cs typeface="Open Sans" panose="020B0606030504020204" pitchFamily="34" charset="0"/>
            </a:endParaRPr>
          </a:p>
          <a:p>
            <a:pPr marL="0" indent="0">
              <a:buNone/>
            </a:pPr>
            <a:endParaRPr lang="en-US" dirty="0">
              <a:solidFill>
                <a:schemeClr val="bg1"/>
              </a:solidFill>
              <a:ea typeface="Open Sans" panose="020B0606030504020204" pitchFamily="34" charset="0"/>
              <a:cs typeface="Open Sans" panose="020B0606030504020204" pitchFamily="34" charset="0"/>
            </a:endParaRPr>
          </a:p>
          <a:p>
            <a:pPr marL="0" indent="0">
              <a:buNone/>
            </a:pPr>
            <a:r>
              <a:rPr lang="en-US" dirty="0">
                <a:solidFill>
                  <a:schemeClr val="bg1"/>
                </a:solidFill>
                <a:ea typeface="Open Sans" panose="020B0606030504020204" pitchFamily="34" charset="0"/>
                <a:cs typeface="Open Sans" panose="020B0606030504020204" pitchFamily="34" charset="0"/>
              </a:rPr>
              <a:t>Slides at scottsauber.com</a:t>
            </a:r>
          </a:p>
        </p:txBody>
      </p:sp>
      <p:sp>
        <p:nvSpPr>
          <p:cNvPr id="3" name="TextBox 2">
            <a:extLst>
              <a:ext uri="{FF2B5EF4-FFF2-40B4-BE49-F238E27FC236}">
                <a16:creationId xmlns:a16="http://schemas.microsoft.com/office/drawing/2014/main" id="{F77142A0-7D55-44AD-E129-1BB9F7B444D3}"/>
              </a:ext>
            </a:extLst>
          </p:cNvPr>
          <p:cNvSpPr txBox="1"/>
          <p:nvPr/>
        </p:nvSpPr>
        <p:spPr>
          <a:xfrm>
            <a:off x="9757202" y="2006898"/>
            <a:ext cx="2278626" cy="369332"/>
          </a:xfrm>
          <a:prstGeom prst="rect">
            <a:avLst/>
          </a:prstGeom>
          <a:noFill/>
        </p:spPr>
        <p:txBody>
          <a:bodyPr wrap="square" rtlCol="0">
            <a:spAutoFit/>
          </a:bodyPr>
          <a:lstStyle/>
          <a:p>
            <a:r>
              <a:rPr lang="en-US" dirty="0">
                <a:solidFill>
                  <a:schemeClr val="bg1"/>
                </a:solidFill>
              </a:rPr>
              <a:t>Add me on LinkedIn:</a:t>
            </a:r>
          </a:p>
        </p:txBody>
      </p:sp>
      <p:sp>
        <p:nvSpPr>
          <p:cNvPr id="10" name="Subtitle 2">
            <a:extLst>
              <a:ext uri="{FF2B5EF4-FFF2-40B4-BE49-F238E27FC236}">
                <a16:creationId xmlns:a16="http://schemas.microsoft.com/office/drawing/2014/main" id="{CAEDCF79-6369-3312-C72B-E492C2FFC565}"/>
              </a:ext>
            </a:extLst>
          </p:cNvPr>
          <p:cNvSpPr txBox="1">
            <a:spLocks/>
          </p:cNvSpPr>
          <p:nvPr/>
        </p:nvSpPr>
        <p:spPr>
          <a:xfrm>
            <a:off x="9556546" y="5773504"/>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a:solidFill>
                  <a:schemeClr val="bg1"/>
                </a:solidFill>
              </a:rPr>
              <a:t>@scottsauber</a:t>
            </a:r>
          </a:p>
        </p:txBody>
      </p:sp>
      <p:pic>
        <p:nvPicPr>
          <p:cNvPr id="1026" name="Picture 2" descr="X Logo, symbol, meaning, history, PNG, brand">
            <a:extLst>
              <a:ext uri="{FF2B5EF4-FFF2-40B4-BE49-F238E27FC236}">
                <a16:creationId xmlns:a16="http://schemas.microsoft.com/office/drawing/2014/main" id="{F43D63E0-A688-C307-CCD2-BB6EF250651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06717" y="5871813"/>
            <a:ext cx="493701" cy="277707"/>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Bluesky and your brand by Heidi Waterhouse">
            <a:extLst>
              <a:ext uri="{FF2B5EF4-FFF2-40B4-BE49-F238E27FC236}">
                <a16:creationId xmlns:a16="http://schemas.microsoft.com/office/drawing/2014/main" id="{1CC8890B-0833-1285-D911-117258AB33F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106717" y="6313125"/>
            <a:ext cx="474323" cy="474323"/>
          </a:xfrm>
          <a:prstGeom prst="rect">
            <a:avLst/>
          </a:prstGeom>
          <a:noFill/>
          <a:extLst>
            <a:ext uri="{909E8E84-426E-40DD-AFC4-6F175D3DCCD1}">
              <a14:hiddenFill xmlns:a14="http://schemas.microsoft.com/office/drawing/2010/main">
                <a:solidFill>
                  <a:srgbClr val="FFFFFF"/>
                </a:solidFill>
              </a14:hiddenFill>
            </a:ext>
          </a:extLst>
        </p:spPr>
      </p:pic>
      <p:sp>
        <p:nvSpPr>
          <p:cNvPr id="12" name="Subtitle 2">
            <a:extLst>
              <a:ext uri="{FF2B5EF4-FFF2-40B4-BE49-F238E27FC236}">
                <a16:creationId xmlns:a16="http://schemas.microsoft.com/office/drawing/2014/main" id="{17DCEF15-AD0C-D5B5-B282-2784AFF9A20C}"/>
              </a:ext>
            </a:extLst>
          </p:cNvPr>
          <p:cNvSpPr txBox="1">
            <a:spLocks/>
          </p:cNvSpPr>
          <p:nvPr/>
        </p:nvSpPr>
        <p:spPr>
          <a:xfrm>
            <a:off x="9497554" y="6315097"/>
            <a:ext cx="2785071"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a:solidFill>
                  <a:schemeClr val="bg1"/>
                </a:solidFill>
              </a:rPr>
              <a:t>@scottsauber.com</a:t>
            </a:r>
          </a:p>
        </p:txBody>
      </p:sp>
      <p:pic>
        <p:nvPicPr>
          <p:cNvPr id="9" name="Picture 8">
            <a:extLst>
              <a:ext uri="{FF2B5EF4-FFF2-40B4-BE49-F238E27FC236}">
                <a16:creationId xmlns:a16="http://schemas.microsoft.com/office/drawing/2014/main" id="{DEC1733D-8170-432C-81DC-7929E97F061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21444" y="2403682"/>
            <a:ext cx="1950396" cy="1950396"/>
          </a:xfrm>
          <a:prstGeom prst="rect">
            <a:avLst/>
          </a:prstGeom>
        </p:spPr>
      </p:pic>
    </p:spTree>
    <p:extLst>
      <p:ext uri="{BB962C8B-B14F-4D97-AF65-F5344CB8AC3E}">
        <p14:creationId xmlns:p14="http://schemas.microsoft.com/office/powerpoint/2010/main" val="91098873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F69B6"/>
        </a:solidFill>
        <a:effectLst/>
      </p:bgPr>
    </p:bg>
    <p:spTree>
      <p:nvGrpSpPr>
        <p:cNvPr id="1" name="">
          <a:extLst>
            <a:ext uri="{FF2B5EF4-FFF2-40B4-BE49-F238E27FC236}">
              <a16:creationId xmlns:a16="http://schemas.microsoft.com/office/drawing/2014/main" id="{A9D1A51A-875B-E07C-ABD9-AE99D9ED31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A3368D-36C4-F85D-3772-FC6A8D968AA0}"/>
              </a:ext>
            </a:extLst>
          </p:cNvPr>
          <p:cNvSpPr>
            <a:spLocks noGrp="1"/>
          </p:cNvSpPr>
          <p:nvPr>
            <p:ph type="title"/>
          </p:nvPr>
        </p:nvSpPr>
        <p:spPr>
          <a:xfrm>
            <a:off x="838200" y="564204"/>
            <a:ext cx="10515600" cy="5828432"/>
          </a:xfrm>
        </p:spPr>
        <p:txBody>
          <a:bodyPr>
            <a:normAutofit/>
          </a:bodyPr>
          <a:lstStyle/>
          <a:p>
            <a:pPr algn="ctr"/>
            <a:r>
              <a:rPr lang="en-US" sz="7200" dirty="0">
                <a:solidFill>
                  <a:schemeClr val="bg1"/>
                </a:solidFill>
                <a:latin typeface="+mn-lt"/>
              </a:rPr>
              <a:t>Thanks!</a:t>
            </a:r>
            <a:br>
              <a:rPr lang="en-US" sz="7200" dirty="0">
                <a:solidFill>
                  <a:schemeClr val="bg1"/>
                </a:solidFill>
                <a:latin typeface="+mn-lt"/>
              </a:rPr>
            </a:br>
            <a:endParaRPr lang="en-US" sz="2400" dirty="0">
              <a:solidFill>
                <a:schemeClr val="bg1"/>
              </a:solidFill>
              <a:latin typeface="+mn-lt"/>
            </a:endParaRPr>
          </a:p>
        </p:txBody>
      </p:sp>
      <p:sp>
        <p:nvSpPr>
          <p:cNvPr id="8" name="Subtitle 2">
            <a:extLst>
              <a:ext uri="{FF2B5EF4-FFF2-40B4-BE49-F238E27FC236}">
                <a16:creationId xmlns:a16="http://schemas.microsoft.com/office/drawing/2014/main" id="{FDCEFC7E-CC47-1B39-C15E-FB0E16973278}"/>
              </a:ext>
            </a:extLst>
          </p:cNvPr>
          <p:cNvSpPr txBox="1">
            <a:spLocks/>
          </p:cNvSpPr>
          <p:nvPr/>
        </p:nvSpPr>
        <p:spPr>
          <a:xfrm>
            <a:off x="90625" y="3418380"/>
            <a:ext cx="12192000" cy="337104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sz="3600" dirty="0">
              <a:solidFill>
                <a:schemeClr val="bg1"/>
              </a:solidFill>
              <a:ea typeface="Open Sans" panose="020B0606030504020204" pitchFamily="34" charset="0"/>
              <a:cs typeface="Open Sans" panose="020B0606030504020204" pitchFamily="34" charset="0"/>
            </a:endParaRPr>
          </a:p>
          <a:p>
            <a:endParaRPr lang="en-US" sz="4000" dirty="0">
              <a:solidFill>
                <a:schemeClr val="bg1"/>
              </a:solidFill>
              <a:ea typeface="Open Sans" panose="020B0606030504020204" pitchFamily="34" charset="0"/>
              <a:cs typeface="Open Sans" panose="020B0606030504020204" pitchFamily="34" charset="0"/>
            </a:endParaRPr>
          </a:p>
          <a:p>
            <a:endParaRPr lang="en-US" dirty="0">
              <a:solidFill>
                <a:schemeClr val="bg1"/>
              </a:solidFill>
              <a:ea typeface="Open Sans" panose="020B0606030504020204" pitchFamily="34" charset="0"/>
              <a:cs typeface="Open Sans" panose="020B0606030504020204" pitchFamily="34" charset="0"/>
            </a:endParaRPr>
          </a:p>
          <a:p>
            <a:endParaRPr lang="en-US" dirty="0">
              <a:solidFill>
                <a:schemeClr val="bg1"/>
              </a:solidFill>
              <a:ea typeface="Open Sans" panose="020B0606030504020204" pitchFamily="34" charset="0"/>
              <a:cs typeface="Open Sans" panose="020B0606030504020204" pitchFamily="34" charset="0"/>
            </a:endParaRPr>
          </a:p>
          <a:p>
            <a:pPr marL="0" indent="0">
              <a:buNone/>
            </a:pPr>
            <a:endParaRPr lang="en-US" dirty="0">
              <a:solidFill>
                <a:schemeClr val="bg1"/>
              </a:solidFill>
              <a:ea typeface="Open Sans" panose="020B0606030504020204" pitchFamily="34" charset="0"/>
              <a:cs typeface="Open Sans" panose="020B0606030504020204" pitchFamily="34" charset="0"/>
            </a:endParaRPr>
          </a:p>
          <a:p>
            <a:pPr marL="0" indent="0">
              <a:buNone/>
            </a:pPr>
            <a:r>
              <a:rPr lang="en-US" dirty="0">
                <a:solidFill>
                  <a:schemeClr val="bg1"/>
                </a:solidFill>
                <a:ea typeface="Open Sans" panose="020B0606030504020204" pitchFamily="34" charset="0"/>
                <a:cs typeface="Open Sans" panose="020B0606030504020204" pitchFamily="34" charset="0"/>
              </a:rPr>
              <a:t>Slides at scottsauber.com</a:t>
            </a:r>
          </a:p>
        </p:txBody>
      </p:sp>
      <p:sp>
        <p:nvSpPr>
          <p:cNvPr id="3" name="TextBox 2">
            <a:extLst>
              <a:ext uri="{FF2B5EF4-FFF2-40B4-BE49-F238E27FC236}">
                <a16:creationId xmlns:a16="http://schemas.microsoft.com/office/drawing/2014/main" id="{7E782246-6BA0-EDDE-DCF2-CF6EC464F74C}"/>
              </a:ext>
            </a:extLst>
          </p:cNvPr>
          <p:cNvSpPr txBox="1"/>
          <p:nvPr/>
        </p:nvSpPr>
        <p:spPr>
          <a:xfrm>
            <a:off x="9757202" y="2006898"/>
            <a:ext cx="2278626" cy="369332"/>
          </a:xfrm>
          <a:prstGeom prst="rect">
            <a:avLst/>
          </a:prstGeom>
          <a:noFill/>
        </p:spPr>
        <p:txBody>
          <a:bodyPr wrap="square" rtlCol="0">
            <a:spAutoFit/>
          </a:bodyPr>
          <a:lstStyle/>
          <a:p>
            <a:r>
              <a:rPr lang="en-US" dirty="0">
                <a:solidFill>
                  <a:schemeClr val="bg1"/>
                </a:solidFill>
              </a:rPr>
              <a:t>Add me on LinkedIn:</a:t>
            </a:r>
          </a:p>
        </p:txBody>
      </p:sp>
      <p:pic>
        <p:nvPicPr>
          <p:cNvPr id="9" name="Picture 8">
            <a:extLst>
              <a:ext uri="{FF2B5EF4-FFF2-40B4-BE49-F238E27FC236}">
                <a16:creationId xmlns:a16="http://schemas.microsoft.com/office/drawing/2014/main" id="{B35A39A9-773B-FF19-A0F2-21293EE7404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21444" y="2403682"/>
            <a:ext cx="1950396" cy="1950396"/>
          </a:xfrm>
          <a:prstGeom prst="rect">
            <a:avLst/>
          </a:prstGeom>
        </p:spPr>
      </p:pic>
      <p:sp>
        <p:nvSpPr>
          <p:cNvPr id="4" name="Subtitle 2">
            <a:extLst>
              <a:ext uri="{FF2B5EF4-FFF2-40B4-BE49-F238E27FC236}">
                <a16:creationId xmlns:a16="http://schemas.microsoft.com/office/drawing/2014/main" id="{3FC0A5B0-9F12-2F29-EA35-586474C03292}"/>
              </a:ext>
            </a:extLst>
          </p:cNvPr>
          <p:cNvSpPr txBox="1">
            <a:spLocks/>
          </p:cNvSpPr>
          <p:nvPr/>
        </p:nvSpPr>
        <p:spPr>
          <a:xfrm>
            <a:off x="9556546" y="5773504"/>
            <a:ext cx="2060228"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a:solidFill>
                  <a:schemeClr val="bg1"/>
                </a:solidFill>
              </a:rPr>
              <a:t>@scottsauber</a:t>
            </a:r>
          </a:p>
        </p:txBody>
      </p:sp>
      <p:pic>
        <p:nvPicPr>
          <p:cNvPr id="5" name="Picture 2" descr="X Logo, symbol, meaning, history, PNG, brand">
            <a:extLst>
              <a:ext uri="{FF2B5EF4-FFF2-40B4-BE49-F238E27FC236}">
                <a16:creationId xmlns:a16="http://schemas.microsoft.com/office/drawing/2014/main" id="{0C7B5E18-C67B-31F8-53A9-DDF6A62E30E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106717" y="5871813"/>
            <a:ext cx="493701" cy="277707"/>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4" descr="Bluesky and your brand by Heidi Waterhouse">
            <a:extLst>
              <a:ext uri="{FF2B5EF4-FFF2-40B4-BE49-F238E27FC236}">
                <a16:creationId xmlns:a16="http://schemas.microsoft.com/office/drawing/2014/main" id="{19A09B22-6488-3C9C-DD63-4F56D100808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106717" y="6313125"/>
            <a:ext cx="474323" cy="474323"/>
          </a:xfrm>
          <a:prstGeom prst="rect">
            <a:avLst/>
          </a:prstGeom>
          <a:noFill/>
          <a:extLst>
            <a:ext uri="{909E8E84-426E-40DD-AFC4-6F175D3DCCD1}">
              <a14:hiddenFill xmlns:a14="http://schemas.microsoft.com/office/drawing/2010/main">
                <a:solidFill>
                  <a:srgbClr val="FFFFFF"/>
                </a:solidFill>
              </a14:hiddenFill>
            </a:ext>
          </a:extLst>
        </p:spPr>
      </p:pic>
      <p:sp>
        <p:nvSpPr>
          <p:cNvPr id="7" name="Subtitle 2">
            <a:extLst>
              <a:ext uri="{FF2B5EF4-FFF2-40B4-BE49-F238E27FC236}">
                <a16:creationId xmlns:a16="http://schemas.microsoft.com/office/drawing/2014/main" id="{BC9F2C21-03A9-2153-1D09-C3078F0858A8}"/>
              </a:ext>
            </a:extLst>
          </p:cNvPr>
          <p:cNvSpPr txBox="1">
            <a:spLocks/>
          </p:cNvSpPr>
          <p:nvPr/>
        </p:nvSpPr>
        <p:spPr>
          <a:xfrm>
            <a:off x="9497554" y="6315097"/>
            <a:ext cx="2785071" cy="4743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a:solidFill>
                  <a:schemeClr val="bg1"/>
                </a:solidFill>
              </a:rPr>
              <a:t>@scottsauber.com</a:t>
            </a:r>
          </a:p>
        </p:txBody>
      </p:sp>
    </p:spTree>
    <p:extLst>
      <p:ext uri="{BB962C8B-B14F-4D97-AF65-F5344CB8AC3E}">
        <p14:creationId xmlns:p14="http://schemas.microsoft.com/office/powerpoint/2010/main" val="103562983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29914</TotalTime>
  <Words>1256</Words>
  <Application>Microsoft Macintosh PowerPoint</Application>
  <PresentationFormat>Widescreen</PresentationFormat>
  <Paragraphs>280</Paragraphs>
  <Slides>52</Slides>
  <Notes>52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52</vt:i4>
      </vt:variant>
    </vt:vector>
  </HeadingPairs>
  <TitlesOfParts>
    <vt:vector size="57" baseType="lpstr">
      <vt:lpstr>Arial</vt:lpstr>
      <vt:lpstr>Calibri</vt:lpstr>
      <vt:lpstr>Calibri Light</vt:lpstr>
      <vt:lpstr>Open Sans</vt:lpstr>
      <vt:lpstr>Office Theme</vt:lpstr>
      <vt:lpstr>Test Driven Development with Blazor</vt:lpstr>
      <vt:lpstr>Audience</vt:lpstr>
      <vt:lpstr>Agenda</vt:lpstr>
      <vt:lpstr>Goals</vt:lpstr>
      <vt:lpstr>Who am I? </vt:lpstr>
      <vt:lpstr>Why do we write tests?</vt:lpstr>
      <vt:lpstr>What is TDD?</vt:lpstr>
      <vt:lpstr>What is TDD?</vt:lpstr>
      <vt:lpstr>How to TDD?</vt:lpstr>
      <vt:lpstr>How to TDD?</vt:lpstr>
      <vt:lpstr>PowerPoint Presentation</vt:lpstr>
      <vt:lpstr>Why Test Driven Development?</vt:lpstr>
      <vt:lpstr>What is NOT TDD?</vt:lpstr>
      <vt:lpstr>Applying TDD to Blazor</vt:lpstr>
      <vt:lpstr>Introduction to Tools</vt:lpstr>
      <vt:lpstr>xUnit</vt:lpstr>
      <vt:lpstr>xUnit</vt:lpstr>
      <vt:lpstr>Shouldly</vt:lpstr>
      <vt:lpstr>Shouldly</vt:lpstr>
      <vt:lpstr>bUnit</vt:lpstr>
      <vt:lpstr>bUnit</vt:lpstr>
      <vt:lpstr>What should I test?</vt:lpstr>
      <vt:lpstr>❌   Current Count is an implementation detail, not behavior</vt:lpstr>
      <vt:lpstr>❌   The HTML  is an implementation detail, not behavior</vt:lpstr>
      <vt:lpstr>PowerPoint Presentation</vt:lpstr>
      <vt:lpstr>❌ </vt:lpstr>
      <vt:lpstr>“The more your tests resemble the way your software is used the more confidence they can give you.”  </vt:lpstr>
      <vt:lpstr>What should I NOT test?</vt:lpstr>
      <vt:lpstr>Avoid snapshot tests (like Verify)</vt:lpstr>
      <vt:lpstr>Live Coding!</vt:lpstr>
      <vt:lpstr>Slight TDD Detour</vt:lpstr>
      <vt:lpstr>“Remove everything that has no relevance to the story. If you say in the first chapter that there is a rifle hanging on the wall, in the second or third chapter it absolutely must go off. If it's not going to be fired,  it shouldn't be hanging there.”        Anton Chekhov</vt:lpstr>
      <vt:lpstr>Chekhov’s Gun Applied to Testing</vt:lpstr>
      <vt:lpstr>Chekhov’s Gun Applied to Testing</vt:lpstr>
      <vt:lpstr>Chekhov’s Gun Applied to Testing</vt:lpstr>
      <vt:lpstr>Chekhov’s Gun Applied to Testing</vt:lpstr>
      <vt:lpstr>Chekhov’s Gun Applied to Testing</vt:lpstr>
      <vt:lpstr>&lt;/ ChekhovsGun&gt;</vt:lpstr>
      <vt:lpstr>bunit.web.query</vt:lpstr>
      <vt:lpstr>Live Coding!</vt:lpstr>
      <vt:lpstr>But what about AI?</vt:lpstr>
      <vt:lpstr>Live Coding!</vt:lpstr>
      <vt:lpstr>How can I get started with TDD?</vt:lpstr>
      <vt:lpstr>But I don’t  have time!</vt:lpstr>
      <vt:lpstr>Why?</vt:lpstr>
      <vt:lpstr>My boss won’t let me!</vt:lpstr>
      <vt:lpstr>What about  this person?</vt:lpstr>
      <vt:lpstr>You don’t get better at TDD by NOT doing TDD</vt:lpstr>
      <vt:lpstr>Takeaways</vt:lpstr>
      <vt:lpstr>Resources</vt:lpstr>
      <vt:lpstr>Questions? ssauber@leantechniques.com</vt:lpstr>
      <vt:lpstr>Thanks!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TDD with Blazor</dc:title>
  <dc:creator>Scott Sauber</dc:creator>
  <cp:lastModifiedBy>Scott Sauber</cp:lastModifiedBy>
  <cp:revision>224</cp:revision>
  <dcterms:created xsi:type="dcterms:W3CDTF">2020-03-08T20:31:35Z</dcterms:created>
  <dcterms:modified xsi:type="dcterms:W3CDTF">2026-05-12T10:07:08Z</dcterms:modified>
</cp:coreProperties>
</file>