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447" r:id="rId4"/>
    <p:sldMasterId id="2147485551" r:id="rId5"/>
  </p:sldMasterIdLst>
  <p:notesMasterIdLst>
    <p:notesMasterId r:id="rId23"/>
  </p:notesMasterIdLst>
  <p:handoutMasterIdLst>
    <p:handoutMasterId r:id="rId24"/>
  </p:handoutMasterIdLst>
  <p:sldIdLst>
    <p:sldId id="2147479560" r:id="rId6"/>
    <p:sldId id="2147479495" r:id="rId7"/>
    <p:sldId id="2147479497" r:id="rId8"/>
    <p:sldId id="2147479564" r:id="rId9"/>
    <p:sldId id="2147479523" r:id="rId10"/>
    <p:sldId id="2147479561" r:id="rId11"/>
    <p:sldId id="2147479562" r:id="rId12"/>
    <p:sldId id="2147479563" r:id="rId13"/>
    <p:sldId id="2147479573" r:id="rId14"/>
    <p:sldId id="2147479566" r:id="rId15"/>
    <p:sldId id="2147479518" r:id="rId16"/>
    <p:sldId id="2147479568" r:id="rId17"/>
    <p:sldId id="2147479569" r:id="rId18"/>
    <p:sldId id="2147479570" r:id="rId19"/>
    <p:sldId id="2147479572" r:id="rId20"/>
    <p:sldId id="2147479498" r:id="rId21"/>
    <p:sldId id="2147479554" r:id="rId22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icrosoft Build 16:9 Template Dark" id="{5E174FA5-E68B-46F1-90F9-8D8AC2CB06F9}">
          <p14:sldIdLst>
            <p14:sldId id="2147479560"/>
            <p14:sldId id="2147479495"/>
            <p14:sldId id="2147479497"/>
            <p14:sldId id="2147479564"/>
            <p14:sldId id="2147479523"/>
            <p14:sldId id="2147479561"/>
            <p14:sldId id="2147479562"/>
            <p14:sldId id="2147479563"/>
            <p14:sldId id="2147479573"/>
            <p14:sldId id="2147479566"/>
            <p14:sldId id="2147479518"/>
            <p14:sldId id="2147479568"/>
            <p14:sldId id="2147479569"/>
            <p14:sldId id="2147479570"/>
            <p14:sldId id="2147479572"/>
            <p14:sldId id="2147479498"/>
            <p14:sldId id="2147479554"/>
          </p14:sldIdLst>
        </p14:section>
        <p14:section name="Microsoft Build 16:9 Template Light" id="{38B656EC-D568-4EF7-8842-9FA1AE1192C9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FA61D8-796F-555E-A395-B33F90AAF99E}" name="Monica Lueder" initials="ML" userId="S::monical@microsoft.com::75969e72-ba9c-4e32-a4ac-c8f3aeff9ba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FFFE"/>
    <a:srgbClr val="0078D4"/>
    <a:srgbClr val="D7D2CB"/>
    <a:srgbClr val="E8E6DF"/>
    <a:srgbClr val="E1D3C7"/>
    <a:srgbClr val="9BF00E"/>
    <a:srgbClr val="D59DFF"/>
    <a:srgbClr val="7FBA00"/>
    <a:srgbClr val="00A4EF"/>
    <a:srgbClr val="1A6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20" autoAdjust="0"/>
    <p:restoredTop sz="69235" autoAdjust="0"/>
  </p:normalViewPr>
  <p:slideViewPr>
    <p:cSldViewPr snapToGrid="0">
      <p:cViewPr varScale="1">
        <p:scale>
          <a:sx n="98" d="100"/>
          <a:sy n="98" d="100"/>
        </p:scale>
        <p:origin x="2208" y="184"/>
      </p:cViewPr>
      <p:guideLst/>
    </p:cSldViewPr>
  </p:slideViewPr>
  <p:outlineViewPr>
    <p:cViewPr>
      <p:scale>
        <a:sx n="33" d="100"/>
        <a:sy n="33" d="100"/>
      </p:scale>
      <p:origin x="0" y="-1636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1728"/>
    </p:cViewPr>
  </p:sorterViewPr>
  <p:notesViewPr>
    <p:cSldViewPr snapToGrid="0" showGuides="1">
      <p:cViewPr varScale="1">
        <p:scale>
          <a:sx n="78" d="100"/>
          <a:sy n="78" d="100"/>
        </p:scale>
        <p:origin x="3108" y="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UI" pitchFamily="34" charset="0"/>
              </a:rPr>
              <a:t>7/26/26 8:15 PM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6CE63F-9E7F-4C04-9D0D-FCA25A8E9E86}" type="datetime8">
              <a:rPr lang="en-US" smtClean="0"/>
              <a:t>7/26/26 8:14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7/26/26 8:14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264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62C61DAB-D93E-49CA-B245-379601CFE8D0}" type="datetime8">
              <a:rPr lang="en-US" smtClean="0"/>
              <a:t>7/26/26 8:14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508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7/26/26 8:14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08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6ABA3-2176-A16A-8E0B-F16A4F71D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939B1A-8DEF-E02E-40FF-AA39155B9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B0FF57-1044-1D5F-5757-159E8AB62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4964544-1DE0-FAEA-73C6-0CC88973C05B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361F8-4542-2451-1A90-5C0568032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612F570-9095-FBAB-B89A-F0BE3ADCE87E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49B14B72-BE03-4760-B747-D349DA60D861}" type="datetime8">
              <a:rPr lang="en-US" smtClean="0"/>
              <a:t>7/26/26 8:14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92F5F-FBA1-EB16-E5CC-442DC72601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643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edit your files directly in </a:t>
            </a:r>
            <a:r>
              <a:rPr lang="en-US" dirty="0" err="1"/>
              <a:t>GitHub.com</a:t>
            </a:r>
            <a:r>
              <a:rPr lang="en-US" dirty="0"/>
              <a:t> – hit period and go to </a:t>
            </a:r>
            <a:r>
              <a:rPr lang="en-US" dirty="0" err="1"/>
              <a:t>GitHub.dev</a:t>
            </a:r>
            <a:endParaRPr lang="en-US" dirty="0"/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scottsauber</a:t>
            </a:r>
            <a:r>
              <a:rPr lang="en-US" dirty="0"/>
              <a:t>/workshop-dotnet-azure-</a:t>
            </a:r>
            <a:r>
              <a:rPr lang="en-US" dirty="0" err="1"/>
              <a:t>github</a:t>
            </a:r>
            <a:r>
              <a:rPr lang="en-US" dirty="0"/>
              <a:t>-bicep/tree/main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B16574EE-8191-4BCC-ABE6-D00A4F4D7690}" type="datetime8">
              <a:rPr lang="en-US" smtClean="0"/>
              <a:t>7/26/26 8:14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720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50DDE-6E19-6C1E-BAB2-30F3F9A42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2DDAE6-55E4-6228-F096-D9744F338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8C832E-F6BA-2EEF-E917-D719A298A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Repo =&gt; Settings</a:t>
            </a:r>
          </a:p>
          <a:p>
            <a:pPr marL="171450" indent="-171450">
              <a:buFontTx/>
              <a:buChar char="-"/>
            </a:pPr>
            <a:r>
              <a:rPr lang="en-US" dirty="0"/>
              <a:t>Pick 1 merge strategy, I use Squash because most suck at making good history</a:t>
            </a:r>
          </a:p>
          <a:p>
            <a:pPr marL="171450" indent="-171450">
              <a:buFontTx/>
              <a:buChar char="-"/>
            </a:pPr>
            <a:r>
              <a:rPr lang="en-US" dirty="0"/>
              <a:t>Always suggest updating pull request branches</a:t>
            </a:r>
          </a:p>
          <a:p>
            <a:pPr marL="171450" indent="-171450">
              <a:buFontTx/>
              <a:buChar char="-"/>
            </a:pPr>
            <a:r>
              <a:rPr lang="en-US" dirty="0"/>
              <a:t>Allow Auto Merge</a:t>
            </a:r>
          </a:p>
          <a:p>
            <a:pPr marL="171450" indent="-171450">
              <a:buFontTx/>
              <a:buChar char="-"/>
            </a:pPr>
            <a:r>
              <a:rPr lang="en-US" dirty="0"/>
              <a:t>Automatically delete head branches (GH Flow or TBD)</a:t>
            </a:r>
          </a:p>
          <a:p>
            <a:pPr marL="171450" indent="-171450">
              <a:buFontTx/>
              <a:buChar char="-"/>
            </a:pPr>
            <a:r>
              <a:rPr lang="en-US" dirty="0"/>
              <a:t>Configure required status checks as Ruleset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scottsauber</a:t>
            </a:r>
            <a:r>
              <a:rPr lang="en-US" dirty="0"/>
              <a:t>/workshop-dotnet-azure-</a:t>
            </a:r>
            <a:r>
              <a:rPr lang="en-US" dirty="0" err="1"/>
              <a:t>github</a:t>
            </a:r>
            <a:r>
              <a:rPr lang="en-US" dirty="0"/>
              <a:t>-bicep/settings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B73FEEB-BB80-25EE-51F8-8701F9D34CA7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50984-6448-4CD7-CE97-18A4A1755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3F0E04A-7A99-C3D8-76BE-B25C165A5FD0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B16574EE-8191-4BCC-ABE6-D00A4F4D7690}" type="datetime8">
              <a:rPr lang="en-US" smtClean="0"/>
              <a:t>7/26/26 8:14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F4A187-ABB5-0B63-6700-D8338FE5FD7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834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A6D9A-AD78-5FA2-F121-061697D44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00304D-5C9A-8A40-FB65-082254C77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6B4D8B-82BF-6B5F-D74E-1C2870018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portal.azure.com</a:t>
            </a:r>
            <a:r>
              <a:rPr lang="en-US" dirty="0"/>
              <a:t>/#view/</a:t>
            </a:r>
            <a:r>
              <a:rPr lang="en-US" dirty="0" err="1"/>
              <a:t>Microsoft_AAD_RegisteredApps</a:t>
            </a:r>
            <a:r>
              <a:rPr lang="en-US" dirty="0"/>
              <a:t>/</a:t>
            </a:r>
            <a:r>
              <a:rPr lang="en-US" dirty="0" err="1"/>
              <a:t>EditFederatedCredentialBlade</a:t>
            </a:r>
            <a:r>
              <a:rPr lang="en-US" dirty="0"/>
              <a:t>/</a:t>
            </a:r>
            <a:r>
              <a:rPr lang="en-US" dirty="0" err="1"/>
              <a:t>appId</a:t>
            </a:r>
            <a:r>
              <a:rPr lang="en-US" dirty="0"/>
              <a:t>/f2f3d214-07d3-4a57-ac4f-ab5683817bbf/</a:t>
            </a:r>
            <a:r>
              <a:rPr lang="en-US" dirty="0" err="1"/>
              <a:t>isMSAApp</a:t>
            </a:r>
            <a:r>
              <a:rPr lang="en-US" dirty="0"/>
              <a:t>~/false/</a:t>
            </a:r>
            <a:r>
              <a:rPr lang="en-US" dirty="0" err="1"/>
              <a:t>credentialId</a:t>
            </a:r>
            <a:r>
              <a:rPr lang="en-US" dirty="0"/>
              <a:t>/37463e68-436a-42fd-a22d-de19a2b8895a 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DC1BEA3-111C-3E0B-F4B5-E7D480626C4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20138-357E-E773-36C5-20A6C6D12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3108926-5F58-7F1D-8583-DB5FA3CB0CCA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B16574EE-8191-4BCC-ABE6-D00A4F4D7690}" type="datetime8">
              <a:rPr lang="en-US" smtClean="0"/>
              <a:t>7/26/26 8:14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49B25-9E0D-2C92-D06C-F96719A050E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610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E5E1B-F62F-C539-F1E9-2130EC3DD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B21F9B-8A6E-16CF-6FCB-54809D57B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6E431-6DF9-480B-081B-2F037164C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Ask about repositories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Which repos in my </a:t>
            </a:r>
            <a:r>
              <a:rPr lang="en-US" dirty="0" err="1"/>
              <a:t>scottsauber</a:t>
            </a:r>
            <a:r>
              <a:rPr lang="en-US" dirty="0"/>
              <a:t> org need updated to the latest .NET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</a:p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/copilot/c/d6f8a498-2e67-43ff-8eeb-4179b2f0ce62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117C44F-73CF-3C3C-4206-2DDC8C76306D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38BCA-D3C8-9B7D-D996-704CD4C33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B0CF35E-A1EA-438D-E984-DD97A0A55A0C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B16574EE-8191-4BCC-ABE6-D00A4F4D7690}" type="datetime8">
              <a:rPr lang="en-US" smtClean="0"/>
              <a:t>7/26/26 8:14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5FFD40-56F0-F328-2452-2A679351C13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736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89437-560B-F229-CE15-4ACC5333B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6C79F0-A959-B6F3-52A3-458AF65A4E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98FF16-97E1-4702-D63F-84B8EE80D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scottsauber?tab</a:t>
            </a:r>
            <a:r>
              <a:rPr lang="en-US" dirty="0"/>
              <a:t>=projects</a:t>
            </a:r>
          </a:p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/users/</a:t>
            </a:r>
            <a:r>
              <a:rPr lang="en-US" dirty="0" err="1"/>
              <a:t>scottsauber</a:t>
            </a:r>
            <a:r>
              <a:rPr lang="en-US" dirty="0"/>
              <a:t>/projects/3/views/1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62320E0-FBFA-1BAC-2F4F-EE511E4C49AC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9A4F9-78B5-5BE6-02E5-E382C6251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B1BAF7C-81CD-1096-7E08-2AB52D16B1FE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B16574EE-8191-4BCC-ABE6-D00A4F4D7690}" type="datetime8">
              <a:rPr lang="en-US" smtClean="0"/>
              <a:t>7/26/26 8:14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87BC6-F8DE-BD83-8085-0A6585A66E2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39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64A3B-19E0-23E3-8C47-D9BCCAF94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06AA8E-4B4A-12DE-E048-1AD622334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BC3C7-6630-7563-41E6-D825E79A9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4869761-9DFE-2457-4E14-23F297B5D14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90E21-4D46-C752-E941-77050EE1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CA345D8-4B33-6500-0DF8-74A631204AB1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49B14B72-BE03-4760-B747-D349DA60D861}" type="datetime8">
              <a:rPr lang="en-US" smtClean="0"/>
              <a:t>7/26/26 8:14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667C3-5017-A4FB-7416-0008D363128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364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fld id="{D44C3489-8257-4E60-994D-6A5CEE67ED71}" type="datetime8">
              <a:rPr lang="en-US" smtClean="0"/>
              <a:t>7/26/26 8:14 PM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2737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CC3CA-A939-44BE-FC87-C22730760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2AC5E6-BBDC-A4EA-2257-F84E8CD8A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F0F72E-4311-351E-6566-E90A27979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9AD74-E71D-8FDE-9F08-6E3EBFB16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891C568-E807-C32F-5507-307B7AEFD57A}"/>
              </a:ext>
            </a:extLst>
          </p:cNvPr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fld id="{D44C3489-8257-4E60-994D-6A5CEE67ED71}" type="datetime8">
              <a:rPr lang="en-US" smtClean="0"/>
              <a:t>7/26/26 8:14 PM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C84BA1-7B98-24F5-5C09-AC09B5F9EB4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89E57F9C-01F2-F794-1BF5-E95B89C16ABF}"/>
              </a:ext>
            </a:extLst>
          </p:cNvPr>
          <p:cNvSpPr>
            <a:spLocks noGrp="1"/>
          </p:cNvSpPr>
          <p:nvPr>
            <p:ph type="hdr" sz="quarter" idx="1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1220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DBB7B-4A83-E07A-B45C-1EAF59CA7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8E158-4D00-6BFB-7ABD-D1CFA348B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3BF87C-63DB-9464-C1A1-53A283118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EBA38-3ADA-8B4E-02B7-61744ACFD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F334FC8-BEF4-2CFF-983F-7141834E354A}"/>
              </a:ext>
            </a:extLst>
          </p:cNvPr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fld id="{D44C3489-8257-4E60-994D-6A5CEE67ED71}" type="datetime8">
              <a:rPr lang="en-US" smtClean="0"/>
              <a:t>7/26/26 8:14 PM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A2F4D-CEB7-6430-AB36-EC3ED97BCB8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EC4C43D2-9E96-FC96-8766-C55AB87B3211}"/>
              </a:ext>
            </a:extLst>
          </p:cNvPr>
          <p:cNvSpPr>
            <a:spLocks noGrp="1"/>
          </p:cNvSpPr>
          <p:nvPr>
            <p:ph type="hdr" sz="quarter" idx="1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5532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AF63E-ED8C-96A8-03B1-19D154BA0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7C794-6FD6-D16D-29BA-BAB1ADC85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88B955-D7CD-80B8-0C3D-97F500ED38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scottsauber</a:t>
            </a:r>
            <a:r>
              <a:rPr lang="en-US" dirty="0"/>
              <a:t>/workshop-dotnet-azure-</a:t>
            </a:r>
            <a:r>
              <a:rPr lang="en-US" dirty="0" err="1"/>
              <a:t>github</a:t>
            </a:r>
            <a:r>
              <a:rPr lang="en-US" dirty="0"/>
              <a:t>-bicep/</a:t>
            </a:r>
            <a:r>
              <a:rPr lang="en-US" dirty="0" err="1"/>
              <a:t>agents?q</a:t>
            </a:r>
            <a:r>
              <a:rPr lang="en-US" dirty="0"/>
              <a:t>=is%3Aopen+author%3A%40me</a:t>
            </a:r>
          </a:p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scottsauber</a:t>
            </a:r>
            <a:r>
              <a:rPr lang="en-US" dirty="0"/>
              <a:t>/workshop-dotnet-azure-</a:t>
            </a:r>
            <a:r>
              <a:rPr lang="en-US" dirty="0" err="1"/>
              <a:t>github</a:t>
            </a:r>
            <a:r>
              <a:rPr lang="en-US" dirty="0"/>
              <a:t>-bicep/tasks/bd0bec99-f184-4649-b849-17b185607bd4?q=is%3Aopen+author%3A%40me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19FDFD7-E046-8542-F29A-5586D6B1875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E764D-23E6-E9E3-576C-447D0D3A4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C1F6349-ACB7-E54B-5771-4A8DCDC75A93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B16574EE-8191-4BCC-ABE6-D00A4F4D7690}" type="datetime8">
              <a:rPr lang="en-US" smtClean="0"/>
              <a:t>7/26/26 8:14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F779E-A189-C230-B6C7-CA8292ECBB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0434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9219F-D546-CE3E-ADE0-FDE9962C1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9EA010-9776-838D-5985-06829890B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A32904-469E-BD47-C379-4AF83FBB0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leantechniques</a:t>
            </a:r>
            <a:r>
              <a:rPr lang="en-US" dirty="0"/>
              <a:t>/agent-ready-assessment/pull/45</a:t>
            </a:r>
          </a:p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vscode.dev</a:t>
            </a:r>
            <a:r>
              <a:rPr lang="en-US" dirty="0"/>
              <a:t>/</a:t>
            </a:r>
            <a:r>
              <a:rPr lang="en-US" dirty="0" err="1"/>
              <a:t>github</a:t>
            </a:r>
            <a:r>
              <a:rPr lang="en-US" dirty="0"/>
              <a:t>/</a:t>
            </a:r>
            <a:r>
              <a:rPr lang="en-US" dirty="0" err="1"/>
              <a:t>leantechniques</a:t>
            </a:r>
            <a:r>
              <a:rPr lang="en-US" dirty="0"/>
              <a:t>/agent-ready-assessment/blob/main/.</a:t>
            </a:r>
            <a:r>
              <a:rPr lang="en-US" dirty="0" err="1"/>
              <a:t>github</a:t>
            </a:r>
            <a:r>
              <a:rPr lang="en-US" dirty="0"/>
              <a:t>/workflows/docs-</a:t>
            </a:r>
            <a:r>
              <a:rPr lang="en-US" dirty="0" err="1"/>
              <a:t>current.md</a:t>
            </a:r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A7C5F81-5514-37D8-E6F9-B0E54D77F1D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EEAE-75A7-1546-F24D-1CF68E267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C0A603B-05B9-A84A-6D1F-9EA47DBCE811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B16574EE-8191-4BCC-ABE6-D00A4F4D7690}" type="datetime8">
              <a:rPr lang="en-US" smtClean="0"/>
              <a:t>7/26/26 8:14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F7D03-D477-FE1F-2D3B-54748A92BEB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5223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72E0C910-0166-48E0-B8EF-5071277A02A8}" type="datetime8">
              <a:rPr lang="en-US" smtClean="0"/>
              <a:t>7/26/26 8:14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999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jp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jp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jp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3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jp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8.jp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3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jp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61F197-BBD3-F0CF-61A3-8C722BAA63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971" t="27592" r="22666" b="8704"/>
          <a:stretch>
            <a:fillRect/>
          </a:stretch>
        </p:blipFill>
        <p:spPr>
          <a:xfrm>
            <a:off x="293688" y="1892300"/>
            <a:ext cx="9066212" cy="4368800"/>
          </a:xfrm>
          <a:prstGeom prst="rect">
            <a:avLst/>
          </a:prstGeom>
        </p:spPr>
      </p:pic>
      <p:pic>
        <p:nvPicPr>
          <p:cNvPr id="5" name="MS logo gray - EMF" descr="Microsoft logo, gray text version">
            <a:extLst>
              <a:ext uri="{FF2B5EF4-FFF2-40B4-BE49-F238E27FC236}">
                <a16:creationId xmlns:a16="http://schemas.microsoft.com/office/drawing/2014/main" id="{5E852628-66D0-63A4-2D1F-5C71AC7C4B4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2912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199" y="3962399"/>
            <a:ext cx="5577839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2" name="MS logo gray - EMF" descr="Microsoft logo, gray text version">
            <a:extLst>
              <a:ext uri="{FF2B5EF4-FFF2-40B4-BE49-F238E27FC236}">
                <a16:creationId xmlns:a16="http://schemas.microsoft.com/office/drawing/2014/main" id="{29DE1A84-7895-6C86-55F4-BD33491BA5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9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224827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5798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309146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42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13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68972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113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2656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3244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172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6267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333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7447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25968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 dirty="0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638885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4461739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06056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84805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54328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229000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568238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13571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918695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661383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368245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0101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367421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1236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838939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572822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2173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54422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8486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657639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692859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857840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98641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4008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4008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56031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D7D2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812763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3E71AD-28C0-A891-7383-A422FAE801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008" r="8017" b="55921"/>
          <a:stretch>
            <a:fillRect/>
          </a:stretch>
        </p:blipFill>
        <p:spPr>
          <a:xfrm flipH="1">
            <a:off x="0" y="3744563"/>
            <a:ext cx="12192000" cy="311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56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84628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53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260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1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65474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56137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93A7DCC4-90CB-5487-9CD7-96D3ADB377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771300-CAF5-B6B5-CF45-EBEDBBBD5AC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2971" t="27592" r="22666" b="8704"/>
          <a:stretch>
            <a:fillRect/>
          </a:stretch>
        </p:blipFill>
        <p:spPr>
          <a:xfrm>
            <a:off x="293688" y="1892300"/>
            <a:ext cx="9066212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230062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1"/>
            <a:ext cx="5577840" cy="1107996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399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8C97F8FC-6154-33A9-9E6C-1A787DA153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9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74FE235F-02A3-CF25-8716-2552AE8442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841492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6165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860430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8207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9391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CBEB8-AFEF-362F-CB36-DC00FA4C6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149028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4405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566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864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9220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9365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2234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177231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422629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 dirty="0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26482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35319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7652569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308441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795765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143176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275454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33936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594090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43598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024787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288631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803741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746176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933605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631312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4730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623114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61019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7694826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1548049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8432662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78140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4008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4EFFFE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4008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859667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55963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4EFFFE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E92415-D13E-5E6D-DBFD-80D73DF182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008" r="8017" b="55921"/>
          <a:stretch>
            <a:fillRect/>
          </a:stretch>
        </p:blipFill>
        <p:spPr>
          <a:xfrm flipH="1">
            <a:off x="0" y="3744563"/>
            <a:ext cx="12192000" cy="311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985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374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3786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314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580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523109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2971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75.xml"/><Relationship Id="rId39" Type="http://schemas.openxmlformats.org/officeDocument/2006/relationships/slideLayout" Target="../slideLayouts/slideLayout88.xml"/><Relationship Id="rId21" Type="http://schemas.openxmlformats.org/officeDocument/2006/relationships/slideLayout" Target="../slideLayouts/slideLayout70.xml"/><Relationship Id="rId34" Type="http://schemas.openxmlformats.org/officeDocument/2006/relationships/slideLayout" Target="../slideLayouts/slideLayout83.xml"/><Relationship Id="rId42" Type="http://schemas.openxmlformats.org/officeDocument/2006/relationships/slideLayout" Target="../slideLayouts/slideLayout91.xml"/><Relationship Id="rId47" Type="http://schemas.openxmlformats.org/officeDocument/2006/relationships/slideLayout" Target="../slideLayouts/slideLayout96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9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73.xml"/><Relationship Id="rId32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86.xml"/><Relationship Id="rId40" Type="http://schemas.openxmlformats.org/officeDocument/2006/relationships/slideLayout" Target="../slideLayouts/slideLayout89.xml"/><Relationship Id="rId45" Type="http://schemas.openxmlformats.org/officeDocument/2006/relationships/slideLayout" Target="../slideLayouts/slideLayout94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72.xml"/><Relationship Id="rId28" Type="http://schemas.openxmlformats.org/officeDocument/2006/relationships/slideLayout" Target="../slideLayouts/slideLayout77.xml"/><Relationship Id="rId36" Type="http://schemas.openxmlformats.org/officeDocument/2006/relationships/slideLayout" Target="../slideLayouts/slideLayout85.xml"/><Relationship Id="rId49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80.xml"/><Relationship Id="rId44" Type="http://schemas.openxmlformats.org/officeDocument/2006/relationships/slideLayout" Target="../slideLayouts/slideLayout93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71.xml"/><Relationship Id="rId27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9.xml"/><Relationship Id="rId35" Type="http://schemas.openxmlformats.org/officeDocument/2006/relationships/slideLayout" Target="../slideLayouts/slideLayout84.xml"/><Relationship Id="rId43" Type="http://schemas.openxmlformats.org/officeDocument/2006/relationships/slideLayout" Target="../slideLayouts/slideLayout92.xml"/><Relationship Id="rId48" Type="http://schemas.openxmlformats.org/officeDocument/2006/relationships/slideLayout" Target="../slideLayouts/slideLayout97.xml"/><Relationship Id="rId8" Type="http://schemas.openxmlformats.org/officeDocument/2006/relationships/slideLayout" Target="../slideLayouts/slideLayout57.xml"/><Relationship Id="rId51" Type="http://schemas.openxmlformats.org/officeDocument/2006/relationships/image" Target="../media/image1.svg"/><Relationship Id="rId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82.xml"/><Relationship Id="rId38" Type="http://schemas.openxmlformats.org/officeDocument/2006/relationships/slideLayout" Target="../slideLayouts/slideLayout87.xml"/><Relationship Id="rId46" Type="http://schemas.openxmlformats.org/officeDocument/2006/relationships/slideLayout" Target="../slideLayouts/slideLayout95.xml"/><Relationship Id="rId20" Type="http://schemas.openxmlformats.org/officeDocument/2006/relationships/slideLayout" Target="../slideLayouts/slideLayout69.xml"/><Relationship Id="rId41" Type="http://schemas.openxmlformats.org/officeDocument/2006/relationships/slideLayout" Target="../slideLayouts/slideLayout90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07" r:id="rId1"/>
    <p:sldLayoutId id="2147485450" r:id="rId2"/>
    <p:sldLayoutId id="2147485451" r:id="rId3"/>
    <p:sldLayoutId id="2147485452" r:id="rId4"/>
    <p:sldLayoutId id="2147485453" r:id="rId5"/>
    <p:sldLayoutId id="2147485454" r:id="rId6"/>
    <p:sldLayoutId id="2147485455" r:id="rId7"/>
    <p:sldLayoutId id="2147485456" r:id="rId8"/>
    <p:sldLayoutId id="2147485457" r:id="rId9"/>
    <p:sldLayoutId id="2147485458" r:id="rId10"/>
    <p:sldLayoutId id="2147485459" r:id="rId11"/>
    <p:sldLayoutId id="2147485460" r:id="rId12"/>
    <p:sldLayoutId id="2147485461" r:id="rId13"/>
    <p:sldLayoutId id="2147485462" r:id="rId14"/>
    <p:sldLayoutId id="2147485463" r:id="rId15"/>
    <p:sldLayoutId id="2147485464" r:id="rId16"/>
    <p:sldLayoutId id="2147485465" r:id="rId17"/>
    <p:sldLayoutId id="2147485466" r:id="rId18"/>
    <p:sldLayoutId id="2147485467" r:id="rId19"/>
    <p:sldLayoutId id="2147485468" r:id="rId20"/>
    <p:sldLayoutId id="2147485469" r:id="rId21"/>
    <p:sldLayoutId id="2147485470" r:id="rId22"/>
    <p:sldLayoutId id="2147485471" r:id="rId23"/>
    <p:sldLayoutId id="2147485472" r:id="rId24"/>
    <p:sldLayoutId id="2147485473" r:id="rId25"/>
    <p:sldLayoutId id="2147485474" r:id="rId26"/>
    <p:sldLayoutId id="2147485475" r:id="rId27"/>
    <p:sldLayoutId id="2147485476" r:id="rId28"/>
    <p:sldLayoutId id="2147485477" r:id="rId29"/>
    <p:sldLayoutId id="2147485478" r:id="rId30"/>
    <p:sldLayoutId id="2147485479" r:id="rId31"/>
    <p:sldLayoutId id="2147485480" r:id="rId32"/>
    <p:sldLayoutId id="2147485481" r:id="rId33"/>
    <p:sldLayoutId id="2147485482" r:id="rId34"/>
    <p:sldLayoutId id="2147485483" r:id="rId35"/>
    <p:sldLayoutId id="2147485484" r:id="rId36"/>
    <p:sldLayoutId id="2147485485" r:id="rId37"/>
    <p:sldLayoutId id="2147485486" r:id="rId38"/>
    <p:sldLayoutId id="2147485487" r:id="rId39"/>
    <p:sldLayoutId id="2147485488" r:id="rId40"/>
    <p:sldLayoutId id="2147485489" r:id="rId41"/>
    <p:sldLayoutId id="2147485490" r:id="rId42"/>
    <p:sldLayoutId id="2147485491" r:id="rId43"/>
    <p:sldLayoutId id="2147485492" r:id="rId44"/>
    <p:sldLayoutId id="2147485493" r:id="rId45"/>
    <p:sldLayoutId id="2147485494" r:id="rId46"/>
    <p:sldLayoutId id="2147485495" r:id="rId47"/>
    <p:sldLayoutId id="2147485496" r:id="rId48"/>
    <p:sldLayoutId id="2147485603" r:id="rId49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31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601" r:id="rId1"/>
    <p:sldLayoutId id="2147485554" r:id="rId2"/>
    <p:sldLayoutId id="2147485555" r:id="rId3"/>
    <p:sldLayoutId id="2147485556" r:id="rId4"/>
    <p:sldLayoutId id="2147485557" r:id="rId5"/>
    <p:sldLayoutId id="2147485558" r:id="rId6"/>
    <p:sldLayoutId id="2147485559" r:id="rId7"/>
    <p:sldLayoutId id="2147485560" r:id="rId8"/>
    <p:sldLayoutId id="2147485561" r:id="rId9"/>
    <p:sldLayoutId id="2147485562" r:id="rId10"/>
    <p:sldLayoutId id="2147485563" r:id="rId11"/>
    <p:sldLayoutId id="2147485564" r:id="rId12"/>
    <p:sldLayoutId id="2147485565" r:id="rId13"/>
    <p:sldLayoutId id="2147485566" r:id="rId14"/>
    <p:sldLayoutId id="2147485567" r:id="rId15"/>
    <p:sldLayoutId id="2147485568" r:id="rId16"/>
    <p:sldLayoutId id="2147485569" r:id="rId17"/>
    <p:sldLayoutId id="2147485570" r:id="rId18"/>
    <p:sldLayoutId id="2147485571" r:id="rId19"/>
    <p:sldLayoutId id="2147485572" r:id="rId20"/>
    <p:sldLayoutId id="2147485573" r:id="rId21"/>
    <p:sldLayoutId id="2147485574" r:id="rId22"/>
    <p:sldLayoutId id="2147485575" r:id="rId23"/>
    <p:sldLayoutId id="2147485576" r:id="rId24"/>
    <p:sldLayoutId id="2147485577" r:id="rId25"/>
    <p:sldLayoutId id="2147485578" r:id="rId26"/>
    <p:sldLayoutId id="2147485579" r:id="rId27"/>
    <p:sldLayoutId id="2147485580" r:id="rId28"/>
    <p:sldLayoutId id="2147485581" r:id="rId29"/>
    <p:sldLayoutId id="2147485582" r:id="rId30"/>
    <p:sldLayoutId id="2147485583" r:id="rId31"/>
    <p:sldLayoutId id="2147485584" r:id="rId32"/>
    <p:sldLayoutId id="2147485585" r:id="rId33"/>
    <p:sldLayoutId id="2147485586" r:id="rId34"/>
    <p:sldLayoutId id="2147485587" r:id="rId35"/>
    <p:sldLayoutId id="2147485588" r:id="rId36"/>
    <p:sldLayoutId id="2147485589" r:id="rId37"/>
    <p:sldLayoutId id="2147485590" r:id="rId38"/>
    <p:sldLayoutId id="2147485591" r:id="rId39"/>
    <p:sldLayoutId id="2147485592" r:id="rId40"/>
    <p:sldLayoutId id="2147485593" r:id="rId41"/>
    <p:sldLayoutId id="2147485594" r:id="rId42"/>
    <p:sldLayoutId id="2147485595" r:id="rId43"/>
    <p:sldLayoutId id="2147485596" r:id="rId44"/>
    <p:sldLayoutId id="2147485597" r:id="rId45"/>
    <p:sldLayoutId id="2147485598" r:id="rId46"/>
    <p:sldLayoutId id="2147485599" r:id="rId47"/>
    <p:sldLayoutId id="2147485600" r:id="rId48"/>
    <p:sldLayoutId id="2147485602" r:id="rId49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9D57F-076E-AA58-BDFF-8F3981582F1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88263" y="-630197"/>
            <a:ext cx="11018520" cy="553998"/>
          </a:xfrm>
        </p:spPr>
        <p:txBody>
          <a:bodyPr/>
          <a:lstStyle/>
          <a:p>
            <a:r>
              <a:rPr lang="en-US" dirty="0">
                <a:noFill/>
              </a:rPr>
              <a:t>Microsoft Build</a:t>
            </a:r>
          </a:p>
        </p:txBody>
      </p:sp>
    </p:spTree>
    <p:extLst>
      <p:ext uri="{BB962C8B-B14F-4D97-AF65-F5344CB8AC3E}">
        <p14:creationId xmlns:p14="http://schemas.microsoft.com/office/powerpoint/2010/main" val="117093670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84200" y="2302671"/>
            <a:ext cx="5577840" cy="1231106"/>
          </a:xfrm>
        </p:spPr>
        <p:txBody>
          <a:bodyPr/>
          <a:lstStyle/>
          <a:p>
            <a:r>
              <a:rPr lang="en-US" b="1" dirty="0"/>
              <a:t>Beyond the Basics: What GitHub Can Do Today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584200" y="3962399"/>
            <a:ext cx="5577840" cy="923330"/>
          </a:xfrm>
        </p:spPr>
        <p:txBody>
          <a:bodyPr/>
          <a:lstStyle/>
          <a:p>
            <a:r>
              <a:rPr lang="en-US" sz="2400" b="1" dirty="0"/>
              <a:t>Scott Sauber</a:t>
            </a:r>
          </a:p>
          <a:p>
            <a:r>
              <a:rPr lang="en-US" dirty="0"/>
              <a:t>Director of Engineering</a:t>
            </a:r>
          </a:p>
          <a:p>
            <a:r>
              <a:rPr lang="en-US" dirty="0"/>
              <a:t>Lean </a:t>
            </a:r>
            <a:r>
              <a:rPr lang="en-US" dirty="0" err="1"/>
              <a:t>TECHniques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98445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7BF15BD-001C-49B3-9A01-B39DEDA47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1F6BD0B-C4D8-42DE-A3A7-50D8219CE6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4465838"/>
          </a:xfrm>
        </p:spPr>
        <p:txBody>
          <a:bodyPr/>
          <a:lstStyle/>
          <a:p>
            <a:r>
              <a:rPr lang="en-US" dirty="0"/>
              <a:t>Series of Lightning Talks</a:t>
            </a:r>
          </a:p>
          <a:p>
            <a:r>
              <a:rPr lang="en-US" dirty="0"/>
              <a:t>GitHub Code Collaboration</a:t>
            </a:r>
          </a:p>
          <a:p>
            <a:pPr lvl="1"/>
            <a:r>
              <a:rPr lang="en-US" sz="1500" dirty="0" err="1"/>
              <a:t>VSCode.dev</a:t>
            </a:r>
            <a:r>
              <a:rPr lang="en-US" sz="1500" dirty="0"/>
              <a:t> web editor</a:t>
            </a:r>
          </a:p>
          <a:p>
            <a:pPr lvl="1"/>
            <a:r>
              <a:rPr lang="en-US" sz="1500" dirty="0"/>
              <a:t>Optimal GitHub Settings</a:t>
            </a:r>
          </a:p>
          <a:p>
            <a:pPr lvl="1"/>
            <a:r>
              <a:rPr lang="en-US" sz="1500" dirty="0"/>
              <a:t>Federated Credentials to deploy to Azure</a:t>
            </a:r>
          </a:p>
          <a:p>
            <a:pPr lvl="1"/>
            <a:r>
              <a:rPr lang="en-US" sz="1500" dirty="0"/>
              <a:t>Ask GitHub about your codebases</a:t>
            </a:r>
          </a:p>
          <a:p>
            <a:pPr lvl="1"/>
            <a:r>
              <a:rPr lang="en-US" sz="1500" dirty="0"/>
              <a:t>GitHub Projects</a:t>
            </a:r>
          </a:p>
          <a:p>
            <a:r>
              <a:rPr lang="en-US" dirty="0"/>
              <a:t>GitHub Actions + Agents</a:t>
            </a:r>
          </a:p>
          <a:p>
            <a:pPr lvl="1"/>
            <a:r>
              <a:rPr lang="en-US" sz="1500" dirty="0"/>
              <a:t>Run scheduled jobs</a:t>
            </a:r>
          </a:p>
          <a:p>
            <a:pPr lvl="1"/>
            <a:r>
              <a:rPr lang="en-US" sz="1500" dirty="0"/>
              <a:t>Reusing workflows </a:t>
            </a:r>
          </a:p>
          <a:p>
            <a:pPr lvl="1"/>
            <a:r>
              <a:rPr lang="en-US" sz="1500" dirty="0"/>
              <a:t>Path filters</a:t>
            </a:r>
          </a:p>
          <a:p>
            <a:pPr lvl="1"/>
            <a:r>
              <a:rPr lang="en-US" sz="1500" dirty="0"/>
              <a:t>Use Copilot to optimize your workflow’s run time</a:t>
            </a:r>
          </a:p>
          <a:p>
            <a:pPr lvl="1"/>
            <a:r>
              <a:rPr lang="en-US" sz="1500" dirty="0"/>
              <a:t>GitHub Agentic Workflows</a:t>
            </a:r>
          </a:p>
        </p:txBody>
      </p:sp>
    </p:spTree>
    <p:extLst>
      <p:ext uri="{BB962C8B-B14F-4D97-AF65-F5344CB8AC3E}">
        <p14:creationId xmlns:p14="http://schemas.microsoft.com/office/powerpoint/2010/main" val="410030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360B1-F8A6-8AB8-C10A-8B95A2828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56013F2-2245-9748-3A89-CE116A892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499" y="2875002"/>
            <a:ext cx="4159950" cy="1107996"/>
          </a:xfrm>
        </p:spPr>
        <p:txBody>
          <a:bodyPr/>
          <a:lstStyle/>
          <a:p>
            <a:r>
              <a:rPr lang="en-US" dirty="0"/>
              <a:t>GitHub Code Collaboration Tips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28903F-FEC9-DE27-629A-AF8BB6617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838" y="2819400"/>
            <a:ext cx="12446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217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– </a:t>
            </a:r>
            <a:r>
              <a:rPr lang="en-US"/>
              <a:t>VSCode.</a:t>
            </a:r>
            <a:r>
              <a:rPr lang="en-US" dirty="0" err="1"/>
              <a:t>dev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73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F97D5-B632-4EE2-5E80-58BC6036F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12CB23-159A-8592-0EE3-A81102EDB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2423825"/>
            <a:ext cx="7352284" cy="1107996"/>
          </a:xfrm>
        </p:spPr>
        <p:txBody>
          <a:bodyPr/>
          <a:lstStyle/>
          <a:p>
            <a:r>
              <a:rPr lang="en-US" dirty="0"/>
              <a:t>Demo – Optimal GitHub Settings</a:t>
            </a:r>
          </a:p>
        </p:txBody>
      </p:sp>
    </p:spTree>
    <p:extLst>
      <p:ext uri="{BB962C8B-B14F-4D97-AF65-F5344CB8AC3E}">
        <p14:creationId xmlns:p14="http://schemas.microsoft.com/office/powerpoint/2010/main" val="2771135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6A3B4-245B-9AD6-490D-89FABA8EB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F1F374-6524-5B2C-EF78-5A437B5E7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2977823"/>
            <a:ext cx="7352284" cy="553998"/>
          </a:xfrm>
        </p:spPr>
        <p:txBody>
          <a:bodyPr/>
          <a:lstStyle/>
          <a:p>
            <a:r>
              <a:rPr lang="en-US" dirty="0"/>
              <a:t>Demo – Federated Credentials</a:t>
            </a:r>
          </a:p>
        </p:txBody>
      </p:sp>
    </p:spTree>
    <p:extLst>
      <p:ext uri="{BB962C8B-B14F-4D97-AF65-F5344CB8AC3E}">
        <p14:creationId xmlns:p14="http://schemas.microsoft.com/office/powerpoint/2010/main" val="1085137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54D48-DE72-48DD-460D-99FCBA87E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8FCB87-A529-2536-A8C5-C4C1DD039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2977823"/>
            <a:ext cx="7352284" cy="553998"/>
          </a:xfrm>
        </p:spPr>
        <p:txBody>
          <a:bodyPr/>
          <a:lstStyle/>
          <a:p>
            <a:r>
              <a:rPr lang="en-US" dirty="0"/>
              <a:t>Demo – Ask GitHub</a:t>
            </a:r>
          </a:p>
        </p:txBody>
      </p:sp>
    </p:spTree>
    <p:extLst>
      <p:ext uri="{BB962C8B-B14F-4D97-AF65-F5344CB8AC3E}">
        <p14:creationId xmlns:p14="http://schemas.microsoft.com/office/powerpoint/2010/main" val="409577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8EB5C-4CE9-DD15-1C1C-36BF13938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009395-7011-4BCB-6A80-F407B83D0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2977823"/>
            <a:ext cx="8046720" cy="553998"/>
          </a:xfrm>
        </p:spPr>
        <p:txBody>
          <a:bodyPr/>
          <a:lstStyle/>
          <a:p>
            <a:r>
              <a:rPr lang="en-US" dirty="0"/>
              <a:t>Demo – GitHub Projects</a:t>
            </a:r>
          </a:p>
        </p:txBody>
      </p:sp>
    </p:spTree>
    <p:extLst>
      <p:ext uri="{BB962C8B-B14F-4D97-AF65-F5344CB8AC3E}">
        <p14:creationId xmlns:p14="http://schemas.microsoft.com/office/powerpoint/2010/main" val="228079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E4956-C224-B010-0CDF-CCC3D3754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EEA1D13-FEDB-8A68-BA0B-361547AA0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499" y="2875002"/>
            <a:ext cx="5769340" cy="1107996"/>
          </a:xfrm>
        </p:spPr>
        <p:txBody>
          <a:bodyPr/>
          <a:lstStyle/>
          <a:p>
            <a:r>
              <a:rPr lang="en-US" dirty="0"/>
              <a:t>GitHub Actions/Agents Tips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776E72-1E0C-7EE9-2FFE-5678AA453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838" y="2819400"/>
            <a:ext cx="12446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545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Scheduled Jobs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E4170E-63AA-43C4-A6A1-CFD422B79A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scheduled-</a:t>
            </a:r>
            <a:r>
              <a:rPr lang="en-US" dirty="0" err="1"/>
              <a:t>job.yml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1255344"/>
          </a:xfrm>
        </p:spPr>
        <p:txBody>
          <a:bodyPr/>
          <a:lstStyle/>
          <a:p>
            <a:r>
              <a:rPr lang="en-US" sz="2399" dirty="0">
                <a:solidFill>
                  <a:srgbClr val="73391D"/>
                </a:solidFill>
              </a:rPr>
              <a:t>on:</a:t>
            </a:r>
          </a:p>
          <a:p>
            <a:r>
              <a:rPr lang="en-US" sz="2399" dirty="0">
                <a:solidFill>
                  <a:srgbClr val="73391D"/>
                </a:solidFill>
              </a:rPr>
              <a:t>  schedule:</a:t>
            </a:r>
          </a:p>
          <a:p>
            <a:r>
              <a:rPr lang="en-US" sz="2399" dirty="0">
                <a:solidFill>
                  <a:srgbClr val="73391D"/>
                </a:solidFill>
              </a:rPr>
              <a:t>    - </a:t>
            </a:r>
            <a:r>
              <a:rPr lang="en-US" sz="2399" dirty="0" err="1">
                <a:solidFill>
                  <a:srgbClr val="73391D"/>
                </a:solidFill>
              </a:rPr>
              <a:t>cron</a:t>
            </a:r>
            <a:r>
              <a:rPr lang="en-US" sz="2399" dirty="0">
                <a:solidFill>
                  <a:srgbClr val="73391D"/>
                </a:solidFill>
              </a:rPr>
              <a:t>: </a:t>
            </a:r>
            <a:r>
              <a:rPr lang="en-US" sz="2399" dirty="0">
                <a:solidFill>
                  <a:srgbClr val="0000FF"/>
                </a:solidFill>
              </a:rPr>
              <a:t>"0 * * * *" </a:t>
            </a:r>
            <a:r>
              <a:rPr lang="en-US" sz="2399" dirty="0">
                <a:solidFill>
                  <a:srgbClr val="07641D"/>
                </a:solidFill>
              </a:rPr>
              <a:t># runs every hour</a:t>
            </a:r>
          </a:p>
        </p:txBody>
      </p:sp>
    </p:spTree>
    <p:extLst>
      <p:ext uri="{BB962C8B-B14F-4D97-AF65-F5344CB8AC3E}">
        <p14:creationId xmlns:p14="http://schemas.microsoft.com/office/powerpoint/2010/main" val="3985778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F1684-4065-B1F9-5659-8096BCB95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CABA92-6C5B-FDDE-A005-6B361B0CF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Reusable Workflows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B5DAC7-9CDF-6366-F0FB-4EFCE6FA64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6740" y="1547164"/>
            <a:ext cx="11018520" cy="5109091"/>
          </a:xfrm>
        </p:spPr>
        <p:txBody>
          <a:bodyPr/>
          <a:lstStyle/>
          <a:p>
            <a:r>
              <a:rPr lang="en-US" sz="2000" dirty="0">
                <a:solidFill>
                  <a:srgbClr val="07641D"/>
                </a:solidFill>
              </a:rPr>
              <a:t># in reusable workflow</a:t>
            </a:r>
            <a:endParaRPr lang="en-US" sz="2000" dirty="0">
              <a:solidFill>
                <a:srgbClr val="73391D"/>
              </a:solidFill>
            </a:endParaRPr>
          </a:p>
          <a:p>
            <a:r>
              <a:rPr lang="en-US" sz="2000" dirty="0">
                <a:solidFill>
                  <a:srgbClr val="73391D"/>
                </a:solidFill>
              </a:rPr>
              <a:t>on:</a:t>
            </a:r>
          </a:p>
          <a:p>
            <a:r>
              <a:rPr lang="en-US" sz="2000" dirty="0">
                <a:solidFill>
                  <a:srgbClr val="73391D"/>
                </a:solidFill>
              </a:rPr>
              <a:t>  </a:t>
            </a:r>
            <a:r>
              <a:rPr lang="en-US" sz="2000" dirty="0" err="1">
                <a:solidFill>
                  <a:srgbClr val="73391D"/>
                </a:solidFill>
              </a:rPr>
              <a:t>workflow_call</a:t>
            </a:r>
            <a:r>
              <a:rPr lang="en-US" sz="2000" dirty="0">
                <a:solidFill>
                  <a:srgbClr val="73391D"/>
                </a:solidFill>
              </a:rPr>
              <a:t>:</a:t>
            </a:r>
          </a:p>
          <a:p>
            <a:r>
              <a:rPr lang="en-US" sz="2000" dirty="0">
                <a:solidFill>
                  <a:srgbClr val="73391D"/>
                </a:solidFill>
              </a:rPr>
              <a:t>    inputs:</a:t>
            </a:r>
          </a:p>
          <a:p>
            <a:r>
              <a:rPr lang="en-US" sz="2000" dirty="0">
                <a:solidFill>
                  <a:srgbClr val="73391D"/>
                </a:solidFill>
              </a:rPr>
              <a:t>      environment:</a:t>
            </a:r>
          </a:p>
          <a:p>
            <a:r>
              <a:rPr lang="en-US" sz="2000" dirty="0">
                <a:solidFill>
                  <a:srgbClr val="73391D"/>
                </a:solidFill>
              </a:rPr>
              <a:t>         required: </a:t>
            </a:r>
            <a:r>
              <a:rPr lang="en-US" sz="2000" dirty="0">
                <a:solidFill>
                  <a:srgbClr val="0000FF"/>
                </a:solidFill>
              </a:rPr>
              <a:t>true </a:t>
            </a:r>
          </a:p>
          <a:p>
            <a:r>
              <a:rPr lang="en-US" sz="2000" dirty="0">
                <a:solidFill>
                  <a:srgbClr val="0000FF"/>
                </a:solidFill>
              </a:rPr>
              <a:t>         </a:t>
            </a:r>
            <a:r>
              <a:rPr lang="en-US" sz="2000" dirty="0">
                <a:solidFill>
                  <a:srgbClr val="73391D"/>
                </a:solidFill>
              </a:rPr>
              <a:t>type: </a:t>
            </a:r>
            <a:r>
              <a:rPr lang="en-US" sz="2000" dirty="0">
                <a:solidFill>
                  <a:srgbClr val="0000FF"/>
                </a:solidFill>
              </a:rPr>
              <a:t>string</a:t>
            </a:r>
            <a:endParaRPr lang="en-US" sz="2000" dirty="0">
              <a:solidFill>
                <a:srgbClr val="73391D"/>
              </a:solidFill>
            </a:endParaRPr>
          </a:p>
          <a:p>
            <a:endParaRPr lang="en-US" sz="2000" dirty="0">
              <a:solidFill>
                <a:srgbClr val="07641D"/>
              </a:solidFill>
            </a:endParaRPr>
          </a:p>
          <a:p>
            <a:r>
              <a:rPr lang="en-US" sz="2000" dirty="0">
                <a:solidFill>
                  <a:srgbClr val="07641D"/>
                </a:solidFill>
              </a:rPr>
              <a:t># in consuming workflow</a:t>
            </a:r>
          </a:p>
          <a:p>
            <a:r>
              <a:rPr lang="en-US" sz="2000" dirty="0">
                <a:solidFill>
                  <a:srgbClr val="73391D"/>
                </a:solidFill>
              </a:rPr>
              <a:t>jobs:</a:t>
            </a:r>
          </a:p>
          <a:p>
            <a:r>
              <a:rPr lang="en-US" sz="2000" dirty="0">
                <a:solidFill>
                  <a:srgbClr val="73391D"/>
                </a:solidFill>
              </a:rPr>
              <a:t>  </a:t>
            </a:r>
            <a:r>
              <a:rPr lang="en-US" sz="2000" dirty="0" err="1">
                <a:solidFill>
                  <a:srgbClr val="73391D"/>
                </a:solidFill>
              </a:rPr>
              <a:t>deploy_dev</a:t>
            </a:r>
            <a:r>
              <a:rPr lang="en-US" sz="2000" dirty="0">
                <a:solidFill>
                  <a:srgbClr val="73391D"/>
                </a:solidFill>
              </a:rPr>
              <a:t>:</a:t>
            </a:r>
          </a:p>
          <a:p>
            <a:r>
              <a:rPr lang="en-US" sz="2000" dirty="0">
                <a:solidFill>
                  <a:srgbClr val="73391D"/>
                </a:solidFill>
              </a:rPr>
              <a:t>    uses: </a:t>
            </a:r>
            <a:r>
              <a:rPr lang="en-US" sz="2000" dirty="0">
                <a:solidFill>
                  <a:srgbClr val="0000FF"/>
                </a:solidFill>
              </a:rPr>
              <a:t>my-org/shared-workflows/.</a:t>
            </a:r>
            <a:r>
              <a:rPr lang="en-US" sz="2000" dirty="0" err="1">
                <a:solidFill>
                  <a:srgbClr val="0000FF"/>
                </a:solidFill>
              </a:rPr>
              <a:t>github</a:t>
            </a:r>
            <a:r>
              <a:rPr lang="en-US" sz="2000" dirty="0">
                <a:solidFill>
                  <a:srgbClr val="0000FF"/>
                </a:solidFill>
              </a:rPr>
              <a:t>/workflows/</a:t>
            </a:r>
            <a:r>
              <a:rPr lang="en-US" sz="2000" dirty="0" err="1">
                <a:solidFill>
                  <a:srgbClr val="0000FF"/>
                </a:solidFill>
              </a:rPr>
              <a:t>deploy.yml@main</a:t>
            </a:r>
            <a:endParaRPr lang="en-US" sz="2000" dirty="0">
              <a:solidFill>
                <a:srgbClr val="73391D"/>
              </a:solidFill>
            </a:endParaRPr>
          </a:p>
          <a:p>
            <a:r>
              <a:rPr lang="en-US" sz="2000" dirty="0">
                <a:solidFill>
                  <a:srgbClr val="73391D"/>
                </a:solidFill>
              </a:rPr>
              <a:t>    with:</a:t>
            </a:r>
          </a:p>
          <a:p>
            <a:r>
              <a:rPr lang="en-US" sz="2000" dirty="0">
                <a:solidFill>
                  <a:srgbClr val="73391D"/>
                </a:solidFill>
              </a:rPr>
              <a:t>      environment: </a:t>
            </a:r>
            <a:r>
              <a:rPr lang="en-US" sz="2000" dirty="0">
                <a:solidFill>
                  <a:srgbClr val="0000FF"/>
                </a:solidFill>
              </a:rPr>
              <a:t>dev</a:t>
            </a:r>
            <a:endParaRPr lang="en-US" sz="2000" dirty="0">
              <a:solidFill>
                <a:srgbClr val="07641D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A33E18-0708-7A87-758B-37EA7A8F955D}"/>
              </a:ext>
            </a:extLst>
          </p:cNvPr>
          <p:cNvSpPr/>
          <p:nvPr/>
        </p:nvSpPr>
        <p:spPr>
          <a:xfrm>
            <a:off x="807487" y="2268883"/>
            <a:ext cx="3129513" cy="184591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8A6E09-EE55-4FA4-21FB-500065FC3F1A}"/>
              </a:ext>
            </a:extLst>
          </p:cNvPr>
          <p:cNvSpPr/>
          <p:nvPr/>
        </p:nvSpPr>
        <p:spPr>
          <a:xfrm>
            <a:off x="1074187" y="5536809"/>
            <a:ext cx="9035013" cy="111944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91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867F3-43E2-D9AB-B4B5-D1B1D78F0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4DF52F-0000-AEF1-E186-A77E0DAC6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Filters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649114E-8909-1B7D-81BC-71DE12FE26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pr.yml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DDFE9F-7B3B-78A5-8F57-EFE7216BD8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940814"/>
            <a:ext cx="11018520" cy="4799904"/>
          </a:xfrm>
        </p:spPr>
        <p:txBody>
          <a:bodyPr/>
          <a:lstStyle/>
          <a:p>
            <a:r>
              <a:rPr lang="en-US" sz="2399" dirty="0">
                <a:solidFill>
                  <a:srgbClr val="07641D"/>
                </a:solidFill>
              </a:rPr>
              <a:t># only run this workflow, if these paths changed</a:t>
            </a:r>
            <a:endParaRPr lang="en-US" sz="2399" dirty="0">
              <a:solidFill>
                <a:srgbClr val="73391D"/>
              </a:solidFill>
            </a:endParaRPr>
          </a:p>
          <a:p>
            <a:r>
              <a:rPr lang="en-US" sz="2399" dirty="0">
                <a:solidFill>
                  <a:srgbClr val="73391D"/>
                </a:solidFill>
              </a:rPr>
              <a:t>on:</a:t>
            </a:r>
          </a:p>
          <a:p>
            <a:r>
              <a:rPr lang="en-US" sz="2399" dirty="0">
                <a:solidFill>
                  <a:srgbClr val="73391D"/>
                </a:solidFill>
              </a:rPr>
              <a:t>  </a:t>
            </a:r>
            <a:r>
              <a:rPr lang="en-US" sz="2399" dirty="0" err="1">
                <a:solidFill>
                  <a:srgbClr val="73391D"/>
                </a:solidFill>
              </a:rPr>
              <a:t>pull_request</a:t>
            </a:r>
            <a:r>
              <a:rPr lang="en-US" sz="2399" dirty="0">
                <a:solidFill>
                  <a:srgbClr val="73391D"/>
                </a:solidFill>
              </a:rPr>
              <a:t>:</a:t>
            </a:r>
          </a:p>
          <a:p>
            <a:r>
              <a:rPr lang="en-US" sz="2399" dirty="0">
                <a:solidFill>
                  <a:srgbClr val="73391D"/>
                </a:solidFill>
              </a:rPr>
              <a:t>    paths: </a:t>
            </a:r>
          </a:p>
          <a:p>
            <a:r>
              <a:rPr lang="en-US" sz="2399" dirty="0">
                <a:solidFill>
                  <a:srgbClr val="73391D"/>
                </a:solidFill>
              </a:rPr>
              <a:t>      </a:t>
            </a:r>
            <a:r>
              <a:rPr lang="en-US" sz="2399" dirty="0">
                <a:solidFill>
                  <a:srgbClr val="0000FF"/>
                </a:solidFill>
              </a:rPr>
              <a:t>- "terraform/**"</a:t>
            </a:r>
            <a:endParaRPr lang="en-US" sz="2399" dirty="0">
              <a:solidFill>
                <a:srgbClr val="73391D"/>
              </a:solidFill>
            </a:endParaRPr>
          </a:p>
          <a:p>
            <a:endParaRPr lang="en-US" sz="2399" dirty="0">
              <a:solidFill>
                <a:srgbClr val="07641D"/>
              </a:solidFill>
            </a:endParaRPr>
          </a:p>
          <a:p>
            <a:r>
              <a:rPr lang="en-US" sz="2399" dirty="0">
                <a:solidFill>
                  <a:srgbClr val="07641D"/>
                </a:solidFill>
              </a:rPr>
              <a:t># don't run this workflow, if these paths changed</a:t>
            </a:r>
          </a:p>
          <a:p>
            <a:r>
              <a:rPr lang="en-US" sz="2399" dirty="0">
                <a:solidFill>
                  <a:srgbClr val="73391D"/>
                </a:solidFill>
              </a:rPr>
              <a:t>on:</a:t>
            </a:r>
          </a:p>
          <a:p>
            <a:r>
              <a:rPr lang="en-US" sz="2399" dirty="0">
                <a:solidFill>
                  <a:srgbClr val="73391D"/>
                </a:solidFill>
              </a:rPr>
              <a:t>  </a:t>
            </a:r>
            <a:r>
              <a:rPr lang="en-US" sz="2399" dirty="0" err="1">
                <a:solidFill>
                  <a:srgbClr val="73391D"/>
                </a:solidFill>
              </a:rPr>
              <a:t>pull_request</a:t>
            </a:r>
            <a:r>
              <a:rPr lang="en-US" sz="2399" dirty="0">
                <a:solidFill>
                  <a:srgbClr val="73391D"/>
                </a:solidFill>
              </a:rPr>
              <a:t>:</a:t>
            </a:r>
          </a:p>
          <a:p>
            <a:r>
              <a:rPr lang="en-US" sz="2399" dirty="0">
                <a:solidFill>
                  <a:srgbClr val="73391D"/>
                </a:solidFill>
              </a:rPr>
              <a:t>    paths-ignore: </a:t>
            </a:r>
          </a:p>
          <a:p>
            <a:r>
              <a:rPr lang="en-US" sz="2399" dirty="0">
                <a:solidFill>
                  <a:srgbClr val="73391D"/>
                </a:solidFill>
              </a:rPr>
              <a:t>      </a:t>
            </a:r>
            <a:r>
              <a:rPr lang="en-US" sz="2399" dirty="0">
                <a:solidFill>
                  <a:srgbClr val="0000FF"/>
                </a:solidFill>
              </a:rPr>
              <a:t>- "**/*.md"</a:t>
            </a:r>
            <a:endParaRPr lang="en-US" sz="2399" dirty="0">
              <a:solidFill>
                <a:srgbClr val="73391D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64788C-C296-4DD7-9AF4-FC408600EEC5}"/>
              </a:ext>
            </a:extLst>
          </p:cNvPr>
          <p:cNvSpPr/>
          <p:nvPr/>
        </p:nvSpPr>
        <p:spPr>
          <a:xfrm>
            <a:off x="1150387" y="3208683"/>
            <a:ext cx="3218413" cy="94421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5769DA-2B76-2959-0F3F-07508A152941}"/>
              </a:ext>
            </a:extLst>
          </p:cNvPr>
          <p:cNvSpPr/>
          <p:nvPr/>
        </p:nvSpPr>
        <p:spPr>
          <a:xfrm>
            <a:off x="1150387" y="5854479"/>
            <a:ext cx="3218413" cy="94421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147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AD956-3B5F-8E5D-2E3F-9F4DD78D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607D09-3ACC-F903-15D8-88C3B865D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2423825"/>
            <a:ext cx="9753600" cy="1107996"/>
          </a:xfrm>
        </p:spPr>
        <p:txBody>
          <a:bodyPr/>
          <a:lstStyle/>
          <a:p>
            <a:r>
              <a:rPr lang="en-US" dirty="0"/>
              <a:t>Demo – Use Copilot to optimize Workflows</a:t>
            </a:r>
          </a:p>
        </p:txBody>
      </p:sp>
    </p:spTree>
    <p:extLst>
      <p:ext uri="{BB962C8B-B14F-4D97-AF65-F5344CB8AC3E}">
        <p14:creationId xmlns:p14="http://schemas.microsoft.com/office/powerpoint/2010/main" val="243721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36D64-A36B-CD56-D1BA-316430028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F93CF31-2ED4-7826-12AA-AF51B413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81" y="2321004"/>
            <a:ext cx="8046720" cy="2215991"/>
          </a:xfrm>
        </p:spPr>
        <p:txBody>
          <a:bodyPr/>
          <a:lstStyle/>
          <a:p>
            <a:r>
              <a:rPr lang="en-US" dirty="0"/>
              <a:t>Demo – GitHub Agentic Workflows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How many people have up to date docs?</a:t>
            </a:r>
          </a:p>
        </p:txBody>
      </p:sp>
    </p:spTree>
    <p:extLst>
      <p:ext uri="{BB962C8B-B14F-4D97-AF65-F5344CB8AC3E}">
        <p14:creationId xmlns:p14="http://schemas.microsoft.com/office/powerpoint/2010/main" val="117799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307777"/>
          </a:xfrm>
        </p:spPr>
        <p:txBody>
          <a:bodyPr/>
          <a:lstStyle/>
          <a:p>
            <a:r>
              <a:rPr lang="en-US" sz="2000" dirty="0"/>
              <a:t>Hopefully you learned at least one thing GitHub today</a:t>
            </a:r>
          </a:p>
        </p:txBody>
      </p:sp>
    </p:spTree>
    <p:extLst>
      <p:ext uri="{BB962C8B-B14F-4D97-AF65-F5344CB8AC3E}">
        <p14:creationId xmlns:p14="http://schemas.microsoft.com/office/powerpoint/2010/main" val="23266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6BF0A5-72D5-861C-99FE-77B55F70D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02312"/>
            <a:ext cx="12192000" cy="1874744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6000" dirty="0"/>
              <a:t>Thanks!</a:t>
            </a:r>
            <a:br>
              <a:rPr lang="en-US" dirty="0"/>
            </a:br>
            <a:r>
              <a:rPr lang="en-US" sz="2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ssauber@leantechniques.com</a:t>
            </a:r>
            <a:endParaRPr lang="en-US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693D49-7459-C054-0808-A6688262230F}"/>
              </a:ext>
            </a:extLst>
          </p:cNvPr>
          <p:cNvSpPr txBox="1"/>
          <p:nvPr/>
        </p:nvSpPr>
        <p:spPr>
          <a:xfrm>
            <a:off x="9757202" y="2006898"/>
            <a:ext cx="2278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EFFFE"/>
                </a:solidFill>
              </a:rPr>
              <a:t>Add me on LinkedIn: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E31723-883B-8674-7EF7-A0B783E6B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7202" y="2441972"/>
            <a:ext cx="2182279" cy="218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543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icrosoft Build 16:9 Template Light">
  <a:themeElements>
    <a:clrScheme name="Custom 80">
      <a:dk1>
        <a:srgbClr val="000000"/>
      </a:dk1>
      <a:lt1>
        <a:srgbClr val="FFFFFF"/>
      </a:lt1>
      <a:dk2>
        <a:srgbClr val="2A446F"/>
      </a:dk2>
      <a:lt2>
        <a:srgbClr val="D7D2CB"/>
      </a:lt2>
      <a:accent1>
        <a:srgbClr val="00A4EF"/>
      </a:accent1>
      <a:accent2>
        <a:srgbClr val="7FBA00"/>
      </a:accent2>
      <a:accent3>
        <a:srgbClr val="F25022"/>
      </a:accent3>
      <a:accent4>
        <a:srgbClr val="BF9474"/>
      </a:accent4>
      <a:accent5>
        <a:srgbClr val="FFB900"/>
      </a:accent5>
      <a:accent6>
        <a:srgbClr val="B1B3B3"/>
      </a:accent6>
      <a:hlink>
        <a:srgbClr val="0078D4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uild_2026_16-9 Event-template_v03.potx" id="{23295F41-47B4-4925-B9F3-5276FDC5A736}" vid="{5F1F9044-CA6A-440B-A728-2F8917897A95}"/>
    </a:ext>
  </a:extLst>
</a:theme>
</file>

<file path=ppt/theme/theme2.xml><?xml version="1.0" encoding="utf-8"?>
<a:theme xmlns:a="http://schemas.openxmlformats.org/drawingml/2006/main" name="Microsoft Build 16:9 Template Dark">
  <a:themeElements>
    <a:clrScheme name="Custom 79">
      <a:dk1>
        <a:srgbClr val="000000"/>
      </a:dk1>
      <a:lt1>
        <a:srgbClr val="FFFFFF"/>
      </a:lt1>
      <a:dk2>
        <a:srgbClr val="091F2C"/>
      </a:dk2>
      <a:lt2>
        <a:srgbClr val="E8E6DF"/>
      </a:lt2>
      <a:accent1>
        <a:srgbClr val="00A4EF"/>
      </a:accent1>
      <a:accent2>
        <a:srgbClr val="7FBA00"/>
      </a:accent2>
      <a:accent3>
        <a:srgbClr val="F25022"/>
      </a:accent3>
      <a:accent4>
        <a:srgbClr val="E1D3C7"/>
      </a:accent4>
      <a:accent5>
        <a:srgbClr val="FFB900"/>
      </a:accent5>
      <a:accent6>
        <a:srgbClr val="D9D9D6"/>
      </a:accent6>
      <a:hlink>
        <a:srgbClr val="8DC8E8"/>
      </a:hlink>
      <a:folHlink>
        <a:srgbClr val="C5B4E3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uild_2026_16-9 Event-template_v03.potx" id="{23295F41-47B4-4925-B9F3-5276FDC5A736}" vid="{9568D0D4-72EB-4CE1-95C9-D12481B11A0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EC89680E11F64392A775FE1A751122" ma:contentTypeVersion="26" ma:contentTypeDescription="Create a new document." ma:contentTypeScope="" ma:versionID="9969028081730ee97d21bdaac806d38a">
  <xsd:schema xmlns:xsd="http://www.w3.org/2001/XMLSchema" xmlns:xs="http://www.w3.org/2001/XMLSchema" xmlns:p="http://schemas.microsoft.com/office/2006/metadata/properties" xmlns:ns1="http://schemas.microsoft.com/sharepoint/v3" xmlns:ns2="39b48df9-7bcc-48f8-84a5-975ca2e243d0" xmlns:ns3="8acfeebd-d9f0-4ade-ade8-6c6fbcc43572" xmlns:ns4="230e9df3-be65-4c73-a93b-d1236ebd677e" targetNamespace="http://schemas.microsoft.com/office/2006/metadata/properties" ma:root="true" ma:fieldsID="531b72d70252e024ceee9ee87ea63378" ns1:_="" ns2:_="" ns3:_="" ns4:_="">
    <xsd:import namespace="http://schemas.microsoft.com/sharepoint/v3"/>
    <xsd:import namespace="39b48df9-7bcc-48f8-84a5-975ca2e243d0"/>
    <xsd:import namespace="8acfeebd-d9f0-4ade-ade8-6c6fbcc43572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uvsThumbnailurl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4:TaxCatchAll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j5610f6f79384a4d92af5d7a6b56e029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b48df9-7bcc-48f8-84a5-975ca2e243d0" elementFormDefault="qualified">
    <xsd:import namespace="http://schemas.microsoft.com/office/2006/documentManagement/types"/>
    <xsd:import namespace="http://schemas.microsoft.com/office/infopath/2007/PartnerControls"/>
    <xsd:element name="uvsThumbnailurl" ma:index="8" nillable="true" ma:displayName="uvsThumbnailurl" ma:format="Dropdown" ma:internalName="uvsThumbnailurl">
      <xsd:simpleType>
        <xsd:restriction base="dms:Text">
          <xsd:maxLength value="255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j5610f6f79384a4d92af5d7a6b56e029" ma:index="28" nillable="true" ma:taxonomy="true" ma:internalName="j5610f6f79384a4d92af5d7a6b56e029" ma:taxonomyFieldName="Metadata" ma:displayName="Metadata" ma:default="" ma:fieldId="{35610f6f-7938-4a4d-92af-5d7a6b56e029}" ma:sspId="e385fb40-52d4-4fae-9c5b-3e8ff8a5878e" ma:termSetId="386095d1-c68d-4c6d-b587-48ddaf1aecc9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MediaServiceDocTags" ma:index="29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3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cfeebd-d9f0-4ade-ade8-6c6fbcc4357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cf082490-e48c-4bba-a917-bf1fc11e5a27}" ma:internalName="TaxCatchAll" ma:showField="CatchAllData" ma:web="8acfeebd-d9f0-4ade-ade8-6c6fbcc435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ediaServiceKeyPoints xmlns="39b48df9-7bcc-48f8-84a5-975ca2e243d0" xsi:nil="true"/>
    <lcf76f155ced4ddcb4097134ff3c332f xmlns="39b48df9-7bcc-48f8-84a5-975ca2e243d0">
      <Terms xmlns="http://schemas.microsoft.com/office/infopath/2007/PartnerControls"/>
    </lcf76f155ced4ddcb4097134ff3c332f>
    <j5610f6f79384a4d92af5d7a6b56e029 xmlns="39b48df9-7bcc-48f8-84a5-975ca2e243d0">
      <Terms xmlns="http://schemas.microsoft.com/office/infopath/2007/PartnerControls"/>
    </j5610f6f79384a4d92af5d7a6b56e029>
    <uvsThumbnailurl xmlns="39b48df9-7bcc-48f8-84a5-975ca2e243d0" xsi:nil="true"/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7468D98C-7056-4B2E-AF35-ADD173A05F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9b48df9-7bcc-48f8-84a5-975ca2e243d0"/>
    <ds:schemaRef ds:uri="8acfeebd-d9f0-4ade-ade8-6c6fbcc43572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90F116-B58F-4255-B05B-DA3808E0E5C6}">
  <ds:schemaRefs>
    <ds:schemaRef ds:uri="http://schemas.microsoft.com/sharepoint/v3"/>
    <ds:schemaRef ds:uri="http://purl.org/dc/elements/1.1/"/>
    <ds:schemaRef ds:uri="6a2cddcd-7434-4740-93ff-9eefa0d8931b"/>
    <ds:schemaRef ds:uri="http://schemas.microsoft.com/office/2006/metadata/properties"/>
    <ds:schemaRef ds:uri="4e74c756-a527-4705-9f82-ebb6503e1a84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www.w3.org/XML/1998/namespace"/>
    <ds:schemaRef ds:uri="http://purl.org/dc/dcmitype/"/>
    <ds:schemaRef ds:uri="39b48df9-7bcc-48f8-84a5-975ca2e243d0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Microsoft Build 16:9 Template Light</Template>
  <TotalTime>12469</TotalTime>
  <Words>1010</Words>
  <Application>Microsoft Macintosh PowerPoint</Application>
  <PresentationFormat>Widescreen</PresentationFormat>
  <Paragraphs>137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Consolas</vt:lpstr>
      <vt:lpstr>Segoe Sans Display Semibold</vt:lpstr>
      <vt:lpstr>Segoe UI</vt:lpstr>
      <vt:lpstr>Segoe UI Semibold</vt:lpstr>
      <vt:lpstr>Wingdings</vt:lpstr>
      <vt:lpstr>Microsoft Build 16:9 Template Light</vt:lpstr>
      <vt:lpstr>Microsoft Build 16:9 Template Dark</vt:lpstr>
      <vt:lpstr>Microsoft Build</vt:lpstr>
      <vt:lpstr>Beyond the Basics: What GitHub Can Do Today</vt:lpstr>
      <vt:lpstr>Agenda</vt:lpstr>
      <vt:lpstr>GitHub Code Collaboration Tips</vt:lpstr>
      <vt:lpstr>Demo – VSCode.dev</vt:lpstr>
      <vt:lpstr>Demo – Optimal GitHub Settings</vt:lpstr>
      <vt:lpstr>Demo – Federated Credentials</vt:lpstr>
      <vt:lpstr>Demo – Ask GitHub</vt:lpstr>
      <vt:lpstr>Demo – GitHub Projects</vt:lpstr>
      <vt:lpstr>GitHub Actions/Agents Tips</vt:lpstr>
      <vt:lpstr>Run Scheduled Jobs</vt:lpstr>
      <vt:lpstr>Reusable Workflows</vt:lpstr>
      <vt:lpstr>Path Filters</vt:lpstr>
      <vt:lpstr>Demo – Use Copilot to optimize Workflows</vt:lpstr>
      <vt:lpstr>Demo – GitHub Agentic Workflows  How many people have up to date docs?</vt:lpstr>
      <vt:lpstr>Takeaways</vt:lpstr>
      <vt:lpstr>Thanks! ssauber@leantechniques.com</vt:lpstr>
    </vt:vector>
  </TitlesOfParts>
  <Manager>&lt;Comms manager name here&gt;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Microsoft Build</dc:subject>
  <dc:creator>Scott Sauber</dc:creator>
  <cp:keywords>Microsoft Build</cp:keywords>
  <dc:description/>
  <cp:lastModifiedBy>Scott Sauber</cp:lastModifiedBy>
  <cp:revision>44</cp:revision>
  <cp:lastPrinted>2023-02-15T20:48:24Z</cp:lastPrinted>
  <dcterms:created xsi:type="dcterms:W3CDTF">2026-05-16T14:20:36Z</dcterms:created>
  <dcterms:modified xsi:type="dcterms:W3CDTF">2026-07-27T01:44:39Z</dcterms:modified>
  <cp:category>Microsoft Build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0x01010005EC89680E11F64392A775FE1A751122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Ref">
    <vt:lpwstr>https://api.informationprotection.azure.com/api/72f988bf-86f1-41af-91ab-2d7cd011db47</vt:lpwstr>
  </property>
  <property fmtid="{D5CDD505-2E9C-101B-9397-08002B2CF9AE}" pid="14" name="MSIP_Label_f42aa342-8706-4288-bd11-ebb85995028c_SetDate">
    <vt:lpwstr>2017-08-29T14:27:20.8568347-07:00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Extended_MSFT_Method">
    <vt:lpwstr>Automatic</vt:lpwstr>
  </property>
  <property fmtid="{D5CDD505-2E9C-101B-9397-08002B2CF9AE}" pid="17" name="Sensitivity">
    <vt:lpwstr>General</vt:lpwstr>
  </property>
</Properties>
</file>