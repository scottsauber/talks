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86"/>
  </p:notesMasterIdLst>
  <p:sldIdLst>
    <p:sldId id="257" r:id="rId2"/>
    <p:sldId id="531" r:id="rId3"/>
    <p:sldId id="570" r:id="rId4"/>
    <p:sldId id="642" r:id="rId5"/>
    <p:sldId id="369" r:id="rId6"/>
    <p:sldId id="410" r:id="rId7"/>
    <p:sldId id="574" r:id="rId8"/>
    <p:sldId id="463" r:id="rId9"/>
    <p:sldId id="536" r:id="rId10"/>
    <p:sldId id="712" r:id="rId11"/>
    <p:sldId id="685" r:id="rId12"/>
    <p:sldId id="550" r:id="rId13"/>
    <p:sldId id="571" r:id="rId14"/>
    <p:sldId id="551" r:id="rId15"/>
    <p:sldId id="552" r:id="rId16"/>
    <p:sldId id="701" r:id="rId17"/>
    <p:sldId id="702" r:id="rId18"/>
    <p:sldId id="703" r:id="rId19"/>
    <p:sldId id="704" r:id="rId20"/>
    <p:sldId id="713" r:id="rId21"/>
    <p:sldId id="686" r:id="rId22"/>
    <p:sldId id="538" r:id="rId23"/>
    <p:sldId id="539" r:id="rId24"/>
    <p:sldId id="714" r:id="rId25"/>
    <p:sldId id="687" r:id="rId26"/>
    <p:sldId id="565" r:id="rId27"/>
    <p:sldId id="566" r:id="rId28"/>
    <p:sldId id="568" r:id="rId29"/>
    <p:sldId id="569" r:id="rId30"/>
    <p:sldId id="715" r:id="rId31"/>
    <p:sldId id="688" r:id="rId32"/>
    <p:sldId id="547" r:id="rId33"/>
    <p:sldId id="548" r:id="rId34"/>
    <p:sldId id="716" r:id="rId35"/>
    <p:sldId id="689" r:id="rId36"/>
    <p:sldId id="557" r:id="rId37"/>
    <p:sldId id="558" r:id="rId38"/>
    <p:sldId id="694" r:id="rId39"/>
    <p:sldId id="717" r:id="rId40"/>
    <p:sldId id="690" r:id="rId41"/>
    <p:sldId id="696" r:id="rId42"/>
    <p:sldId id="699" r:id="rId43"/>
    <p:sldId id="725" r:id="rId44"/>
    <p:sldId id="700" r:id="rId45"/>
    <p:sldId id="718" r:id="rId46"/>
    <p:sldId id="691" r:id="rId47"/>
    <p:sldId id="697" r:id="rId48"/>
    <p:sldId id="698" r:id="rId49"/>
    <p:sldId id="726" r:id="rId50"/>
    <p:sldId id="727" r:id="rId51"/>
    <p:sldId id="705" r:id="rId52"/>
    <p:sldId id="728" r:id="rId53"/>
    <p:sldId id="719" r:id="rId54"/>
    <p:sldId id="692" r:id="rId55"/>
    <p:sldId id="706" r:id="rId56"/>
    <p:sldId id="708" r:id="rId57"/>
    <p:sldId id="709" r:id="rId58"/>
    <p:sldId id="710" r:id="rId59"/>
    <p:sldId id="711" r:id="rId60"/>
    <p:sldId id="707" r:id="rId61"/>
    <p:sldId id="720" r:id="rId62"/>
    <p:sldId id="693" r:id="rId63"/>
    <p:sldId id="723" r:id="rId64"/>
    <p:sldId id="724" r:id="rId65"/>
    <p:sldId id="721" r:id="rId66"/>
    <p:sldId id="695" r:id="rId67"/>
    <p:sldId id="729" r:id="rId68"/>
    <p:sldId id="730" r:id="rId69"/>
    <p:sldId id="731" r:id="rId70"/>
    <p:sldId id="733" r:id="rId71"/>
    <p:sldId id="459" r:id="rId72"/>
    <p:sldId id="461" r:id="rId73"/>
    <p:sldId id="462" r:id="rId74"/>
    <p:sldId id="458" r:id="rId75"/>
    <p:sldId id="465" r:id="rId76"/>
    <p:sldId id="464" r:id="rId77"/>
    <p:sldId id="470" r:id="rId78"/>
    <p:sldId id="734" r:id="rId79"/>
    <p:sldId id="471" r:id="rId80"/>
    <p:sldId id="722" r:id="rId81"/>
    <p:sldId id="684" r:id="rId82"/>
    <p:sldId id="627" r:id="rId83"/>
    <p:sldId id="400" r:id="rId84"/>
    <p:sldId id="621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7" autoAdjust="0"/>
    <p:restoredTop sz="85012" autoAdjust="0"/>
  </p:normalViewPr>
  <p:slideViewPr>
    <p:cSldViewPr snapToGrid="0">
      <p:cViewPr varScale="1">
        <p:scale>
          <a:sx n="122" d="100"/>
          <a:sy n="122" d="100"/>
        </p:scale>
        <p:origin x="12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9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FE2E-4FF1-34AA-1E0C-B13FC4E5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2EFA-4CEB-0975-CC72-A667A767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3F7E-04E5-106C-63BA-C6E78A737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1EFB-C965-E8ED-E195-AC9761D3C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5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DA9D-71A5-2EF6-C7FA-3C5C68C1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43B5-13E7-F16C-068A-2E14FE269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C68B0-AF82-6ED8-27F9-CAE177845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91401-CE8E-23FC-C7C6-E8690256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80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3B85-5CCA-8D12-4BDD-A63C0F96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FFA1C-2D79-5F25-CC1B-93B39AAFB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A04AB-5242-51A5-3609-59015F308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350F-7547-AA00-BA4D-6413C94D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7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4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47C0-816F-3643-CC74-0A66BCC94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1C802-5F23-3949-130F-CBBB01C49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A62C6-95EE-8B8F-B0F1-E830786EA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9C286-487D-E5F7-0962-0BC8EAD15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85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D6B8E-91FF-A01F-67C9-51EE92B8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C1FC8-F986-0F33-4F27-5A891C625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73382-77A0-EEE5-1E1B-8D826085C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3621F-216C-D136-B68C-DF14D7F03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2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CD4C-2040-8ABD-7C18-3475A6E0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24F6-7479-3CE2-DCA6-EF1907DEB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7AB85-C8E8-AF88-FE43-029E2C6DE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7730F-A35E-7593-5729-2EB0D66F5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49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6933-B52A-183F-6677-F9603398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2A855-CC75-9E1F-A268-8A0671CDF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C1198-DDC2-ED1E-F5CE-8380B2178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0EA2A-DC30-A819-3B44-66A4278DD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918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3049-61C1-CBE7-26B9-28B1AF5F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37328-9FC6-D8C4-D17E-97EA649F3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38C20-D8F3-BDC3-909C-84A59FE4B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E810A-321F-CEF9-DAB9-EE75AF65D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4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A69B-A6DB-C0EC-CC0E-80200DEF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C89E4-E41F-8A3C-8D9F-8CA7939F7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C8DE93-CE2D-496C-D744-26B9D8A2B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27E77-F257-B054-5C39-D4904EB49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49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C994-7E03-5B80-8767-45263B72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C2C12-6FB5-1F4C-F6E4-E26263A4A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29051-3BDF-0D3B-8EF1-D45461685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3D0D1-5086-97B3-2137-5835A2F9C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23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7858-FE3C-A6A1-61C9-0485CC93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2F93F-01DB-F621-B644-406BCDF84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2D9B8-F35F-F1A7-4187-2BD9D68EF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5FA16-B39F-F9D9-BA2D-71B50AAE8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31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1847-9EE2-CC04-2ECF-012A15D8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88DC6-159E-9558-6EE6-4FC0485CF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152D7-B7E8-AC3B-885F-C5F00BE7E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61CF1-2EB4-265F-9A7A-E5CEC6648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89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85E78-02A7-790F-720B-8E7898C6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533CD-76F4-2096-C7B4-CB4331948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E8421-6FEE-283F-E017-3F10AB6CB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8B845-3C75-7223-E9F6-EFF3A81A4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74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28F6-E3F1-DCE8-535C-AD8414CC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5CC1B-502F-023D-1243-E0558B22A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B1EBB-43DB-F542-101A-93DC3FC40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42890-06C4-A76C-18D8-0176DF0526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1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AF714-3E81-D43E-50C7-9BE6A1AE6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571B5-2EC8-B4B3-B2CE-C353BCED5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2F6C04-D433-D671-4D3A-B40B4119A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DBEE1-9FDB-AEFE-682E-FE00A8357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87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993B-B5E3-2B51-4C69-BE581FCC3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DE529-DF70-CE32-EB0E-05FA7186D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BBF13-110C-D3B0-B478-2AD8BAF14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322F-AA6B-592C-053A-A8422DF3F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148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138E-F962-106A-6294-437C5691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73C83-0B01-D89D-727D-26B73B9F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0E8F3-2E8F-A4B1-28E0-32573C3BE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8FB3B-077C-D541-10C8-B6E42AF46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56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8786-BDE3-FC05-6A80-02F86F3A6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02F1C-3551-B925-6416-F598A2A6C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95D68-B431-D557-8DA9-5AE4FF102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05F2B-2546-E494-0C1D-94EC01C96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79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9F51-B474-3F2E-A2D0-C85A4C4F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29781-24AA-44A7-0805-90D52AFB2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29C2C-1C56-ADB8-7E99-72C739B61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30AF1-B1A0-618C-CFB7-410604D77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933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1F28-AAC7-07FB-1642-BEA44093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C6F7D-F0DA-3D68-18A7-1DCF1B958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CBA5F-3B4D-31C2-D732-340B12DE8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8DD85-23CD-E93B-598C-89EF90B33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97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3419-DD99-E8E5-B004-B40135A0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5FA5-0353-3F64-37B3-94E5F5E4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D65F2-A09D-C516-6449-AAC849BB0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7961A-AFA9-3A0F-EC92-5BCB75E2A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6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EF8A-FBFA-06DD-16DC-86DBA0F4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DD152-7299-CF95-A34F-0F43A4BA1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6CA10-BF82-FDE2-CE04-D36E8B0A0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811BF-316C-D7A3-53AC-3453D151A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14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22DA-9525-BAE8-7509-C1B3C4FF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1FA4D-5DC4-E8C9-98A2-DDF933C3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5DE2F-A62A-B057-615F-53CD688C1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76766-2D8A-1EA1-8EF2-801692F779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13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2D4C-2BD5-7B1B-ED82-0208C302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0E4EC-6881-C645-6756-B4EABD78B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78F06-1D58-2A4D-F84F-08AEF1E4C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D90B4-508C-EA25-4951-86ED411FE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2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1671-AD65-BA69-6FEC-00DFA77E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9CEC0-9AC5-284C-4365-50060D8D4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16FCF-C237-93C2-3CB8-96FDC83F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630ED-9E60-2940-88B5-05AB02B29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04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6D8A-E808-A9DB-EF2F-8A65C4318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833D1-EE00-7DF2-D263-D22F467A5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1A8BA-2AE0-6760-673F-54EF6D2BC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C71EF-4FD6-8E16-DDDF-9AD069819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961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8B73-6184-99FF-53B1-20C4AC73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D6407-0C33-B2A0-6342-175145C0E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FBD3A-A261-4C2C-F485-F270A5938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751B-0BD6-E65D-D008-B8028082D9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60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4917-DD2B-BD42-9766-89E563DA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AF4B2-27E2-5B2C-5BB0-796809791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0092C-25DE-F632-2B04-CC1294E84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01C55-399A-AA5D-FE02-C9EC05479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22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F35C-992B-0C70-A61D-217DBC6A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7D5654-110E-6374-8717-CE9D8C7F1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4E2269-AB75-65A3-EAE7-08CBC8F07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23245-390A-2363-5211-4D6F22E36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85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5AA86-5401-E30D-A0B4-3926E3881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35FA4-F068-159B-BE55-226E2D86F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3A166-900F-5E5C-9542-CBE0C8C30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67B73-B51F-81DA-37DA-EB54069D6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514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C0C9-5863-AE7D-8C16-42BF53B8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F21EB-0104-99DC-DB26-BEF218A8F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12485-45E9-5025-E6F8-AB57D71C0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16A5E-A298-8D51-3270-CE9DACF40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911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C418-5213-3DFD-68A5-5B1DE174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9FD1C-401B-8EBE-6B7D-33D97243E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AC5FC-6811-CCF0-0465-C442B2EB9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C6FCE-F881-5AFD-097A-ED26863A4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812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3266-080A-3AD3-F01A-D78E060C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75794-5241-28CF-7C3F-142148763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C8E7E-4B2E-1523-381D-150D5DD58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6FBB7-A43A-4A3F-28AC-768C7FDB8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385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4275-A78C-E45C-A9EE-1A71929B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17B6C-C5F2-66CF-4C4C-9B7E2DFCD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D5FEC-AD43-F339-657A-8602713E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B3C87-6771-B2DD-B832-30E6B925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591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B226-1425-DB39-1B69-CC545EAD9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F7EF6-D500-5FCD-7854-EAE84259B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B7C74-5D81-701F-FB71-F1E2DC20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FB656-F5A8-8587-EB6A-1F0CD4620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76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3482-D602-E2B6-2271-ECB1DFCE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2CA51-59C2-E7F8-220F-3BE9F080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BA5CF-2EE9-5D27-0404-9D88E9AB0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76AA-EA12-8CDD-84AC-CD6C44645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143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EE36D-60E2-5A75-38CB-5C648CF7B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92C2B-72EA-3E22-A400-987B1BEC3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1E7D59-891E-6F5B-4F04-B84D18769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6CFF5-6C15-BBCC-D40F-63E7488EB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855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38AED-A234-13F8-16ED-3AC452CB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172044-331C-763C-42F2-51D375FBB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03257-D3C7-821E-23C9-158F933F3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31151-5D32-6F6C-19B7-1E68E15855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6960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5B2D-4D57-550F-0C8C-42CB3DFE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33B8F-7D82-6BF8-D46E-EA3A443C6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F83E3-F2B6-BC2E-E594-97612D0BA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C5915-6050-462D-A36D-A7F87C221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701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09A1-CB26-D968-A144-6DDE0D7E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C5B82-D563-6494-F4FB-7E4AFBD94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9614C-F65B-5CB0-26EE-AB4571385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3F86F-50C8-5A42-D65C-DB1B7E02C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795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B586-F6D9-7483-A631-267382864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6D3F4-EB94-FC3B-6449-8290916B8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67EC2-D065-CAC0-5513-78A979C24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D292A-FD45-428D-9525-5A4A8C50C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417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6F45-9D23-BD0A-9693-F3A9490F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F3151-570B-2A2E-76A4-AE9DB65CA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C8595-98CB-E506-477B-E818AF08E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46BEB-4B9E-9CA7-EC0C-9CE56C8F0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60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A07A-CE87-FC05-D4A3-188CDDCFA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F954-F1CF-DA7E-8F5A-EB5096B2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2A188-89BE-DCBB-078D-749E54F03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AF839-A07B-53E3-8024-ED9028A473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587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A967D-1FB5-EF47-08D2-7EEA688C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2B971-6E8E-5A9D-7F7C-373DC2A21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D8A47-ACC6-56C4-E987-66021EEB4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CF938-8F76-C6C3-5D04-28EE6A9AC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173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0651-C99E-C01D-06B8-ABD128AD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36341D-E5B8-CC57-7858-A23FC391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845FA-EE3C-0F7C-020A-0A4BB7004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9860B-865A-1AFF-B093-5E7D7FE66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CAF1-9EB8-2E2E-60A0-33347AFC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D915B-D1E1-6A22-FA74-C1F0A78D4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97DF3-4C13-2648-2945-E0E3685B2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F05F9-AA0F-2230-4C2F-5704660AA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861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D4FC-B9B4-7682-3623-446A41AE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88A5C-2A19-5A25-2A72-7B0D7A371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176EA-7666-7C5B-1313-B232D2A3F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4B293-ED9E-21EA-8542-935ADC845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461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12CD-27BD-53C5-B0D8-C3427433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5C7B5-06D0-3600-69CF-160F0F395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D98D5-1A4E-E5BF-7F1B-BF60A7783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1B3A8-B74F-EDE8-59EB-5CFF408D6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411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1E91-140C-104C-3106-D1787DB5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1783-F71C-B50E-05A2-82125E9B6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418D7-0D61-EE30-B836-510B2E863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70CF6-F03E-22D9-904F-DB9E6CE47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961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91AC-1856-24C2-72C1-25AC65D8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9DFB6-F911-5CC5-5F1E-6AC9E7A7C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4D554-1683-2220-5A34-8AF9A439A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13242-5D01-B065-CA01-5B110E268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949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BD06D-D61D-F9EA-64F1-ABB90934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645AC-CAD5-C8CC-516C-68FB68008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02D3C-42D7-1AB0-778D-C7CCB3AA0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49B57-6A59-9844-41C0-8ABFEC54A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650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AF2FF-9869-98FC-29A8-1DBA4B86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12DC01-0B58-1B08-F2C9-4AE8E7767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5543D-B9FB-9D52-13A1-6D94048CF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665A6-4A4E-1A74-829E-6BAD26A5B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601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F147-4EDB-1697-105C-6756FF91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852AA-3732-DE54-AD00-639EA371C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AD5FC-6C32-B694-5AAD-9CBB9DD69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29994-B3E2-FB35-1A9C-2115B6EC0B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2708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AEAE-9E27-CE89-8767-BB34DB11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3A008-6576-BBAC-74BB-7723B366A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8CB99-02C5-CB8C-1BA3-1F7F69645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341A4-1EC8-90C8-67AD-2D3FEBC00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931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205C-1355-C615-0E37-F5CE4DF1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25B8C-30A9-0046-E491-CD683693A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0E9EC-1C29-0F2E-77FC-0C1A4EBB2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F2825-68B1-C99F-BD37-7A27B3927E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2558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92C8-D73D-DE11-5901-038202F69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71E55-F251-3B99-F688-82142AF2F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E2ECE-5F38-A321-1BEB-F09E080B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D2BC5-9A44-7401-12EC-AE8A8D559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3237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165AE-F9F5-A627-E727-3ABD85B7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6261C-53F2-B986-34BC-3677E68DF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F5A77-67EA-93E6-6CDE-9E1B7AF7C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42190-7CF7-CBA6-FA1D-2B454FB10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8236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899FB-70AC-2054-BAA2-840BD935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1D74C-2FB9-980F-181E-4B1663FAF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59C84-B99B-49A2-59B7-16AC00030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18E6B-FF70-F0B3-9EC2-96DB811E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6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6D86-44B0-9D70-01BC-B889FA7F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786CD-37E7-3313-8765-1D4EF5397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0FC63-D569-9D27-E6E4-61EA4C31E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0E26D-0A2D-AF63-EAC3-FA49060F0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5901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7E7F-65B8-2276-926C-302FF078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473BD-382F-CC25-39F3-ADB3D48C9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43F7E-2BA0-A33E-79DC-2DA6337B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816A0-644F-76D1-1011-3CA993C29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7493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A123F-C997-A99E-375B-BF28147D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56653-DB0F-80E6-E524-6D8E9894C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8846B-3134-38EA-6E9D-9C3A9CDEF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8AB9-48BC-A51B-CBF6-B598C3906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1683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2B71-403E-92BC-ED81-1813BAC8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AA4E8-3CDB-BB4E-B82F-3653224A3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3B5468-AE53-5148-E33F-608DF8BDF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A4E6A-A236-DBAB-F710-871EAB077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528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C6C1-CC83-61C9-6FCC-ECEB7A46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E587D-85E6-0CD5-402C-CE82DD3E55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5400D-C221-3A29-9F7A-D9ECBEB61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52513-A6AF-C757-6157-9EC236715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305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3CE3-A550-806E-C9F5-E46A28BF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C77A32-D8D2-F3A2-19FD-D7BF652D1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2B48B-A13B-40D0-7D9C-CB4904168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C5DED-192D-BE23-5BE0-85A63D380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926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BEBC-092B-C65D-C5D5-8394A9F3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946D3-F694-96CC-A97A-AB9FC99F4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581B3-1651-08EE-B4BA-651035B00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1C69B-23BB-4F0B-7501-C7155B748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0539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683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421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3048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885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097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0807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8987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F7B0-5A08-BE3B-7236-2E8A359C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8602D-D551-D8C4-7AC7-690C45CBF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DF473-F751-EF1D-5C56-EAA5798EE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EB89C-C094-F349-9D04-2AE58D3153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954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2475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9835-69E7-5783-5110-805F1AED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1BF98-A6BD-A7B8-962E-885298500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CB735-0BE7-0002-DC72-228200B92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2D6F0-2690-A284-0096-65950FD61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8187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EDF8-13E0-CEB7-FD1E-A2E052021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C0E72-E97C-621F-4C4B-9458B0D52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7680FB-C204-315C-0945-D38704932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A00D2-5C82-F17C-A36A-F70A79701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6931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7B4A-C3FA-EA7E-E078-45012029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19990-9734-5F9A-3E06-B6A85ECED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5379E-2ADE-D4AD-95DC-02DE98103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0B59C-A835-75FC-B211-0CCF00170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9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5F12-5B3B-918F-E061-7017336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FF449-C195-18AC-FC43-914700DBA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63422-DD81-6E68-3BF4-F4E578C2A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30443-1221-CC65-29BA-99798E316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9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d-gate.com/hub/events/friends-of-rg/friend/ScottSauber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iowacodecamp.com/" TargetMode="External"/><Relationship Id="rId12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4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zure/sdk/authentication/best-practices?tabs=aspdotne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ottsauber.com/2022/05/10/improving-azure-key-vault-performance-in-asp-net-core-by-up-to-10x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uget.org/packages/Microsoft.Extensions.Azur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zure/sdk/authentication/best-practices?tabs=aspdotne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loud-adoption-framework/ready/azure-best-practices/resource-naming#develop-your-naming-conventio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spnp/AzureNamingTool" TargetMode="External"/><Relationship Id="rId4" Type="http://schemas.openxmlformats.org/officeDocument/2006/relationships/hyperlink" Target="https://learn.microsoft.com/en-us/azure/cloud-adoption-framework/ready/azure-best-practices/resource-abbreviations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actions/how-tos/secure-your-work/security-harden-deployments/oidc-in-azure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tsauber.com/" TargetMode="Externa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59924"/>
            <a:ext cx="12192000" cy="4303009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10 Things Every Dev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Should Know about Azure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46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332C9D-1D66-D0F1-B620-0AB68D7C6029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3EFDD6A2-435A-1B44-85EB-21338B4C6CD0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@</a:t>
              </a:r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16" name="Picture 2" descr="X Logo, symbol, meaning, history, PNG, brand">
              <a:extLst>
                <a:ext uri="{FF2B5EF4-FFF2-40B4-BE49-F238E27FC236}">
                  <a16:creationId xmlns:a16="http://schemas.microsoft.com/office/drawing/2014/main" id="{C22951A0-AAAE-FDD9-A5E5-A4765CD65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Developers (examples in C# but if you’re not that’s okay)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Haven’t had much exposure to Azure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D7F641-CB01-95DB-8296-DC10EA77638C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5005ADEF-36BA-AD42-A5CC-68C0CDA5229C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FAC11573-4D22-65BC-9A9F-D0231BF1B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902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73CC-C2E5-AA8B-1F40-3BB0E1F9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A076-E9D5-72B4-6088-D762A40E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Polls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5BBB-D37B-3BF8-5AA1-E89AF1DD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134600" cy="4820835"/>
          </a:xfrm>
        </p:spPr>
        <p:txBody>
          <a:bodyPr>
            <a:normAutofit/>
          </a:bodyPr>
          <a:lstStyle/>
          <a:p>
            <a:r>
              <a:rPr lang="en-US" dirty="0"/>
              <a:t>How often are people in the Azure portal or in an IAC tool?</a:t>
            </a:r>
          </a:p>
          <a:p>
            <a:r>
              <a:rPr lang="en-US" dirty="0"/>
              <a:t>Every day?</a:t>
            </a:r>
          </a:p>
          <a:p>
            <a:r>
              <a:rPr lang="en-US" dirty="0"/>
              <a:t>Every week?</a:t>
            </a:r>
          </a:p>
          <a:p>
            <a:r>
              <a:rPr lang="en-US" dirty="0"/>
              <a:t>Every month?</a:t>
            </a:r>
          </a:p>
          <a:p>
            <a:r>
              <a:rPr lang="en-US" dirty="0"/>
              <a:t>Longer?</a:t>
            </a:r>
          </a:p>
          <a:p>
            <a:r>
              <a:rPr lang="en-US" dirty="0"/>
              <a:t>How many people are responsible for Azure?</a:t>
            </a:r>
          </a:p>
          <a:p>
            <a:r>
              <a:rPr lang="en-US" dirty="0"/>
              <a:t>How many people have a team or a person responsible for Azure who isn’t them?</a:t>
            </a:r>
          </a:p>
        </p:txBody>
      </p:sp>
    </p:spTree>
    <p:extLst>
      <p:ext uri="{BB962C8B-B14F-4D97-AF65-F5344CB8AC3E}">
        <p14:creationId xmlns:p14="http://schemas.microsoft.com/office/powerpoint/2010/main" val="15291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7ED6-43DB-0BAD-B15B-46C79D80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27FA-3D06-5D7E-65D1-9550D456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D13C-E280-F8C7-86CD-7B7B2EA85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134600" cy="479353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Structured as a series of lightning talks</a:t>
            </a:r>
          </a:p>
          <a:p>
            <a:r>
              <a:rPr lang="en-US" dirty="0"/>
              <a:t>Account Organization</a:t>
            </a:r>
          </a:p>
          <a:p>
            <a:r>
              <a:rPr lang="en-US" dirty="0" err="1"/>
              <a:t>DefaultAzureCredential</a:t>
            </a:r>
            <a:r>
              <a:rPr lang="en-US" dirty="0"/>
              <a:t> (and why you shouldn’t be using it)</a:t>
            </a:r>
          </a:p>
          <a:p>
            <a:r>
              <a:rPr lang="en-US" dirty="0"/>
              <a:t>Naming Standards</a:t>
            </a:r>
          </a:p>
          <a:p>
            <a:r>
              <a:rPr lang="en-US" dirty="0"/>
              <a:t>Reservations and Savings Plans</a:t>
            </a:r>
          </a:p>
          <a:p>
            <a:r>
              <a:rPr lang="en-US" dirty="0"/>
              <a:t>Managed Identities</a:t>
            </a:r>
          </a:p>
          <a:p>
            <a:r>
              <a:rPr lang="en-US" dirty="0"/>
              <a:t>Federated Credentials</a:t>
            </a:r>
          </a:p>
          <a:p>
            <a:r>
              <a:rPr lang="en-US" dirty="0"/>
              <a:t>Azure Key Vault</a:t>
            </a:r>
          </a:p>
          <a:p>
            <a:r>
              <a:rPr lang="en-US" dirty="0"/>
              <a:t>Azure Monitor</a:t>
            </a:r>
          </a:p>
          <a:p>
            <a:r>
              <a:rPr lang="en-US" dirty="0"/>
              <a:t>Azure App Services</a:t>
            </a:r>
          </a:p>
          <a:p>
            <a:r>
              <a:rPr lang="en-US" dirty="0"/>
              <a:t>Azure Container Apps</a:t>
            </a:r>
          </a:p>
          <a:p>
            <a:r>
              <a:rPr lang="en-US" dirty="0"/>
              <a:t>Infrastructure As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51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7A8C53-9310-C497-719C-5A3536D0FE56}"/>
              </a:ext>
            </a:extLst>
          </p:cNvPr>
          <p:cNvSpPr txBox="1">
            <a:spLocks/>
          </p:cNvSpPr>
          <p:nvPr/>
        </p:nvSpPr>
        <p:spPr>
          <a:xfrm>
            <a:off x="838200" y="1779905"/>
            <a:ext cx="10515600" cy="507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Give you practical tips that can be applied immediately</a:t>
            </a:r>
          </a:p>
          <a:p>
            <a:r>
              <a:rPr lang="en-US" dirty="0"/>
              <a:t>Further understanding how Azure works and things you should be leveraging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081A59-1B6D-6351-AC95-51EE5B0DFB6A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D0CF7B9-40F6-7AA6-D951-A5001490847D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DEB73A5D-F06E-9B8E-0C93-DAFFC0E736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9588335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r>
              <a:rPr lang="en-US" dirty="0"/>
              <a:t> and </a:t>
            </a:r>
            <a:r>
              <a:rPr lang="en-US" dirty="0">
                <a:hlinkClick r:id="rId7"/>
              </a:rPr>
              <a:t>Iowa Code Camp</a:t>
            </a:r>
            <a:endParaRPr lang="en-US" dirty="0">
              <a:hlinkClick r:id="rId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559863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93" y="4320570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578246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578245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588232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58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EA72-7737-0DD7-9599-BC0C2F75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3CEE-3A62-7771-FF5E-207E162BD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Account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1400931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Subscriptions vs Resource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Ignoring Management Groups </a:t>
            </a:r>
            <a:r>
              <a:rPr lang="en-US" dirty="0" err="1"/>
              <a:t>bc</a:t>
            </a:r>
            <a:r>
              <a:rPr lang="en-US" dirty="0"/>
              <a:t> you probably don’t care about those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617ACB-7FD9-7C41-D4CC-A91CD6DF1C3F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Account Organization</a:t>
            </a:r>
          </a:p>
        </p:txBody>
      </p:sp>
      <p:pic>
        <p:nvPicPr>
          <p:cNvPr id="3076" name="Picture 4" descr="Azure management groups and subscriptions">
            <a:extLst>
              <a:ext uri="{FF2B5EF4-FFF2-40B4-BE49-F238E27FC236}">
                <a16:creationId xmlns:a16="http://schemas.microsoft.com/office/drawing/2014/main" id="{ED7FC624-757F-DB63-E624-C483E6160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19" y="2514743"/>
            <a:ext cx="5499100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3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9F02-EB82-311D-8FFA-82F79EC3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F5A4-F360-290E-79A4-E2265851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Develop Account Organization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8CA0D-9BE7-63F8-B8C2-8E2D6FB2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Subscriptions - It Depends™️</a:t>
            </a:r>
          </a:p>
          <a:p>
            <a:pPr lvl="1"/>
            <a:r>
              <a:rPr lang="en-US" dirty="0"/>
              <a:t>Minimum: per environment boundaries</a:t>
            </a:r>
          </a:p>
          <a:p>
            <a:pPr lvl="1"/>
            <a:r>
              <a:rPr lang="en-US" dirty="0"/>
              <a:t>Maximum: per team per environment boundaries</a:t>
            </a:r>
          </a:p>
          <a:p>
            <a:r>
              <a:rPr lang="en-US" dirty="0"/>
              <a:t>Resource Groups – always per app per environment</a:t>
            </a:r>
          </a:p>
          <a:p>
            <a:r>
              <a:rPr lang="en-US" dirty="0"/>
              <a:t>Service Groups – new as of May 2025</a:t>
            </a:r>
          </a:p>
          <a:p>
            <a:pPr lvl="1"/>
            <a:r>
              <a:rPr lang="en-US" dirty="0"/>
              <a:t>Fancy tags</a:t>
            </a:r>
          </a:p>
          <a:p>
            <a:pPr lvl="1"/>
            <a:r>
              <a:rPr lang="en-US" dirty="0"/>
              <a:t>Overlay to pull together across subscriptions, resource groups, </a:t>
            </a:r>
            <a:r>
              <a:rPr lang="en-US" dirty="0" err="1"/>
              <a:t>etc</a:t>
            </a:r>
            <a:r>
              <a:rPr lang="en-US" dirty="0"/>
              <a:t> – </a:t>
            </a:r>
            <a:r>
              <a:rPr lang="en-US" dirty="0" err="1"/>
              <a:t>ie</a:t>
            </a:r>
            <a:r>
              <a:rPr lang="en-US" dirty="0"/>
              <a:t> “Production apps” or “PCI Scope” or “</a:t>
            </a:r>
            <a:r>
              <a:rPr lang="en-US" dirty="0" err="1"/>
              <a:t>MyApp</a:t>
            </a:r>
            <a:r>
              <a:rPr lang="en-US" dirty="0"/>
              <a:t>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4933CD-A8D2-7EFA-212E-6BC492B0EB9B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Account Organization</a:t>
            </a:r>
          </a:p>
        </p:txBody>
      </p:sp>
    </p:spTree>
    <p:extLst>
      <p:ext uri="{BB962C8B-B14F-4D97-AF65-F5344CB8AC3E}">
        <p14:creationId xmlns:p14="http://schemas.microsoft.com/office/powerpoint/2010/main" val="280868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279C9-6A40-4C7A-8564-89B3D22E4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2817-1ACD-7235-5890-11741BC89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88376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D961E-28AB-7015-9B83-29778346F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6EC2-A330-2A8D-889F-AF02B203B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 err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DefaultAzureCredential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(and why you should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NOT be using it)</a:t>
            </a:r>
          </a:p>
        </p:txBody>
      </p:sp>
    </p:spTree>
    <p:extLst>
      <p:ext uri="{BB962C8B-B14F-4D97-AF65-F5344CB8AC3E}">
        <p14:creationId xmlns:p14="http://schemas.microsoft.com/office/powerpoint/2010/main" val="421437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03BD-2B28-889D-9EF5-9481DF69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EDC2C-C7AB-F816-DD94-0FCE6F02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2031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People use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2FFFE-25F2-41E0-52C1-E1D6864D7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…without knowing the tradeoffs</a:t>
            </a:r>
          </a:p>
          <a:p>
            <a:r>
              <a:rPr lang="en-US" dirty="0" err="1"/>
              <a:t>DefaultAzureCredential</a:t>
            </a:r>
            <a:r>
              <a:rPr lang="en-US" dirty="0"/>
              <a:t> is meant to get you into Azure as quickly as possible</a:t>
            </a:r>
          </a:p>
          <a:p>
            <a:r>
              <a:rPr lang="en-US" dirty="0"/>
              <a:t>The downside is – performance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673A78-0C3D-AA0E-F41F-A31872894AA7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1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CBE2-6067-1411-0E3F-8DB7978B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EC63-1DF5-4041-01C7-E3DC4A54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2031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People use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9891FB-6581-5242-36E3-61EE0A5A6A5C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146" name="Picture 2" descr="DefaultAzureCredential vs. ChainedTokenCredential in C# | by Harsha Vardhan  Kumar Gopisetti | Medium">
            <a:extLst>
              <a:ext uri="{FF2B5EF4-FFF2-40B4-BE49-F238E27FC236}">
                <a16:creationId xmlns:a16="http://schemas.microsoft.com/office/drawing/2014/main" id="{4AABD0A7-6BA1-301D-0109-76644399C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1901" y="1790755"/>
            <a:ext cx="12455801" cy="2276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9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32D4-F45B-53C4-4B40-A6482D69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D996-2032-D9D1-511E-47EADA45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Stop - Be explicit about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B571A-59AB-8F61-05F7-3761D1E7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Locally – use </a:t>
            </a:r>
            <a:r>
              <a:rPr lang="en-US" dirty="0" err="1"/>
              <a:t>AzureCli</a:t>
            </a:r>
            <a:r>
              <a:rPr lang="en-US" dirty="0"/>
              <a:t> or </a:t>
            </a:r>
            <a:r>
              <a:rPr lang="en-US" dirty="0" err="1"/>
              <a:t>VisualStudioCredential</a:t>
            </a:r>
            <a:r>
              <a:rPr lang="en-US" dirty="0"/>
              <a:t>… else use </a:t>
            </a:r>
            <a:r>
              <a:rPr lang="en-US" dirty="0" err="1"/>
              <a:t>ManagedIdentity</a:t>
            </a:r>
            <a:endParaRPr lang="en-US" dirty="0"/>
          </a:p>
          <a:p>
            <a:r>
              <a:rPr lang="en-US" dirty="0"/>
              <a:t>… or use Excludes on </a:t>
            </a:r>
            <a:r>
              <a:rPr lang="en-US" dirty="0" err="1"/>
              <a:t>DefaultAzureCredential</a:t>
            </a:r>
            <a:endParaRPr lang="en-US" dirty="0"/>
          </a:p>
          <a:p>
            <a:r>
              <a:rPr lang="en-US" dirty="0"/>
              <a:t>This will save you ~2-10 seconds when interacting with the credential</a:t>
            </a:r>
          </a:p>
          <a:p>
            <a:r>
              <a:rPr lang="en-US" dirty="0" err="1">
                <a:hlinkClick r:id="rId3"/>
              </a:rPr>
              <a:t>DefaultAzureCredential</a:t>
            </a:r>
            <a:r>
              <a:rPr lang="en-US" dirty="0">
                <a:hlinkClick r:id="rId3"/>
              </a:rPr>
              <a:t> Best Practices</a:t>
            </a:r>
            <a:endParaRPr lang="en-US" dirty="0"/>
          </a:p>
          <a:p>
            <a:r>
              <a:rPr lang="en-US" dirty="0">
                <a:hlinkClick r:id="rId4"/>
              </a:rPr>
              <a:t>My blog post on this in 2022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53E552-1A30-DF79-64AF-D008480366CD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1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B9D9E-9D2D-513E-3B7B-C56C3B0A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69BD-566A-773C-DB61-AF4002F7B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Be explicit about credentials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1CAB2B-5F57-296A-3724-F4A539AD6FC9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5161EA-E4C5-7420-96B8-5FEE33851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904" y="1487805"/>
            <a:ext cx="9460191" cy="51936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69AB77-FA08-619B-4CF4-E1AE9A4CD2E4}"/>
              </a:ext>
            </a:extLst>
          </p:cNvPr>
          <p:cNvSpPr/>
          <p:nvPr/>
        </p:nvSpPr>
        <p:spPr>
          <a:xfrm>
            <a:off x="1831990" y="2223770"/>
            <a:ext cx="3113127" cy="36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99742-42CC-2B2D-EF54-86DA66A789D4}"/>
              </a:ext>
            </a:extLst>
          </p:cNvPr>
          <p:cNvSpPr/>
          <p:nvPr/>
        </p:nvSpPr>
        <p:spPr>
          <a:xfrm>
            <a:off x="3545176" y="3903752"/>
            <a:ext cx="6513224" cy="5421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FE596F-9C7D-BC35-13FE-B5C6DF9CAD6E}"/>
              </a:ext>
            </a:extLst>
          </p:cNvPr>
          <p:cNvSpPr/>
          <p:nvPr/>
        </p:nvSpPr>
        <p:spPr>
          <a:xfrm>
            <a:off x="3545176" y="5099133"/>
            <a:ext cx="3349610" cy="5421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1AE91F-0B7F-30C7-ED0A-72073F9B0508}"/>
              </a:ext>
            </a:extLst>
          </p:cNvPr>
          <p:cNvSpPr/>
          <p:nvPr/>
        </p:nvSpPr>
        <p:spPr>
          <a:xfrm>
            <a:off x="1805715" y="6226447"/>
            <a:ext cx="1925458" cy="3617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923F-AEF8-094C-647E-FA0E2F1C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6481-25AD-0B6D-E1BC-070D644F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Microsoft trying to fix this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0A0B5A-22D5-B972-9B39-2AC2E2FA8CF6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47382A-5B95-44CE-2CEB-76766EEC1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943" y="1690688"/>
            <a:ext cx="6872113" cy="50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67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0B648-CDD8-3BBC-736A-8DBFC73C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7A53-A8FB-DCC5-C012-4FF6F0AC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Reuse Credential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BB7B3-202E-BE30-11D1-34B071B31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Improve app resilience</a:t>
            </a:r>
          </a:p>
          <a:p>
            <a:r>
              <a:rPr lang="en-US" dirty="0"/>
              <a:t>Reduce number of token requests to Entra</a:t>
            </a:r>
          </a:p>
          <a:p>
            <a:r>
              <a:rPr lang="en-US" dirty="0" err="1">
                <a:hlinkClick r:id="rId3"/>
              </a:rPr>
              <a:t>Microsoft.Extensions.Azure</a:t>
            </a:r>
            <a:r>
              <a:rPr lang="en-US" dirty="0">
                <a:hlinkClick r:id="rId3"/>
              </a:rPr>
              <a:t> package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5C1D97-2645-B985-FCF7-7E33010EEA4D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55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0360-05DE-64F3-C5C5-5F573D50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0BB9-F2A0-421C-3DD5-92DC7FB3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Reuse Credential Instances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AD4B9F-2CE5-386D-4586-F8B8B2BDACC0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41448D-10AF-4EB3-FC6A-24022752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93421"/>
            <a:ext cx="7772400" cy="532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2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A7695-5B4B-0FC0-7FA6-46AD0D60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61FB-DA89-6E31-3C98-0D16B83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732DD-F2B6-E982-3F14-8558FA13C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https://learn.microsoft.com/en-us/dotnet/azure/sdk/authentication/best-practices?tabs=aspdotnet</a:t>
            </a:r>
            <a:r>
              <a:rPr lang="en-US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0DB465-6194-F170-4B2F-66582EC40D96}"/>
              </a:ext>
            </a:extLst>
          </p:cNvPr>
          <p:cNvSpPr txBox="1">
            <a:spLocks/>
          </p:cNvSpPr>
          <p:nvPr/>
        </p:nvSpPr>
        <p:spPr>
          <a:xfrm>
            <a:off x="9952892" y="36937"/>
            <a:ext cx="2307797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DefaultAzureCredential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2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D700B-7E31-7C1C-46DF-2B779404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1109A-A194-ACCC-6998-F4C8B8BE8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7690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54E76-4032-4592-CBE5-DF6ACA98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8FD6-167E-78CA-694D-A2022B747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1469537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B640-BC1A-98B7-60B0-466C37313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B367B-61B8-ACE8-AAB3-A5C7673C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Naming is a mess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6603-DCD1-4D95-99C3-126184C6D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Who here feels good about their Azure naming conventions?</a:t>
            </a:r>
          </a:p>
          <a:p>
            <a:r>
              <a:rPr lang="en-US" dirty="0"/>
              <a:t>Naming has no consistency across apps, teams, divisions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466C78-2658-C06F-5727-800D396B19EF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5859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0679-468F-2AF4-01B0-41FF875A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8894-9BA1-9ECE-3D11-58B77D0E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Implement a Naming Standard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40EA-6AEA-7424-1FA8-702F20802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Microsoft has a </a:t>
            </a:r>
            <a:r>
              <a:rPr lang="en-US" dirty="0">
                <a:hlinkClick r:id="rId3"/>
              </a:rPr>
              <a:t>recommended naming convention</a:t>
            </a:r>
            <a:r>
              <a:rPr lang="en-US" dirty="0"/>
              <a:t> based on </a:t>
            </a:r>
            <a:r>
              <a:rPr lang="en-US" dirty="0">
                <a:hlinkClick r:id="rId4"/>
              </a:rPr>
              <a:t>recommended abbreviations</a:t>
            </a:r>
            <a:endParaRPr lang="en-US" dirty="0"/>
          </a:p>
          <a:p>
            <a:r>
              <a:rPr lang="en-US" dirty="0"/>
              <a:t>Example: app-navigator-dev-001 for an application called Navigator, that’s an App Service running in the Dev env</a:t>
            </a:r>
          </a:p>
          <a:p>
            <a:r>
              <a:rPr lang="en-US" dirty="0"/>
              <a:t>Azure has a </a:t>
            </a:r>
            <a:r>
              <a:rPr lang="en-US" dirty="0">
                <a:hlinkClick r:id="rId5"/>
              </a:rPr>
              <a:t>naming tool </a:t>
            </a:r>
            <a:r>
              <a:rPr lang="en-US" dirty="0"/>
              <a:t>you can run</a:t>
            </a:r>
          </a:p>
          <a:p>
            <a:r>
              <a:rPr lang="en-US" dirty="0" err="1"/>
              <a:t>AzureNamingTool</a:t>
            </a:r>
            <a:endParaRPr lang="en-US" dirty="0"/>
          </a:p>
          <a:p>
            <a:r>
              <a:rPr lang="en-US" dirty="0"/>
              <a:t>More important that you pick something and be consistent</a:t>
            </a:r>
          </a:p>
          <a:p>
            <a:r>
              <a:rPr lang="en-US" dirty="0"/>
              <a:t>Enforce with Azure Policy (more soon)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6C1624-B7B9-ECEF-4E79-4B09700FE69B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Naming Standards</a:t>
            </a:r>
          </a:p>
        </p:txBody>
      </p:sp>
    </p:spTree>
    <p:extLst>
      <p:ext uri="{BB962C8B-B14F-4D97-AF65-F5344CB8AC3E}">
        <p14:creationId xmlns:p14="http://schemas.microsoft.com/office/powerpoint/2010/main" val="366087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C106B-4A03-A1EB-8B20-48DD61473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E2A8-746B-EB72-CA7B-5A4748D4E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04934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6B58-BE33-70E4-8F21-B83A1AB1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E272-BA66-F4D3-4E4D-851148E56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Reservations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&amp;&amp; Savings Plans</a:t>
            </a:r>
          </a:p>
        </p:txBody>
      </p:sp>
    </p:spTree>
    <p:extLst>
      <p:ext uri="{BB962C8B-B14F-4D97-AF65-F5344CB8AC3E}">
        <p14:creationId xmlns:p14="http://schemas.microsoft.com/office/powerpoint/2010/main" val="2414783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C2672-0016-61C5-398C-2B2B3BF6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7EEF-AF97-AF01-302A-67C54308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Cost is getting too high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F79C760-01F2-C237-1371-2B4DB31CD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Cloud isn’t always cheaper up front</a:t>
            </a:r>
          </a:p>
          <a:p>
            <a:r>
              <a:rPr lang="en-US" dirty="0"/>
              <a:t>Sometimes cloud is about speed, lower TCO, and more visibility</a:t>
            </a:r>
          </a:p>
        </p:txBody>
      </p:sp>
    </p:spTree>
    <p:extLst>
      <p:ext uri="{BB962C8B-B14F-4D97-AF65-F5344CB8AC3E}">
        <p14:creationId xmlns:p14="http://schemas.microsoft.com/office/powerpoint/2010/main" val="409878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1B10-093A-8B01-04D7-D94ADB33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2916-6990-1535-68D9-1F88C1E2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Azure Reservations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758EB68-4353-60C8-7D9D-6018584E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Commit to using certain resources for 1 year or 3 years, get a discount between 20% - 70% depending on the resource (App Service Plans, SQL, VMs, Cosmos,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Downside – what if you get rid of the resource after 2 years but you committed to 3</a:t>
            </a:r>
          </a:p>
          <a:p>
            <a:r>
              <a:rPr lang="en-US" dirty="0"/>
              <a:t>Still pay monthly or up front (if you want)</a:t>
            </a:r>
          </a:p>
        </p:txBody>
      </p:sp>
    </p:spTree>
    <p:extLst>
      <p:ext uri="{BB962C8B-B14F-4D97-AF65-F5344CB8AC3E}">
        <p14:creationId xmlns:p14="http://schemas.microsoft.com/office/powerpoint/2010/main" val="236432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988E-A429-102C-5A75-777D4C3D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5FDE-4149-F6CE-3A16-BD0909B2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Azure Savings Plans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880027-1E79-A09B-1C39-C7FC7237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Commit to using certain spend $ for 1 yr or 3 yrs, get a discount</a:t>
            </a:r>
          </a:p>
          <a:p>
            <a:r>
              <a:rPr lang="en-US" dirty="0"/>
              <a:t>Can be used however you want across eligible resource types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7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980EA-4455-FC57-2D74-3B0E76B2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6A91-A05A-8DEE-54BB-4B61A270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Comparing Savings Plans vs Reservations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EC8A53-442B-D4F0-E80A-89E6C9A73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Reservations give you more savings, but more risk if you need to change your plans</a:t>
            </a:r>
          </a:p>
          <a:p>
            <a:r>
              <a:rPr lang="en-US" dirty="0"/>
              <a:t>I recommend everyone use at least Savings Plans</a:t>
            </a:r>
          </a:p>
          <a:p>
            <a:r>
              <a:rPr lang="en-US" dirty="0"/>
              <a:t>Go tell your boss you can cut the Azure bill by at least 20% and get a promotion</a:t>
            </a:r>
          </a:p>
          <a:p>
            <a:r>
              <a:rPr lang="en-US" dirty="0"/>
              <a:t>Comparison of a single P0V3 App Service Plan: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FAA61-5735-83AE-0FB5-BDB4C9064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43" y="4663377"/>
            <a:ext cx="11499713" cy="18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9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D27F6-5678-EEF3-9E9B-924959F30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C904-DCFF-5C91-280E-1C1E99B82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39269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8C4E8-18A4-481D-6CA0-2FFBCDBB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12431-E2D2-0323-475D-31F74D61F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1823903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BEB-B476-90C6-0DA4-16AC6386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3191-9EA7-A5AC-36BF-12D00EA3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We are managing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1382-FE43-B1E7-D21E-B0EC9AB2F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Credentials to manage – create, store, rotate, revoke</a:t>
            </a:r>
          </a:p>
          <a:p>
            <a:r>
              <a:rPr lang="en-US" dirty="0"/>
              <a:t>Azure SQL still using SQL Auth – username + password</a:t>
            </a:r>
          </a:p>
          <a:p>
            <a:r>
              <a:rPr lang="en-US" dirty="0"/>
              <a:t>Key Vault still using Client ID + Client Secret</a:t>
            </a:r>
          </a:p>
          <a:p>
            <a:r>
              <a:rPr lang="en-US" dirty="0"/>
              <a:t>Someone might accidentally commit a secret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FC140CD-AE56-50FC-7936-42DB695651E1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163757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DD523-2A0F-CCCD-B553-68A5AF5D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646F-49A4-7C57-5B55-633FC751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Managed 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66DD-985E-BD87-98F7-35BD03109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Managed Identities allow you to give a resource an “identity” (user to run as essentially)</a:t>
            </a:r>
          </a:p>
          <a:p>
            <a:r>
              <a:rPr lang="en-US" dirty="0"/>
              <a:t>These Identities are managed completely by Azure – no username/password/client id/client secret needed</a:t>
            </a:r>
          </a:p>
          <a:p>
            <a:r>
              <a:rPr lang="en-US" dirty="0"/>
              <a:t>Assign a Managed Identity to an App Service/Function/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Give that Managed Identity access to read secrets, connect to a DB,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Completely </a:t>
            </a:r>
            <a:r>
              <a:rPr lang="en-US" dirty="0" err="1"/>
              <a:t>passwordless</a:t>
            </a:r>
            <a:endParaRPr lang="en-US" dirty="0"/>
          </a:p>
          <a:p>
            <a:r>
              <a:rPr lang="en-US" dirty="0"/>
              <a:t>In your code you can use the </a:t>
            </a:r>
            <a:r>
              <a:rPr lang="en-US" dirty="0" err="1"/>
              <a:t>ManagedIdentityCredential</a:t>
            </a:r>
            <a:r>
              <a:rPr lang="en-US" dirty="0"/>
              <a:t> (not </a:t>
            </a:r>
            <a:r>
              <a:rPr lang="en-US" dirty="0" err="1"/>
              <a:t>DefaultAzureCredential</a:t>
            </a:r>
            <a:r>
              <a:rPr lang="en-US" dirty="0"/>
              <a:t>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10BFD6-E807-8860-57AD-555E3D0739DD}"/>
              </a:ext>
            </a:extLst>
          </p:cNvPr>
          <p:cNvSpPr txBox="1">
            <a:spLocks/>
          </p:cNvSpPr>
          <p:nvPr/>
        </p:nvSpPr>
        <p:spPr>
          <a:xfrm>
            <a:off x="10295793" y="36937"/>
            <a:ext cx="1964896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Managed Identities</a:t>
            </a:r>
          </a:p>
        </p:txBody>
      </p:sp>
    </p:spTree>
    <p:extLst>
      <p:ext uri="{BB962C8B-B14F-4D97-AF65-F5344CB8AC3E}">
        <p14:creationId xmlns:p14="http://schemas.microsoft.com/office/powerpoint/2010/main" val="295649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C7863-E30B-80D0-6D6E-840B16C5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C7C6-6B69-6108-822B-AC2D026DB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47051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518F1-7914-4BE0-54B7-A4F947C60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00F34-9DD7-8BDE-E68A-370C236BC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1448416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C415-0B82-F2F2-B801-3324B107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C44F-010D-E2BB-02E8-E99CF75C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Problem: Not using Federated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AF90-AE51-4C3B-4C5B-8B102C5EE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Your CI/CD pipelines need to auth to Azure to provision resources, deploy,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Without Federated Credentials, you’re managing a Client ID + Client Secret (most likely)</a:t>
            </a:r>
          </a:p>
          <a:p>
            <a:r>
              <a:rPr lang="en-US" dirty="0"/>
              <a:t>All the same issues managing credentials (create, store, rotate, revoke)</a:t>
            </a:r>
          </a:p>
          <a:p>
            <a:r>
              <a:rPr lang="en-US" dirty="0"/>
              <a:t>If someone gets these credentials, they can manipulate your Azure environment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E332D0-86F6-1087-18EC-DC653B3C9EBA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101488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5934-148A-50B6-9A17-0AF01A7F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FD6B2-2619-285D-FE6C-C5235B8E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Federated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CB0EF-A855-9E7F-C5DB-66021CF9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95438"/>
          </a:xfrm>
        </p:spPr>
        <p:txBody>
          <a:bodyPr>
            <a:normAutofit/>
          </a:bodyPr>
          <a:lstStyle/>
          <a:p>
            <a:r>
              <a:rPr lang="en-US" dirty="0"/>
              <a:t>Federated Credentials allows you to “trust” repositories to push to Azure</a:t>
            </a:r>
          </a:p>
          <a:p>
            <a:r>
              <a:rPr lang="en-US" dirty="0" err="1"/>
              <a:t>Passwordless</a:t>
            </a:r>
            <a:endParaRPr lang="en-US" dirty="0"/>
          </a:p>
          <a:p>
            <a:r>
              <a:rPr lang="en-US" dirty="0"/>
              <a:t>Short-lived tokens (minutes)</a:t>
            </a:r>
          </a:p>
          <a:p>
            <a:r>
              <a:rPr lang="en-US" dirty="0">
                <a:hlinkClick r:id="rId3"/>
              </a:rPr>
              <a:t>How to do this with GitHub Actions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073C1D-9FC7-84BD-7F15-DC67925A86C6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Federated Credentials</a:t>
            </a:r>
          </a:p>
        </p:txBody>
      </p:sp>
    </p:spTree>
    <p:extLst>
      <p:ext uri="{BB962C8B-B14F-4D97-AF65-F5344CB8AC3E}">
        <p14:creationId xmlns:p14="http://schemas.microsoft.com/office/powerpoint/2010/main" val="42373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99AF6-6B8F-717B-F8A3-0053AE38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8C26-EE8E-827B-7C87-8AC905E5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Solution: Use Federated Credentials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5E7CCC-6206-7AA0-DCAB-C11594ACFEB4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Federated Credentials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279DF-2BCE-161A-3DC5-8EB04B42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92" y="552765"/>
            <a:ext cx="10429951" cy="55721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DCF7CC-14D4-C497-D025-1410609BD396}"/>
              </a:ext>
            </a:extLst>
          </p:cNvPr>
          <p:cNvSpPr/>
          <p:nvPr/>
        </p:nvSpPr>
        <p:spPr>
          <a:xfrm>
            <a:off x="717893" y="4204970"/>
            <a:ext cx="4686942" cy="5086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A0E376-F8D7-FD2A-FE29-98F3352EFD54}"/>
              </a:ext>
            </a:extLst>
          </p:cNvPr>
          <p:cNvSpPr/>
          <p:nvPr/>
        </p:nvSpPr>
        <p:spPr>
          <a:xfrm>
            <a:off x="717891" y="4713668"/>
            <a:ext cx="5841748" cy="5086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7C7AC-FA07-A21F-6B48-D22ACD59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FB08-8DD3-1D39-A903-D0062C009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80389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8E102-4D80-DE35-112E-8B9A39AF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47A01-9C3F-39C1-4CB8-06A894A4F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Key Vault</a:t>
            </a:r>
          </a:p>
        </p:txBody>
      </p:sp>
    </p:spTree>
    <p:extLst>
      <p:ext uri="{BB962C8B-B14F-4D97-AF65-F5344CB8AC3E}">
        <p14:creationId xmlns:p14="http://schemas.microsoft.com/office/powerpoint/2010/main" val="8155754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CD68-41CB-9A24-84B5-3572FF5CF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0457-6215-FA31-6ABA-A2D34A0E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Key Vault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3CF89-D253-4710-EF78-BB640EA8C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fontScale="92500"/>
          </a:bodyPr>
          <a:lstStyle/>
          <a:p>
            <a:r>
              <a:rPr lang="en-US" dirty="0"/>
              <a:t>Where you can store Secrets, Keys, Certificates</a:t>
            </a:r>
          </a:p>
          <a:p>
            <a:r>
              <a:rPr lang="en-US" dirty="0"/>
              <a:t>Most of the time</a:t>
            </a:r>
          </a:p>
          <a:p>
            <a:r>
              <a:rPr lang="en-US" dirty="0"/>
              <a:t>You should be using RBAC not Access Policies</a:t>
            </a:r>
          </a:p>
          <a:p>
            <a:pPr lvl="1"/>
            <a:r>
              <a:rPr lang="en-US" dirty="0"/>
              <a:t>Key Vault Secrets User can read secrets</a:t>
            </a:r>
          </a:p>
          <a:p>
            <a:pPr lvl="1"/>
            <a:r>
              <a:rPr lang="en-US" dirty="0"/>
              <a:t>Key Vault Secrets Officer can read/write secrets</a:t>
            </a:r>
          </a:p>
          <a:p>
            <a:r>
              <a:rPr lang="en-US" dirty="0"/>
              <a:t>You should be using Managed Identities for your applications to talk to Azure Key Vault</a:t>
            </a:r>
          </a:p>
          <a:p>
            <a:pPr lvl="1"/>
            <a:r>
              <a:rPr lang="en-US" dirty="0" err="1"/>
              <a:t>ie</a:t>
            </a:r>
            <a:r>
              <a:rPr lang="en-US" dirty="0"/>
              <a:t> app-</a:t>
            </a:r>
            <a:r>
              <a:rPr lang="en-US" dirty="0" err="1"/>
              <a:t>myapi</a:t>
            </a:r>
            <a:r>
              <a:rPr lang="en-US" dirty="0"/>
              <a:t>-dev can talk to Azure Key Vault with Secrets User RBAC role</a:t>
            </a:r>
          </a:p>
          <a:p>
            <a:r>
              <a:rPr lang="en-US" dirty="0"/>
              <a:t>Create groups to assign your developers permission to those Key Vaults</a:t>
            </a:r>
          </a:p>
          <a:p>
            <a:r>
              <a:rPr lang="en-US" dirty="0"/>
              <a:t>Developers need at least ability to list secrets to see what’s there</a:t>
            </a:r>
          </a:p>
          <a:p>
            <a:pPr lvl="1"/>
            <a:r>
              <a:rPr lang="en-US" dirty="0"/>
              <a:t>Key Vault Reader == list, but Key Vault Secrets Officer for </a:t>
            </a:r>
            <a:r>
              <a:rPr lang="en-US" dirty="0" err="1"/>
              <a:t>r+w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05E60F-D848-8C3F-CFBE-1F2E9F418A1D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Key Vault</a:t>
            </a:r>
          </a:p>
        </p:txBody>
      </p:sp>
    </p:spTree>
    <p:extLst>
      <p:ext uri="{BB962C8B-B14F-4D97-AF65-F5344CB8AC3E}">
        <p14:creationId xmlns:p14="http://schemas.microsoft.com/office/powerpoint/2010/main" val="221663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25AD-E0B1-7D37-1EE4-D866C1A6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C1DF-DB42-4CE1-929F-FD5162C5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Key Vault in .NET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597C-F1A7-66E7-9FD7-5D3C90D7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$0.03 per 10,000 requests</a:t>
            </a:r>
          </a:p>
          <a:p>
            <a:r>
              <a:rPr lang="en-US" dirty="0"/>
              <a:t>Load secrets on startup</a:t>
            </a:r>
          </a:p>
          <a:p>
            <a:r>
              <a:rPr lang="en-US" dirty="0" err="1"/>
              <a:t>Azure.Identity</a:t>
            </a:r>
            <a:r>
              <a:rPr lang="en-US" dirty="0"/>
              <a:t> Package</a:t>
            </a:r>
          </a:p>
          <a:p>
            <a:r>
              <a:rPr lang="en-US" dirty="0" err="1"/>
              <a:t>Azure.Extensions.AspNetCore.Configuration.Secrets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8F2D74-036C-8D1C-3366-BD9A29DFB475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Key Vault</a:t>
            </a:r>
          </a:p>
        </p:txBody>
      </p:sp>
    </p:spTree>
    <p:extLst>
      <p:ext uri="{BB962C8B-B14F-4D97-AF65-F5344CB8AC3E}">
        <p14:creationId xmlns:p14="http://schemas.microsoft.com/office/powerpoint/2010/main" val="161013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7514-5B4E-40B8-563D-0CDA4FC1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1FE4-3CCF-96C7-DC85-1E8C4990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Key Vault in .NET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132EF6-3921-3BBB-725C-565E2CD2571F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Key Vault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2D408-EDCB-7780-E133-04C616CD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04" y="2639004"/>
            <a:ext cx="9953959" cy="247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96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5A81-35AF-16A2-FA77-86DF5035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D617-0DF4-17A5-FA31-AF7EAD15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Use Azure Key Vault for Local Secrets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7F71A-D845-BAE8-88F4-DBA60ABD0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If you have local secrets… API keys…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Don’t use `dotnet-secrets`</a:t>
            </a:r>
          </a:p>
          <a:p>
            <a:r>
              <a:rPr lang="en-US" dirty="0"/>
              <a:t>It’s ok for 1 or 2 person teams, not ok for large teams</a:t>
            </a:r>
          </a:p>
          <a:p>
            <a:r>
              <a:rPr lang="en-US" dirty="0"/>
              <a:t>Need to hand around magic JSON files or values</a:t>
            </a:r>
          </a:p>
          <a:p>
            <a:r>
              <a:rPr lang="en-US" dirty="0"/>
              <a:t>Instead create a Key Vault for local development</a:t>
            </a:r>
          </a:p>
          <a:p>
            <a:r>
              <a:rPr lang="en-US" dirty="0"/>
              <a:t>Shared by everyone</a:t>
            </a:r>
          </a:p>
          <a:p>
            <a:r>
              <a:rPr lang="en-US" dirty="0"/>
              <a:t>“But I need offline”</a:t>
            </a:r>
          </a:p>
          <a:p>
            <a:r>
              <a:rPr lang="en-US" dirty="0"/>
              <a:t>…what are you doing offline that you need a secret for?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C75E87-E345-91D3-0C0F-50CC12A2950C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Key Vault</a:t>
            </a:r>
          </a:p>
        </p:txBody>
      </p:sp>
    </p:spTree>
    <p:extLst>
      <p:ext uri="{BB962C8B-B14F-4D97-AF65-F5344CB8AC3E}">
        <p14:creationId xmlns:p14="http://schemas.microsoft.com/office/powerpoint/2010/main" val="371825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B4006-A18C-1775-D106-4C9A1C7D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7A8A-339C-E496-F30F-35851E743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19647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4EE87-E96A-ADC5-9A6B-45F072A9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17D7-3E11-1AF1-FA91-150E6F5D2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Monitor</a:t>
            </a:r>
          </a:p>
        </p:txBody>
      </p:sp>
    </p:spTree>
    <p:extLst>
      <p:ext uri="{BB962C8B-B14F-4D97-AF65-F5344CB8AC3E}">
        <p14:creationId xmlns:p14="http://schemas.microsoft.com/office/powerpoint/2010/main" val="1716297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EC2F-EB09-F97B-29C4-2F63A750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01DB-EBC9-3DE2-90DC-28A2D9079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130F4-8E09-5FB6-441E-DC908D40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Conglomerate of Azure services</a:t>
            </a:r>
          </a:p>
          <a:p>
            <a:r>
              <a:rPr lang="en-US" dirty="0"/>
              <a:t>Azure Application Insights</a:t>
            </a:r>
          </a:p>
          <a:p>
            <a:r>
              <a:rPr lang="en-US" dirty="0"/>
              <a:t>Azure Log Analytics</a:t>
            </a:r>
          </a:p>
          <a:p>
            <a:r>
              <a:rPr lang="en-US" dirty="0"/>
              <a:t>Alerts</a:t>
            </a:r>
          </a:p>
          <a:p>
            <a:r>
              <a:rPr lang="en-US" dirty="0"/>
              <a:t>Dashboards</a:t>
            </a:r>
          </a:p>
          <a:p>
            <a:r>
              <a:rPr lang="en-US" dirty="0"/>
              <a:t>Workbooks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96024D-A5BB-6E29-D347-EF1F745C6580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</p:spTree>
    <p:extLst>
      <p:ext uri="{BB962C8B-B14F-4D97-AF65-F5344CB8AC3E}">
        <p14:creationId xmlns:p14="http://schemas.microsoft.com/office/powerpoint/2010/main" val="297776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776C-3B29-D8B3-F83D-3DDB7E3F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9949-EA67-43AD-46B8-D3A1A201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Application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8E96-06C8-BB5E-7981-62D7ACB80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APM tool</a:t>
            </a:r>
          </a:p>
          <a:p>
            <a:r>
              <a:rPr lang="en-US" dirty="0"/>
              <a:t>Answers questions like “Why is this page slow?” or “How is the system being used in Production?”</a:t>
            </a:r>
          </a:p>
          <a:p>
            <a:r>
              <a:rPr lang="en-US" dirty="0"/>
              <a:t>Also stores logs</a:t>
            </a:r>
          </a:p>
          <a:p>
            <a:r>
              <a:rPr lang="en-US" dirty="0"/>
              <a:t>Leverage Managed Identity to talk to Application Insights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F8E890-0A63-5780-4609-55F3D2447682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</p:spTree>
    <p:extLst>
      <p:ext uri="{BB962C8B-B14F-4D97-AF65-F5344CB8AC3E}">
        <p14:creationId xmlns:p14="http://schemas.microsoft.com/office/powerpoint/2010/main" val="413131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22CC-B57A-C8E2-599A-E8FB8BDB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B0F3-1E03-FD4D-FDBD-9A941CD39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Application Insights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913875-8475-0E24-22A4-7BF589D263F9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  <p:pic>
        <p:nvPicPr>
          <p:cNvPr id="6146" name="Picture 2" descr="Application Insights OpenTelemetry observability overview - Azure Monitor |  Microsoft Learn">
            <a:extLst>
              <a:ext uri="{FF2B5EF4-FFF2-40B4-BE49-F238E27FC236}">
                <a16:creationId xmlns:a16="http://schemas.microsoft.com/office/drawing/2014/main" id="{E08FA1F7-5767-272E-DB41-B8672E5A6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916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51C0-235A-6192-52B8-0810D5EC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5F4B-DDB1-665B-3CD9-1097F326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Application Insights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9AAD1A-101A-2763-503F-B1BABEFB5869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  <p:pic>
        <p:nvPicPr>
          <p:cNvPr id="8194" name="Picture 2" descr="Investigate failures, performance, and transactions with Application  Insights - Azure Monitor | Microsoft Learn">
            <a:extLst>
              <a:ext uri="{FF2B5EF4-FFF2-40B4-BE49-F238E27FC236}">
                <a16:creationId xmlns:a16="http://schemas.microsoft.com/office/drawing/2014/main" id="{6AAEF7A0-0DF6-5AC1-BCFA-950E33A1D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3036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4E94-F878-9620-6006-4D5C79C4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D6F-C0E6-DE21-8501-126F9691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Log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690E7-5A9B-F2FF-4CC4-6D668F0E1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Ingest in logs in centralized log aggregator – no log files</a:t>
            </a:r>
          </a:p>
          <a:p>
            <a:r>
              <a:rPr lang="en-US" dirty="0"/>
              <a:t>Be able to query those logs using KQL</a:t>
            </a:r>
          </a:p>
          <a:p>
            <a:r>
              <a:rPr lang="en-US" dirty="0"/>
              <a:t>Alert off logs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3A07043-6EE9-5371-60CB-FE3FB948022C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</p:spTree>
    <p:extLst>
      <p:ext uri="{BB962C8B-B14F-4D97-AF65-F5344CB8AC3E}">
        <p14:creationId xmlns:p14="http://schemas.microsoft.com/office/powerpoint/2010/main" val="287534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796F-D245-1250-C290-D7D50387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5166EC-4CE9-F0E9-671A-26B3E228A9F3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Monitor</a:t>
            </a:r>
          </a:p>
        </p:txBody>
      </p:sp>
      <p:pic>
        <p:nvPicPr>
          <p:cNvPr id="10242" name="Picture 2" descr="Azure Log Analytics for Azure Arc Enabled Servers - Thomas Maurer">
            <a:extLst>
              <a:ext uri="{FF2B5EF4-FFF2-40B4-BE49-F238E27FC236}">
                <a16:creationId xmlns:a16="http://schemas.microsoft.com/office/drawing/2014/main" id="{AD2A2B41-F4E2-1352-ED7F-1475A320F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0"/>
            <a:ext cx="11129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1830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FCD64-1DB8-FFFB-4639-DDD9666B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096C0-865D-BB5B-1F0D-B3250E2600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041737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57224-442A-3A3E-3787-08DE50FB5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7C39-09AE-4B25-AB04-773CF9AE9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App Services</a:t>
            </a:r>
          </a:p>
        </p:txBody>
      </p:sp>
    </p:spTree>
    <p:extLst>
      <p:ext uri="{BB962C8B-B14F-4D97-AF65-F5344CB8AC3E}">
        <p14:creationId xmlns:p14="http://schemas.microsoft.com/office/powerpoint/2010/main" val="1723110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2514-C9FA-B908-806E-70766392B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DAC12-6EB2-049D-16EB-D90110F7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9D29A-3D1F-0EFA-04BD-7D6FDC5EF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Simplest way of hosting a web app or API (imo) across major clouds</a:t>
            </a:r>
          </a:p>
          <a:p>
            <a:r>
              <a:rPr lang="en-US" dirty="0"/>
              <a:t>PaaS</a:t>
            </a:r>
          </a:p>
          <a:p>
            <a:r>
              <a:rPr lang="en-US" dirty="0"/>
              <a:t>Upload zip, select runtime, and go</a:t>
            </a:r>
          </a:p>
          <a:p>
            <a:r>
              <a:rPr lang="en-US" dirty="0"/>
              <a:t>Customize environment variables, custom domains, and more</a:t>
            </a:r>
          </a:p>
          <a:p>
            <a:r>
              <a:rPr lang="en-US" dirty="0"/>
              <a:t>Also able to use containers instead of a zip, just set an env var</a:t>
            </a:r>
          </a:p>
          <a:p>
            <a:r>
              <a:rPr lang="en-US" dirty="0"/>
              <a:t>Zero Downtime Deployments with Deployment Slots</a:t>
            </a:r>
          </a:p>
          <a:p>
            <a:r>
              <a:rPr lang="en-US" dirty="0"/>
              <a:t>Try to avoid Slots per environment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5CFBA9-37C5-807A-4844-ADEC48010993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</p:spTree>
    <p:extLst>
      <p:ext uri="{BB962C8B-B14F-4D97-AF65-F5344CB8AC3E}">
        <p14:creationId xmlns:p14="http://schemas.microsoft.com/office/powerpoint/2010/main" val="76663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740E-0BA0-4317-7FB4-FF9D8CDE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198A-6E23-948B-C904-D522EB15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 Slots - ZDD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EC6721-2121-31B5-C96B-F07E743F3C8A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A6E51-E0EB-A713-56C9-2554A63BF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54" y="1786223"/>
            <a:ext cx="10141491" cy="44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828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C95FE-E13F-2B44-66C0-C4EA4CBF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B6F9-E2E4-FAAD-D4FC-5F906A987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 Slots - ZDD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F1CCD0-D700-62FF-44E9-68AD3D3B237A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753E49-FD8E-DA2D-8788-829F39C9C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1348"/>
            <a:ext cx="10857411" cy="42246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400593-D950-E29C-E2EF-12AB6ED0E7E2}"/>
              </a:ext>
            </a:extLst>
          </p:cNvPr>
          <p:cNvSpPr/>
          <p:nvPr/>
        </p:nvSpPr>
        <p:spPr>
          <a:xfrm>
            <a:off x="7342956" y="4047405"/>
            <a:ext cx="1590979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D132A-76D9-14F5-260C-974850406504}"/>
              </a:ext>
            </a:extLst>
          </p:cNvPr>
          <p:cNvSpPr/>
          <p:nvPr/>
        </p:nvSpPr>
        <p:spPr>
          <a:xfrm>
            <a:off x="5727263" y="4658497"/>
            <a:ext cx="344023" cy="1977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C01F2-CDE0-4070-14B1-C17029F7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9839-7C43-1BFD-C815-EB0909518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 Slots - ZDD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45AAF5-51E8-B1DC-4D0B-94992A37D484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EC3BB7-7CD8-7573-C9BF-4BEA9370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1212470" cy="42557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EFFF5C-1421-0FEA-20F9-ECB90C5A6431}"/>
              </a:ext>
            </a:extLst>
          </p:cNvPr>
          <p:cNvSpPr/>
          <p:nvPr/>
        </p:nvSpPr>
        <p:spPr>
          <a:xfrm>
            <a:off x="7515951" y="3781498"/>
            <a:ext cx="1047282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8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EA0F-1804-6A88-7C18-7A24E7C0E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6A90-FDEB-481E-C1A9-B8C0A71F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 Slots - ZDD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AADED4-9EDA-553E-0527-38EE23C4B99C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728DBC-FDFF-9590-5E5E-3BBDD7841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90687"/>
            <a:ext cx="10929635" cy="45326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BAE609-4C66-EE50-AA08-E02FE5A4681F}"/>
              </a:ext>
            </a:extLst>
          </p:cNvPr>
          <p:cNvSpPr/>
          <p:nvPr/>
        </p:nvSpPr>
        <p:spPr>
          <a:xfrm>
            <a:off x="2511464" y="2910583"/>
            <a:ext cx="1838114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8AECF-2378-D54C-C553-57DABEA8669E}"/>
              </a:ext>
            </a:extLst>
          </p:cNvPr>
          <p:cNvSpPr/>
          <p:nvPr/>
        </p:nvSpPr>
        <p:spPr>
          <a:xfrm>
            <a:off x="5300511" y="4319254"/>
            <a:ext cx="795490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D36D26-1E07-C017-084E-1FC37A9C3804}"/>
              </a:ext>
            </a:extLst>
          </p:cNvPr>
          <p:cNvSpPr/>
          <p:nvPr/>
        </p:nvSpPr>
        <p:spPr>
          <a:xfrm>
            <a:off x="5300510" y="3316266"/>
            <a:ext cx="902581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2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79D0-3FC6-BBB5-0342-EEF82939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B35B-00B3-A095-2579-C312744B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App Service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13601-917A-3BF0-B9ED-1B4D5456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PaaS but it’s a managed VM</a:t>
            </a:r>
          </a:p>
          <a:p>
            <a:r>
              <a:rPr lang="en-US" dirty="0"/>
              <a:t>You pick memory, CPU, storage, and operating system</a:t>
            </a:r>
          </a:p>
          <a:p>
            <a:r>
              <a:rPr lang="en-US" dirty="0"/>
              <a:t>Host many App Services on a single App Service Plan</a:t>
            </a:r>
          </a:p>
          <a:p>
            <a:r>
              <a:rPr lang="en-US" dirty="0"/>
              <a:t>Should you? Noisy Neighbor</a:t>
            </a:r>
          </a:p>
          <a:p>
            <a:r>
              <a:rPr lang="en-US" dirty="0"/>
              <a:t>You get charged by the App Service Plan not the App Service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2DC48F-ADD8-15C2-811D-0C1E36943A2A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App Service</a:t>
            </a:r>
          </a:p>
        </p:txBody>
      </p:sp>
    </p:spTree>
    <p:extLst>
      <p:ext uri="{BB962C8B-B14F-4D97-AF65-F5344CB8AC3E}">
        <p14:creationId xmlns:p14="http://schemas.microsoft.com/office/powerpoint/2010/main" val="395482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42B03-0195-AAAA-F2E2-7F3242CB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99F0E-F43F-051C-E193-41F0B4E97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01007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F68C4-9BBB-4822-1E40-CCE3D9C8E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6261-517C-865F-D2A6-4F475818C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Container Apps</a:t>
            </a:r>
          </a:p>
        </p:txBody>
      </p:sp>
    </p:spTree>
    <p:extLst>
      <p:ext uri="{BB962C8B-B14F-4D97-AF65-F5344CB8AC3E}">
        <p14:creationId xmlns:p14="http://schemas.microsoft.com/office/powerpoint/2010/main" val="10499968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F210-7B73-EED7-D203-891FD9D4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0C4F-7AAD-E2F6-4982-6AB38EEA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Container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8A7B-97A8-4B0E-6B79-6151ADCCB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PaaS</a:t>
            </a:r>
          </a:p>
          <a:p>
            <a:r>
              <a:rPr lang="en-US" dirty="0"/>
              <a:t>Run a container as a service</a:t>
            </a:r>
          </a:p>
          <a:p>
            <a:r>
              <a:rPr lang="en-US" dirty="0"/>
              <a:t>Allows you to spin down to zero vs App Services</a:t>
            </a:r>
          </a:p>
          <a:p>
            <a:r>
              <a:rPr lang="en-US" dirty="0"/>
              <a:t>A Simpler Kubernetes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151478-0EDB-B8C3-5631-4E326A90C23B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Container Apps</a:t>
            </a:r>
          </a:p>
        </p:txBody>
      </p:sp>
    </p:spTree>
    <p:extLst>
      <p:ext uri="{BB962C8B-B14F-4D97-AF65-F5344CB8AC3E}">
        <p14:creationId xmlns:p14="http://schemas.microsoft.com/office/powerpoint/2010/main" val="238991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A7608-CE76-7D87-BBC4-D726570DA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DC9B-E20F-C1C1-D7B4-160D2BDA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Azure Container Apps vs Azure App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33A3-1BE3-8154-3C38-198518B11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Azure App Service way simpler</a:t>
            </a:r>
          </a:p>
          <a:p>
            <a:r>
              <a:rPr lang="en-US" dirty="0"/>
              <a:t>Azure Container Apps more powerful, in the right hands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18045E-6B43-33BF-8B9A-40348314224E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Azure Container Apps</a:t>
            </a:r>
          </a:p>
        </p:txBody>
      </p:sp>
    </p:spTree>
    <p:extLst>
      <p:ext uri="{BB962C8B-B14F-4D97-AF65-F5344CB8AC3E}">
        <p14:creationId xmlns:p14="http://schemas.microsoft.com/office/powerpoint/2010/main" val="389948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CB9BA-C3EE-8B72-9317-496579F9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3A9-A8C9-FF9B-2AEF-2E9BB7440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0001476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9BA8E2-4A46-CB18-090C-7557347B5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5575-D897-D957-26BE-A3AA44FE0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Infrastructure as Code</a:t>
            </a:r>
          </a:p>
        </p:txBody>
      </p:sp>
    </p:spTree>
    <p:extLst>
      <p:ext uri="{BB962C8B-B14F-4D97-AF65-F5344CB8AC3E}">
        <p14:creationId xmlns:p14="http://schemas.microsoft.com/office/powerpoint/2010/main" val="173016142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76FE-9614-1BAB-2A8B-C47040E5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D34E-43E5-3BDE-4736-3034E3075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IAC?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69B9E-661D-FFA8-64D2-56D1C113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Source code that defined provisioning resources that’s configurable and repeatable across all environments</a:t>
            </a:r>
          </a:p>
          <a:p>
            <a:r>
              <a:rPr lang="en-US" dirty="0"/>
              <a:t>Stored in version control</a:t>
            </a:r>
          </a:p>
          <a:p>
            <a:r>
              <a:rPr lang="en-US" dirty="0"/>
              <a:t>Declarative – what resources to create, not how to create them </a:t>
            </a:r>
          </a:p>
          <a:p>
            <a:r>
              <a:rPr lang="en-US" dirty="0"/>
              <a:t>Deployed via automation (ideally pipeline, but could be local) </a:t>
            </a:r>
          </a:p>
          <a:p>
            <a:r>
              <a:rPr lang="en-US" dirty="0"/>
              <a:t>Resource properties can be linked together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5B418-A2B0-17B9-887E-7419EA443F46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129284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E2E7-9BA3-DCBF-B28F-FBE0A6A1C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9CC-C3D3-A9A6-44A9-34B58276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IAC?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36BC-BC9B-88E0-1AA8-BA6468357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Promotes consistency and standardization</a:t>
            </a:r>
          </a:p>
          <a:p>
            <a:r>
              <a:rPr lang="en-US" dirty="0"/>
              <a:t>“It Works On My Machine” goes away </a:t>
            </a:r>
          </a:p>
          <a:p>
            <a:r>
              <a:rPr lang="en-US" dirty="0"/>
              <a:t>“It works in Dev, but not in Production” goes away </a:t>
            </a:r>
          </a:p>
          <a:p>
            <a:r>
              <a:rPr lang="en-US" dirty="0"/>
              <a:t>Audit trail of who did what and when </a:t>
            </a:r>
          </a:p>
          <a:p>
            <a:r>
              <a:rPr lang="en-US" dirty="0"/>
              <a:t>Resources are Transient not Permanent </a:t>
            </a:r>
          </a:p>
          <a:p>
            <a:r>
              <a:rPr lang="en-US" dirty="0"/>
              <a:t>Can be deleted and re-created with ease (besides your DB) </a:t>
            </a:r>
          </a:p>
          <a:p>
            <a:r>
              <a:rPr lang="en-US" dirty="0"/>
              <a:t>Environments stood up in minutes, not days/weeks</a:t>
            </a:r>
            <a:r>
              <a:rPr lang="en-US"/>
              <a:t>/months</a:t>
            </a:r>
            <a:endParaRPr lang="en-US" dirty="0"/>
          </a:p>
          <a:p>
            <a:r>
              <a:rPr lang="en-US" dirty="0" err="1"/>
              <a:t>ClickOps</a:t>
            </a:r>
            <a:r>
              <a:rPr lang="en-US" dirty="0"/>
              <a:t> doesn’t scale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B209F8-DF39-6397-6C45-599AB90E89E2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334648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1CD7-089C-E45D-9F51-1FDE4580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495EC-97D0-8D25-A53A-879E4D33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can I create with IAC?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2001-C9CE-76DD-D312-DFDB061A0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Virtual Machines</a:t>
            </a:r>
          </a:p>
          <a:p>
            <a:r>
              <a:rPr lang="en-US" dirty="0"/>
              <a:t>Web Servers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Secret Stores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IAM Policies</a:t>
            </a:r>
          </a:p>
          <a:p>
            <a:r>
              <a:rPr lang="en-US" dirty="0"/>
              <a:t>Monitoring</a:t>
            </a:r>
          </a:p>
          <a:p>
            <a:r>
              <a:rPr lang="en-US" dirty="0"/>
              <a:t>DNS</a:t>
            </a:r>
          </a:p>
          <a:p>
            <a:r>
              <a:rPr lang="en-US" dirty="0"/>
              <a:t>…pretty much everything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3ADA37-491C-2761-AD0F-1C42A7371E12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3997525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664A3-159D-FA0F-662C-764CE22B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5CE8-CDDE-8869-773B-8AD640B50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Ok great... But how?</a:t>
            </a:r>
          </a:p>
        </p:txBody>
      </p:sp>
    </p:spTree>
    <p:extLst>
      <p:ext uri="{BB962C8B-B14F-4D97-AF65-F5344CB8AC3E}">
        <p14:creationId xmlns:p14="http://schemas.microsoft.com/office/powerpoint/2010/main" val="12262587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Bicep?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73045" cy="4749836"/>
          </a:xfrm>
        </p:spPr>
        <p:txBody>
          <a:bodyPr>
            <a:normAutofit/>
          </a:bodyPr>
          <a:lstStyle/>
          <a:p>
            <a:r>
              <a:rPr lang="en-US" dirty="0"/>
              <a:t>Used to configure Azure resources</a:t>
            </a:r>
          </a:p>
          <a:p>
            <a:r>
              <a:rPr lang="en-US" dirty="0"/>
              <a:t>Built and maintained by Microsoft</a:t>
            </a:r>
          </a:p>
          <a:p>
            <a:r>
              <a:rPr lang="en-US" dirty="0"/>
              <a:t>Domain-specific language (fancy word for custom)</a:t>
            </a:r>
          </a:p>
          <a:p>
            <a:r>
              <a:rPr lang="en-US" dirty="0"/>
              <a:t>Provides </a:t>
            </a:r>
            <a:r>
              <a:rPr lang="en-US" dirty="0" err="1"/>
              <a:t>intellisense</a:t>
            </a:r>
            <a:r>
              <a:rPr lang="en-US" dirty="0"/>
              <a:t>, error checking, “</a:t>
            </a:r>
            <a:r>
              <a:rPr lang="en-US" dirty="0" err="1"/>
              <a:t>whatif</a:t>
            </a:r>
            <a:r>
              <a:rPr lang="en-US" dirty="0"/>
              <a:t>,” and orders the resource creations</a:t>
            </a:r>
          </a:p>
          <a:p>
            <a:r>
              <a:rPr lang="en-US" dirty="0"/>
              <a:t>Built on top of Azure Resource Manager (ARM) – don’t use ARM directly </a:t>
            </a:r>
          </a:p>
          <a:p>
            <a:r>
              <a:rPr lang="en-US" dirty="0"/>
              <a:t>No state file</a:t>
            </a:r>
          </a:p>
        </p:txBody>
      </p:sp>
      <p:pic>
        <p:nvPicPr>
          <p:cNvPr id="2050" name="Picture 2" descr="Home · Azure/ALZ-Bicep Wiki · GitHub">
            <a:extLst>
              <a:ext uri="{FF2B5EF4-FFF2-40B4-BE49-F238E27FC236}">
                <a16:creationId xmlns:a16="http://schemas.microsoft.com/office/drawing/2014/main" id="{68C829B9-0E70-33F6-46AE-6B890C565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6761" y="4890977"/>
            <a:ext cx="1684484" cy="168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EC32DC6-3DB7-2622-ED8B-312CCB24ED72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10988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Bicep?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0E1CAE-7146-21E7-65D7-649319D8D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49" y="1863683"/>
            <a:ext cx="10154547" cy="38034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FB7D19-2789-79CD-1B95-C8A2F9C5CB93}"/>
              </a:ext>
            </a:extLst>
          </p:cNvPr>
          <p:cNvSpPr/>
          <p:nvPr/>
        </p:nvSpPr>
        <p:spPr>
          <a:xfrm>
            <a:off x="2659745" y="2688162"/>
            <a:ext cx="1082915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4B1994-C082-DAA0-2DA5-34D75CDADBAD}"/>
              </a:ext>
            </a:extLst>
          </p:cNvPr>
          <p:cNvSpPr/>
          <p:nvPr/>
        </p:nvSpPr>
        <p:spPr>
          <a:xfrm>
            <a:off x="3742660" y="2688162"/>
            <a:ext cx="1733107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7D990B-F608-EB78-289E-272B2E3F392C}"/>
              </a:ext>
            </a:extLst>
          </p:cNvPr>
          <p:cNvSpPr/>
          <p:nvPr/>
        </p:nvSpPr>
        <p:spPr>
          <a:xfrm>
            <a:off x="5479311" y="2688162"/>
            <a:ext cx="4600354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D6843A-52EE-F58D-F62F-A855DC737F83}"/>
              </a:ext>
            </a:extLst>
          </p:cNvPr>
          <p:cNvSpPr/>
          <p:nvPr/>
        </p:nvSpPr>
        <p:spPr>
          <a:xfrm>
            <a:off x="2663289" y="3115339"/>
            <a:ext cx="2982599" cy="25518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B3263B2-887C-D712-9403-17006B55F199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967504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14A4B4C-F8B2-3ED2-53B4-450481A2A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185" y="191594"/>
            <a:ext cx="7676669" cy="30088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31CBD2-4C50-EFB3-4C7E-79FEF459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742" y="3278308"/>
            <a:ext cx="6189921" cy="34986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92E9E3-EF26-F482-5478-CD43FCC20EC4}"/>
              </a:ext>
            </a:extLst>
          </p:cNvPr>
          <p:cNvSpPr/>
          <p:nvPr/>
        </p:nvSpPr>
        <p:spPr>
          <a:xfrm>
            <a:off x="3191374" y="1137684"/>
            <a:ext cx="2231232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83E97-2392-36D8-F9CD-928146B00DD7}"/>
              </a:ext>
            </a:extLst>
          </p:cNvPr>
          <p:cNvSpPr/>
          <p:nvPr/>
        </p:nvSpPr>
        <p:spPr>
          <a:xfrm>
            <a:off x="2780249" y="5027633"/>
            <a:ext cx="3418532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B0BBBC-0EE3-52FE-C9E4-3CE5C0A7FFA6}"/>
              </a:ext>
            </a:extLst>
          </p:cNvPr>
          <p:cNvSpPr/>
          <p:nvPr/>
        </p:nvSpPr>
        <p:spPr>
          <a:xfrm>
            <a:off x="3191374" y="1429809"/>
            <a:ext cx="1540114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453B4C-9F7B-C00C-06BF-2E8607403855}"/>
              </a:ext>
            </a:extLst>
          </p:cNvPr>
          <p:cNvSpPr/>
          <p:nvPr/>
        </p:nvSpPr>
        <p:spPr>
          <a:xfrm>
            <a:off x="2780248" y="5521972"/>
            <a:ext cx="3514225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21A197-6800-1C1E-DEA9-ACA305F1BCF0}"/>
              </a:ext>
            </a:extLst>
          </p:cNvPr>
          <p:cNvSpPr/>
          <p:nvPr/>
        </p:nvSpPr>
        <p:spPr>
          <a:xfrm>
            <a:off x="3191373" y="1739720"/>
            <a:ext cx="2231231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5CA969-A3AD-4CFF-8D90-11E81AF93B55}"/>
              </a:ext>
            </a:extLst>
          </p:cNvPr>
          <p:cNvSpPr/>
          <p:nvPr/>
        </p:nvSpPr>
        <p:spPr>
          <a:xfrm>
            <a:off x="2780249" y="5853149"/>
            <a:ext cx="2940068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7B5984-FDA9-0B2F-94BC-7CE8B1EBE14D}"/>
              </a:ext>
            </a:extLst>
          </p:cNvPr>
          <p:cNvSpPr/>
          <p:nvPr/>
        </p:nvSpPr>
        <p:spPr>
          <a:xfrm>
            <a:off x="3191373" y="2053111"/>
            <a:ext cx="1444422" cy="8708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30CDF9-9D38-9EF2-DF20-D2164CAEA2F6}"/>
              </a:ext>
            </a:extLst>
          </p:cNvPr>
          <p:cNvSpPr/>
          <p:nvPr/>
        </p:nvSpPr>
        <p:spPr>
          <a:xfrm>
            <a:off x="2780247" y="6336796"/>
            <a:ext cx="4907093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7CF73B-5B38-808A-32A9-8593058708AC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150935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6" grpId="0" animBg="1"/>
      <p:bldP spid="17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9512" cy="4749836"/>
          </a:xfrm>
        </p:spPr>
        <p:txBody>
          <a:bodyPr>
            <a:normAutofit/>
          </a:bodyPr>
          <a:lstStyle/>
          <a:p>
            <a:r>
              <a:rPr lang="en-US" dirty="0"/>
              <a:t>Created by </a:t>
            </a:r>
            <a:r>
              <a:rPr lang="en-US" dirty="0" err="1"/>
              <a:t>HashiCorp</a:t>
            </a:r>
            <a:endParaRPr lang="en-US" dirty="0"/>
          </a:p>
          <a:p>
            <a:r>
              <a:rPr lang="en-US" dirty="0"/>
              <a:t>Domain-specific language</a:t>
            </a:r>
          </a:p>
          <a:p>
            <a:r>
              <a:rPr lang="en-US" dirty="0"/>
              <a:t>Configure different clouds (Azure, AWS, GCP, VMware, </a:t>
            </a:r>
            <a:r>
              <a:rPr lang="en-US" dirty="0" err="1"/>
              <a:t>etc</a:t>
            </a:r>
            <a:r>
              <a:rPr lang="en-US" dirty="0"/>
              <a:t>) via Providers</a:t>
            </a:r>
          </a:p>
          <a:p>
            <a:r>
              <a:rPr lang="en-US" dirty="0"/>
              <a:t>BUT – can’t take same Terraform and run it on both Azure and AWS</a:t>
            </a:r>
          </a:p>
          <a:p>
            <a:r>
              <a:rPr lang="en-US" dirty="0"/>
              <a:t>Maintains state of infrastructure via state file</a:t>
            </a:r>
          </a:p>
          <a:p>
            <a:r>
              <a:rPr lang="en-US" dirty="0"/>
              <a:t>Likely the most popular IAC tool in the world</a:t>
            </a:r>
          </a:p>
          <a:p>
            <a:r>
              <a:rPr lang="en-US" dirty="0"/>
              <a:t>Semi-recently acquired by IBM</a:t>
            </a:r>
          </a:p>
          <a:p>
            <a:r>
              <a:rPr lang="en-US" dirty="0" err="1"/>
              <a:t>OpenTofu</a:t>
            </a:r>
            <a:r>
              <a:rPr lang="en-US" dirty="0"/>
              <a:t> – drop-in replacement</a:t>
            </a:r>
          </a:p>
        </p:txBody>
      </p:sp>
      <p:pic>
        <p:nvPicPr>
          <p:cNvPr id="1026" name="Picture 2" descr="terraform&quot; Icon - Download for free – Iconduck">
            <a:extLst>
              <a:ext uri="{FF2B5EF4-FFF2-40B4-BE49-F238E27FC236}">
                <a16:creationId xmlns:a16="http://schemas.microsoft.com/office/drawing/2014/main" id="{8E4347D4-BC66-D001-1CF4-2E5265578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217" y="4870981"/>
            <a:ext cx="1500495" cy="170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E2AD83F-FCBC-5598-58BD-4088578FA63D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42315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80D8CAA-DD71-E075-FA13-02B8F3203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00" y="629000"/>
            <a:ext cx="10200000" cy="560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C5D0B5-CB3E-D24A-CE7C-C1D4EEFA83FD}"/>
              </a:ext>
            </a:extLst>
          </p:cNvPr>
          <p:cNvSpPr/>
          <p:nvPr/>
        </p:nvSpPr>
        <p:spPr>
          <a:xfrm>
            <a:off x="2885656" y="2182553"/>
            <a:ext cx="1691723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B3913-8CD9-82A9-C764-E3A186C50818}"/>
              </a:ext>
            </a:extLst>
          </p:cNvPr>
          <p:cNvSpPr/>
          <p:nvPr/>
        </p:nvSpPr>
        <p:spPr>
          <a:xfrm>
            <a:off x="4577379" y="2183097"/>
            <a:ext cx="4254649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E9186-3B7F-F891-01BE-F2AC18996ED3}"/>
              </a:ext>
            </a:extLst>
          </p:cNvPr>
          <p:cNvSpPr/>
          <p:nvPr/>
        </p:nvSpPr>
        <p:spPr>
          <a:xfrm>
            <a:off x="8832028" y="2185348"/>
            <a:ext cx="1691723" cy="4271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EDE1A6-3456-5A88-DE5A-F84AF64EA648}"/>
              </a:ext>
            </a:extLst>
          </p:cNvPr>
          <p:cNvSpPr/>
          <p:nvPr/>
        </p:nvSpPr>
        <p:spPr>
          <a:xfrm>
            <a:off x="2885656" y="2609730"/>
            <a:ext cx="7638095" cy="29681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80D24A-7894-289A-16FD-09CC1D901604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217098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AE75E1-7976-6979-D936-2C355F2C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252" y="3513650"/>
            <a:ext cx="6091496" cy="3344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E0419-25B1-EE53-55CB-1F2EC79CE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608" y="0"/>
            <a:ext cx="9154784" cy="342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719A0D-D6D5-9E5A-2086-37B5E542B36E}"/>
              </a:ext>
            </a:extLst>
          </p:cNvPr>
          <p:cNvSpPr/>
          <p:nvPr/>
        </p:nvSpPr>
        <p:spPr>
          <a:xfrm>
            <a:off x="2884781" y="804197"/>
            <a:ext cx="966457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27308-DE46-473D-4C15-1E32F2960F11}"/>
              </a:ext>
            </a:extLst>
          </p:cNvPr>
          <p:cNvSpPr/>
          <p:nvPr/>
        </p:nvSpPr>
        <p:spPr>
          <a:xfrm>
            <a:off x="4108818" y="4392932"/>
            <a:ext cx="1092504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AA8110-16E3-F662-6A9F-E8BDD9720068}"/>
              </a:ext>
            </a:extLst>
          </p:cNvPr>
          <p:cNvSpPr/>
          <p:nvPr/>
        </p:nvSpPr>
        <p:spPr>
          <a:xfrm>
            <a:off x="3851238" y="804197"/>
            <a:ext cx="1597510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FB82D1-678E-966D-F94C-2B19563D2774}"/>
              </a:ext>
            </a:extLst>
          </p:cNvPr>
          <p:cNvSpPr/>
          <p:nvPr/>
        </p:nvSpPr>
        <p:spPr>
          <a:xfrm>
            <a:off x="7745506" y="4402123"/>
            <a:ext cx="930536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943FBE-1253-688F-EB1D-2C2C8C7E9221}"/>
              </a:ext>
            </a:extLst>
          </p:cNvPr>
          <p:cNvSpPr/>
          <p:nvPr/>
        </p:nvSpPr>
        <p:spPr>
          <a:xfrm>
            <a:off x="5448748" y="804197"/>
            <a:ext cx="4125558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C0BA2B-4CF0-5040-E31D-59C4D1779F75}"/>
              </a:ext>
            </a:extLst>
          </p:cNvPr>
          <p:cNvSpPr/>
          <p:nvPr/>
        </p:nvSpPr>
        <p:spPr>
          <a:xfrm>
            <a:off x="5201322" y="4392932"/>
            <a:ext cx="2563967" cy="32960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F311C2-333C-A01D-1ADB-41AAA7B15FCF}"/>
              </a:ext>
            </a:extLst>
          </p:cNvPr>
          <p:cNvSpPr/>
          <p:nvPr/>
        </p:nvSpPr>
        <p:spPr>
          <a:xfrm>
            <a:off x="2884781" y="1185234"/>
            <a:ext cx="2886697" cy="18484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15EE56-E20C-B5D5-2109-8E994C0899D7}"/>
              </a:ext>
            </a:extLst>
          </p:cNvPr>
          <p:cNvSpPr/>
          <p:nvPr/>
        </p:nvSpPr>
        <p:spPr>
          <a:xfrm>
            <a:off x="4108817" y="4768590"/>
            <a:ext cx="4567225" cy="16537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6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Pulumi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9512" cy="4749836"/>
          </a:xfrm>
        </p:spPr>
        <p:txBody>
          <a:bodyPr>
            <a:normAutofit/>
          </a:bodyPr>
          <a:lstStyle/>
          <a:p>
            <a:r>
              <a:rPr lang="en-US" dirty="0"/>
              <a:t>Created by </a:t>
            </a:r>
            <a:r>
              <a:rPr lang="en-US" dirty="0" err="1"/>
              <a:t>Pulumi</a:t>
            </a:r>
            <a:r>
              <a:rPr lang="en-US" dirty="0"/>
              <a:t> Corporation</a:t>
            </a:r>
          </a:p>
          <a:p>
            <a:r>
              <a:rPr lang="en-US" dirty="0"/>
              <a:t>Configure different clouds (Azure, AWS, GCP,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You write your language of choice – TypeScript, JavaScript, Python, Java, C#, Go, or Visual Basic (yes really)</a:t>
            </a:r>
          </a:p>
          <a:p>
            <a:r>
              <a:rPr lang="en-US" dirty="0"/>
              <a:t>First big player to market with IAC using an existing language</a:t>
            </a:r>
          </a:p>
        </p:txBody>
      </p:sp>
      <p:pic>
        <p:nvPicPr>
          <p:cNvPr id="1026" name="Picture 2" descr="Pulumi - Infrastructure as Code in Any Programming Language">
            <a:extLst>
              <a:ext uri="{FF2B5EF4-FFF2-40B4-BE49-F238E27FC236}">
                <a16:creationId xmlns:a16="http://schemas.microsoft.com/office/drawing/2014/main" id="{7ECA6196-9AF7-E291-5FA1-0E20ACCCE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504" y="4366391"/>
            <a:ext cx="3929495" cy="206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F7E0D1B-AFAF-2D77-8A2A-42A9E2AA04A2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27194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EC9B-4AED-8B5E-CDF7-309526D47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139F54-1DE3-E215-D784-D5744779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82454"/>
            <a:ext cx="7772400" cy="64930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E07CF6B-D2D4-663D-C297-91CFA2FD3D67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4242060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Configuration Files vs Code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9512" cy="4749836"/>
          </a:xfrm>
        </p:spPr>
        <p:txBody>
          <a:bodyPr>
            <a:normAutofit/>
          </a:bodyPr>
          <a:lstStyle/>
          <a:p>
            <a:r>
              <a:rPr lang="en-US" dirty="0"/>
              <a:t>Bicep, ARM, Terraform, and </a:t>
            </a:r>
            <a:r>
              <a:rPr lang="en-US" dirty="0" err="1"/>
              <a:t>Cloudformation</a:t>
            </a:r>
            <a:r>
              <a:rPr lang="en-US" dirty="0"/>
              <a:t> are DSL config files</a:t>
            </a:r>
          </a:p>
          <a:p>
            <a:r>
              <a:rPr lang="en-US" dirty="0"/>
              <a:t>CDK and </a:t>
            </a:r>
            <a:r>
              <a:rPr lang="en-US" dirty="0" err="1"/>
              <a:t>Pulumi</a:t>
            </a:r>
            <a:r>
              <a:rPr lang="en-US" dirty="0"/>
              <a:t> are libraries of existing languages</a:t>
            </a:r>
          </a:p>
          <a:p>
            <a:r>
              <a:rPr lang="en-US" dirty="0"/>
              <a:t>CDK for Terraform is CDK but built on Terraform, supported by </a:t>
            </a:r>
            <a:r>
              <a:rPr lang="en-US" dirty="0" err="1"/>
              <a:t>Hashicorp</a:t>
            </a:r>
            <a:endParaRPr lang="en-US" dirty="0"/>
          </a:p>
          <a:p>
            <a:r>
              <a:rPr lang="en-US" dirty="0"/>
              <a:t>Configuration popular with Ops-focused teams</a:t>
            </a:r>
          </a:p>
          <a:p>
            <a:r>
              <a:rPr lang="en-US" dirty="0"/>
              <a:t>Code popular with Dev-focused teams</a:t>
            </a:r>
          </a:p>
          <a:p>
            <a:r>
              <a:rPr lang="en-US" dirty="0"/>
              <a:t>Code leverages existing skills – packages, syntax, autocomplete,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134465-0D8F-82CA-1E19-0831085BA100}"/>
              </a:ext>
            </a:extLst>
          </p:cNvPr>
          <p:cNvSpPr/>
          <p:nvPr/>
        </p:nvSpPr>
        <p:spPr>
          <a:xfrm>
            <a:off x="0" y="6629400"/>
            <a:ext cx="218209" cy="228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82EBF0-46E1-70E9-320D-16EF7076059F}"/>
              </a:ext>
            </a:extLst>
          </p:cNvPr>
          <p:cNvSpPr txBox="1">
            <a:spLocks/>
          </p:cNvSpPr>
          <p:nvPr/>
        </p:nvSpPr>
        <p:spPr>
          <a:xfrm>
            <a:off x="10234246" y="36937"/>
            <a:ext cx="2026443" cy="32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IAC</a:t>
            </a:r>
          </a:p>
        </p:txBody>
      </p:sp>
    </p:spTree>
    <p:extLst>
      <p:ext uri="{BB962C8B-B14F-4D97-AF65-F5344CB8AC3E}">
        <p14:creationId xmlns:p14="http://schemas.microsoft.com/office/powerpoint/2010/main" val="385395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B0B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6327E-6FDE-7A3E-46D0-9251FEF0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C53F-BB69-FD48-526D-97C4DB6C4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701575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CB64-06ED-6778-E81A-4C4049DD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7649-0DB2-D0BA-B4B9-FDEF2F4F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0D07-63E2-3ABC-B59C-5A564C3A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Ideas on what you can apply immediately back at work</a:t>
            </a:r>
          </a:p>
          <a:p>
            <a:r>
              <a:rPr lang="en-US" dirty="0"/>
              <a:t>Better understanding of how different pieces of Azure works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878A1E-B55C-361D-BF85-1DD862B477D1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DA9D2566-2F1D-7517-450F-0B6ED4FF8150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" name="Picture 2" descr="X Logo, symbol, meaning, history, PNG, brand">
              <a:extLst>
                <a:ext uri="{FF2B5EF4-FFF2-40B4-BE49-F238E27FC236}">
                  <a16:creationId xmlns:a16="http://schemas.microsoft.com/office/drawing/2014/main" id="{D7EEE6FA-915E-32FF-C3C8-647C5F1A7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095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40787-CAA1-20F6-DCDA-72E45C7F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D63C-A0F2-A611-1B3D-9FCBE5BD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9262-8A14-8819-2427-515E343E5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This slide deck at </a:t>
            </a:r>
            <a:r>
              <a:rPr lang="en-US" dirty="0">
                <a:hlinkClick r:id="rId3"/>
              </a:rPr>
              <a:t>https://scottsauber.com</a:t>
            </a: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D5F990-413B-E6B6-5AB3-FCCF1211991B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4BA38CF6-6BDB-C02A-B669-820F9DBBFB0D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" name="Picture 2" descr="X Logo, symbol, meaning, history, PNG, brand">
              <a:extLst>
                <a:ext uri="{FF2B5EF4-FFF2-40B4-BE49-F238E27FC236}">
                  <a16:creationId xmlns:a16="http://schemas.microsoft.com/office/drawing/2014/main" id="{135CE0F9-A50A-D9AD-A835-C7EB85318F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79284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2400" dirty="0">
                <a:solidFill>
                  <a:schemeClr val="bg1"/>
                </a:solidFill>
                <a:latin typeface="+mn-lt"/>
              </a:rPr>
              <a:t>ssauber@leantechniques.com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142A0-7D55-44AD-E129-1BB9F7B444D3}"/>
              </a:ext>
            </a:extLst>
          </p:cNvPr>
          <p:cNvSpPr txBox="1"/>
          <p:nvPr/>
        </p:nvSpPr>
        <p:spPr>
          <a:xfrm>
            <a:off x="9757202" y="2006898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me on LinkedIn: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EDCF79-6369-3312-C72B-E492C2FFC565}"/>
              </a:ext>
            </a:extLst>
          </p:cNvPr>
          <p:cNvSpPr txBox="1">
            <a:spLocks/>
          </p:cNvSpPr>
          <p:nvPr/>
        </p:nvSpPr>
        <p:spPr>
          <a:xfrm>
            <a:off x="9556546" y="5773504"/>
            <a:ext cx="2060228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</a:t>
            </a:r>
          </a:p>
        </p:txBody>
      </p:sp>
      <p:pic>
        <p:nvPicPr>
          <p:cNvPr id="1026" name="Picture 2" descr="X Logo, symbol, meaning, history, PNG, brand">
            <a:extLst>
              <a:ext uri="{FF2B5EF4-FFF2-40B4-BE49-F238E27FC236}">
                <a16:creationId xmlns:a16="http://schemas.microsoft.com/office/drawing/2014/main" id="{F43D63E0-A688-C307-CCD2-BB6EF250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5871813"/>
            <a:ext cx="493701" cy="27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uesky and your brand by Heidi Waterhouse">
            <a:extLst>
              <a:ext uri="{FF2B5EF4-FFF2-40B4-BE49-F238E27FC236}">
                <a16:creationId xmlns:a16="http://schemas.microsoft.com/office/drawing/2014/main" id="{1CC8890B-0833-1285-D911-117258AB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6313125"/>
            <a:ext cx="474323" cy="4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7DCEF15-AD0C-D5B5-B282-2784AFF9A20C}"/>
              </a:ext>
            </a:extLst>
          </p:cNvPr>
          <p:cNvSpPr txBox="1">
            <a:spLocks/>
          </p:cNvSpPr>
          <p:nvPr/>
        </p:nvSpPr>
        <p:spPr>
          <a:xfrm>
            <a:off x="9497554" y="6315097"/>
            <a:ext cx="2785071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C1733D-8170-432C-81DC-7929E97F0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444" y="2403682"/>
            <a:ext cx="1950396" cy="195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1A51A-875B-E07C-ABD9-AE99D9ED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368D-36C4-F85D-3772-FC6A8D96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204"/>
            <a:ext cx="10515600" cy="5828432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DCEFC7E-CC47-1B39-C15E-FB0E16973278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82246-6BA0-EDDE-DCF2-CF6EC464F74C}"/>
              </a:ext>
            </a:extLst>
          </p:cNvPr>
          <p:cNvSpPr txBox="1"/>
          <p:nvPr/>
        </p:nvSpPr>
        <p:spPr>
          <a:xfrm>
            <a:off x="9757202" y="2006898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me on LinkedIn: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A39A9-773B-FF19-A0F2-21293EE74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444" y="2403682"/>
            <a:ext cx="1950396" cy="1950396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3FC0A5B0-9F12-2F29-EA35-586474C03292}"/>
              </a:ext>
            </a:extLst>
          </p:cNvPr>
          <p:cNvSpPr txBox="1">
            <a:spLocks/>
          </p:cNvSpPr>
          <p:nvPr/>
        </p:nvSpPr>
        <p:spPr>
          <a:xfrm>
            <a:off x="9556546" y="5773504"/>
            <a:ext cx="2060228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</a:t>
            </a:r>
          </a:p>
        </p:txBody>
      </p:sp>
      <p:pic>
        <p:nvPicPr>
          <p:cNvPr id="5" name="Picture 2" descr="X Logo, symbol, meaning, history, PNG, brand">
            <a:extLst>
              <a:ext uri="{FF2B5EF4-FFF2-40B4-BE49-F238E27FC236}">
                <a16:creationId xmlns:a16="http://schemas.microsoft.com/office/drawing/2014/main" id="{0C7B5E18-C67B-31F8-53A9-DDF6A62E3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5871813"/>
            <a:ext cx="493701" cy="27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Bluesky and your brand by Heidi Waterhouse">
            <a:extLst>
              <a:ext uri="{FF2B5EF4-FFF2-40B4-BE49-F238E27FC236}">
                <a16:creationId xmlns:a16="http://schemas.microsoft.com/office/drawing/2014/main" id="{19A09B22-6488-3C9C-DD63-4F56D1008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6313125"/>
            <a:ext cx="474323" cy="4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C9F2C21-03A9-2153-1D09-C3078F0858A8}"/>
              </a:ext>
            </a:extLst>
          </p:cNvPr>
          <p:cNvSpPr txBox="1">
            <a:spLocks/>
          </p:cNvSpPr>
          <p:nvPr/>
        </p:nvSpPr>
        <p:spPr>
          <a:xfrm>
            <a:off x="9497554" y="6315097"/>
            <a:ext cx="2785071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@scottsauber.com</a:t>
            </a:r>
          </a:p>
        </p:txBody>
      </p:sp>
    </p:spTree>
    <p:extLst>
      <p:ext uri="{BB962C8B-B14F-4D97-AF65-F5344CB8AC3E}">
        <p14:creationId xmlns:p14="http://schemas.microsoft.com/office/powerpoint/2010/main" val="103562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62187</TotalTime>
  <Words>2067</Words>
  <Application>Microsoft Macintosh PowerPoint</Application>
  <PresentationFormat>Widescreen</PresentationFormat>
  <Paragraphs>420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9" baseType="lpstr">
      <vt:lpstr>Arial</vt:lpstr>
      <vt:lpstr>Calibri</vt:lpstr>
      <vt:lpstr>Calibri Light</vt:lpstr>
      <vt:lpstr>Open Sans</vt:lpstr>
      <vt:lpstr>Office Theme</vt:lpstr>
      <vt:lpstr>10 Things Every Dev Should Know about Azure</vt:lpstr>
      <vt:lpstr>Audience</vt:lpstr>
      <vt:lpstr>Polls</vt:lpstr>
      <vt:lpstr>Agenda</vt:lpstr>
      <vt:lpstr>Goals</vt:lpstr>
      <vt:lpstr>Who am I? </vt:lpstr>
      <vt:lpstr>Account Organization</vt:lpstr>
      <vt:lpstr>Subscriptions vs Resource Groups</vt:lpstr>
      <vt:lpstr>Develop Account Organization Strategy</vt:lpstr>
      <vt:lpstr>Questions?</vt:lpstr>
      <vt:lpstr>DefaultAzureCredential (and why you should NOT be using it)</vt:lpstr>
      <vt:lpstr>Problem: People use DefaultAzureCredential…</vt:lpstr>
      <vt:lpstr>Problem: People use DefaultAzureCredential…</vt:lpstr>
      <vt:lpstr>Solution: Stop - Be explicit about credentials</vt:lpstr>
      <vt:lpstr>Solution: Be explicit about credentials</vt:lpstr>
      <vt:lpstr>Microsoft trying to fix this</vt:lpstr>
      <vt:lpstr>Reuse Credential Instances</vt:lpstr>
      <vt:lpstr>Reuse Credential Instances</vt:lpstr>
      <vt:lpstr>Resources</vt:lpstr>
      <vt:lpstr>Questions?</vt:lpstr>
      <vt:lpstr>Naming Standards</vt:lpstr>
      <vt:lpstr>Problem: Naming is a mess</vt:lpstr>
      <vt:lpstr>Solution: Implement a Naming Standard</vt:lpstr>
      <vt:lpstr>Questions?</vt:lpstr>
      <vt:lpstr>Reservations &amp;&amp; Savings Plans</vt:lpstr>
      <vt:lpstr>Problem: Cost is getting too high</vt:lpstr>
      <vt:lpstr>Solution: Azure Reservations</vt:lpstr>
      <vt:lpstr>Solution: Azure Savings Plans</vt:lpstr>
      <vt:lpstr>Comparing Savings Plans vs Reservations</vt:lpstr>
      <vt:lpstr>Questions?</vt:lpstr>
      <vt:lpstr>Managed Identities</vt:lpstr>
      <vt:lpstr>Problem: We are managing credentials</vt:lpstr>
      <vt:lpstr>Solution: Use Managed Identities</vt:lpstr>
      <vt:lpstr>Questions?</vt:lpstr>
      <vt:lpstr>Federated Credentials</vt:lpstr>
      <vt:lpstr>Problem: Not using Federated Credentials</vt:lpstr>
      <vt:lpstr>Solution: Use Federated Credentials</vt:lpstr>
      <vt:lpstr>Solution: Use Federated Credentials</vt:lpstr>
      <vt:lpstr>Questions?</vt:lpstr>
      <vt:lpstr>Azure Key Vault</vt:lpstr>
      <vt:lpstr>Azure Key Vault</vt:lpstr>
      <vt:lpstr>Azure Key Vault in .NET</vt:lpstr>
      <vt:lpstr>Azure Key Vault in .NET</vt:lpstr>
      <vt:lpstr>Use Azure Key Vault for Local Secrets</vt:lpstr>
      <vt:lpstr>Questions?</vt:lpstr>
      <vt:lpstr>Azure Monitor</vt:lpstr>
      <vt:lpstr>Azure Monitor</vt:lpstr>
      <vt:lpstr>Azure Application Insights</vt:lpstr>
      <vt:lpstr>Azure Application Insights</vt:lpstr>
      <vt:lpstr>Azure Application Insights</vt:lpstr>
      <vt:lpstr>Azure Log Analytics</vt:lpstr>
      <vt:lpstr>PowerPoint Presentation</vt:lpstr>
      <vt:lpstr>Questions?</vt:lpstr>
      <vt:lpstr>Azure App Services</vt:lpstr>
      <vt:lpstr>Azure App Service</vt:lpstr>
      <vt:lpstr>Azure App Service Slots - ZDD</vt:lpstr>
      <vt:lpstr>Azure App Service Slots - ZDD</vt:lpstr>
      <vt:lpstr>Azure App Service Slots - ZDD</vt:lpstr>
      <vt:lpstr>Azure App Service Slots - ZDD</vt:lpstr>
      <vt:lpstr>Azure App Service Plans</vt:lpstr>
      <vt:lpstr>Questions?</vt:lpstr>
      <vt:lpstr>Azure Container Apps</vt:lpstr>
      <vt:lpstr>Azure Container Apps</vt:lpstr>
      <vt:lpstr>Azure Container Apps vs Azure App Service</vt:lpstr>
      <vt:lpstr>Questions?</vt:lpstr>
      <vt:lpstr>Infrastructure as Code</vt:lpstr>
      <vt:lpstr>What is IAC?</vt:lpstr>
      <vt:lpstr>Why IAC?</vt:lpstr>
      <vt:lpstr>What can I create with IAC?</vt:lpstr>
      <vt:lpstr>Ok great... But how?</vt:lpstr>
      <vt:lpstr>What is Azure Bicep?</vt:lpstr>
      <vt:lpstr>What is Azure Bicep?</vt:lpstr>
      <vt:lpstr>PowerPoint Presentation</vt:lpstr>
      <vt:lpstr>Terraform</vt:lpstr>
      <vt:lpstr>PowerPoint Presentation</vt:lpstr>
      <vt:lpstr>PowerPoint Presentation</vt:lpstr>
      <vt:lpstr>Pulumi</vt:lpstr>
      <vt:lpstr>PowerPoint Presentation</vt:lpstr>
      <vt:lpstr>Configuration Files vs Code Files</vt:lpstr>
      <vt:lpstr>Questions?</vt:lpstr>
      <vt:lpstr>Takeaways</vt:lpstr>
      <vt:lpstr>Resources</vt:lpstr>
      <vt:lpstr>Questions? ssauber@leantechniques.com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Youre Doing Agile Right but agile wrong</dc:title>
  <dc:creator>Scott Sauber</dc:creator>
  <cp:lastModifiedBy>Scott Sauber</cp:lastModifiedBy>
  <cp:revision>845</cp:revision>
  <dcterms:created xsi:type="dcterms:W3CDTF">2020-03-08T20:31:35Z</dcterms:created>
  <dcterms:modified xsi:type="dcterms:W3CDTF">2026-07-23T18:02:10Z</dcterms:modified>
</cp:coreProperties>
</file>