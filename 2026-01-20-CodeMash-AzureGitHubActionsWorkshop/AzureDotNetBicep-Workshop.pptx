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2"/>
  </p:notesMasterIdLst>
  <p:sldIdLst>
    <p:sldId id="257" r:id="rId2"/>
    <p:sldId id="285" r:id="rId3"/>
    <p:sldId id="569" r:id="rId4"/>
    <p:sldId id="531" r:id="rId5"/>
    <p:sldId id="570" r:id="rId6"/>
    <p:sldId id="326" r:id="rId7"/>
    <p:sldId id="369" r:id="rId8"/>
    <p:sldId id="410" r:id="rId9"/>
    <p:sldId id="533" r:id="rId10"/>
    <p:sldId id="534" r:id="rId11"/>
    <p:sldId id="571" r:id="rId12"/>
    <p:sldId id="568" r:id="rId13"/>
    <p:sldId id="572" r:id="rId14"/>
    <p:sldId id="541" r:id="rId15"/>
    <p:sldId id="463" r:id="rId16"/>
    <p:sldId id="573" r:id="rId17"/>
    <p:sldId id="543" r:id="rId18"/>
    <p:sldId id="544" r:id="rId19"/>
    <p:sldId id="551" r:id="rId20"/>
    <p:sldId id="574" r:id="rId21"/>
    <p:sldId id="537" r:id="rId22"/>
    <p:sldId id="542" r:id="rId23"/>
    <p:sldId id="535" r:id="rId24"/>
    <p:sldId id="575" r:id="rId25"/>
    <p:sldId id="576" r:id="rId26"/>
    <p:sldId id="577" r:id="rId27"/>
    <p:sldId id="578" r:id="rId28"/>
    <p:sldId id="579" r:id="rId29"/>
    <p:sldId id="536" r:id="rId30"/>
    <p:sldId id="580" r:id="rId31"/>
    <p:sldId id="539" r:id="rId32"/>
    <p:sldId id="538" r:id="rId33"/>
    <p:sldId id="582" r:id="rId34"/>
    <p:sldId id="581" r:id="rId35"/>
    <p:sldId id="540" r:id="rId36"/>
    <p:sldId id="583" r:id="rId37"/>
    <p:sldId id="555" r:id="rId38"/>
    <p:sldId id="557" r:id="rId39"/>
    <p:sldId id="558" r:id="rId40"/>
    <p:sldId id="559" r:id="rId41"/>
    <p:sldId id="553" r:id="rId42"/>
    <p:sldId id="556" r:id="rId43"/>
    <p:sldId id="554" r:id="rId44"/>
    <p:sldId id="546" r:id="rId45"/>
    <p:sldId id="584" r:id="rId46"/>
    <p:sldId id="566" r:id="rId47"/>
    <p:sldId id="545" r:id="rId48"/>
    <p:sldId id="547" r:id="rId49"/>
    <p:sldId id="550" r:id="rId50"/>
    <p:sldId id="548" r:id="rId51"/>
    <p:sldId id="549" r:id="rId52"/>
    <p:sldId id="561" r:id="rId53"/>
    <p:sldId id="563" r:id="rId54"/>
    <p:sldId id="564" r:id="rId55"/>
    <p:sldId id="565" r:id="rId56"/>
    <p:sldId id="567" r:id="rId57"/>
    <p:sldId id="368" r:id="rId58"/>
    <p:sldId id="490" r:id="rId59"/>
    <p:sldId id="400" r:id="rId60"/>
    <p:sldId id="337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66" autoAdjust="0"/>
    <p:restoredTop sz="85000" autoAdjust="0"/>
  </p:normalViewPr>
  <p:slideViewPr>
    <p:cSldViewPr snapToGrid="0">
      <p:cViewPr>
        <p:scale>
          <a:sx n="78" d="100"/>
          <a:sy n="78" d="100"/>
        </p:scale>
        <p:origin x="-1455" y="43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82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B5EFC-789D-DB08-EA8A-771BF87A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C4CF8-8FB3-4AF6-E6FC-4714EA5FF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BC9FA-497E-A4E6-0605-3C056986B3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7AA21-3ABE-EE35-EEBC-5D3BDC33E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1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9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FE2E-4FF1-34AA-1E0C-B13FC4E5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2EFA-4CEB-0975-CC72-A667A767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3F7E-04E5-106C-63BA-C6E78A737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1EFB-C965-E8ED-E195-AC9761D3C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5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64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49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00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7AE3-6738-A0D7-BE77-3B109ADE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95731-CDF4-20F6-1C2A-4FD7D7AFC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32387-A611-2D70-84D3-E3D8892A3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1E8EE-6C99-0AC9-87FB-9DFB62E71B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69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653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D25A-774C-CB9F-5369-203E2724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2FB7C-5A14-FFA4-580A-A57453FFA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3CFA5-6663-B4D9-65BA-9C5ED6A31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A840A-5B1D-87DE-A96F-D167411B4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17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4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14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45277-B5AC-E8AA-1B3B-62E4B9DE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83564-6FC9-E80F-1523-1E749CEF1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E9456-C17F-F1BB-32CE-A70D53DE2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A6745-B12E-1174-378F-1B090EA060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41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36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22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164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3B85-5CCA-8D12-4BDD-A63C0F96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FFA1C-2D79-5F25-CC1B-93B39AAFB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A04AB-5242-51A5-3609-59015F308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350F-7547-AA00-BA4D-6413C94D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7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12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80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737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BAD4D-7957-E104-FF56-F5785B8D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92B5D-BC31-03C6-520C-2C5B634AA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3B6FC-A06E-A9B4-89B6-70C7F558F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20C1B-772E-D5D2-E0CF-1A19A2AFB4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26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2444D-B284-3BB3-7FA0-12AB5D6F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4EEA4-7CD2-27DD-B291-F6EAACC47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2AA5-02B2-E9CC-EFAF-3B030F412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16A08-766F-666C-B025-F295F6830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450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5C56-B73D-4D5B-1FA8-CEA69A30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4BD6A-AC0E-8D18-DB79-7926413B7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F2834-24F4-91F3-4523-E234B947A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BB875-4C56-4A79-3A41-93796BF1C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53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677D2-39DB-4C8F-039C-127A1F61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72A27-BD41-EBAB-993C-8DBE92301F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64CA9-0945-FD61-399F-0FDCFC83F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0CE94-BE21-9E67-F09A-346E238F8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68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B158-ED0D-CA0D-A40C-54DB7C978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D0DF5D-F32C-2C05-EDC8-E6C685520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B460B-9A62-D046-D9A2-66247F0E1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FD24A-D52B-607D-8CC0-35C988F34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13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app service plan in relation to app services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PaaS nature and all that it handles (server patches, OS patches, Certs, custom domains, 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etc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)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Env vars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what slots are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Kudu is a thing that exists and why it’s useful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- Log stream for really bad stuff going down 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bc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 ideally you’re using AppInsights or Log Analytics</a:t>
            </a:r>
          </a:p>
          <a:p>
            <a:pPr marL="171450" indent="-171450" algn="l">
              <a:buFontTx/>
              <a:buChar char="-"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The app running at a URL</a:t>
            </a:r>
          </a:p>
          <a:p>
            <a:pPr marL="171450" indent="-171450" algn="l">
              <a:buFontTx/>
              <a:buChar char="-"/>
            </a:pP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Click on it and go to 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api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weatherforecast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 and 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api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</a:t>
            </a:r>
            <a:r>
              <a:rPr lang="en-US" b="0" i="0" dirty="0" err="1">
                <a:solidFill>
                  <a:srgbClr val="D1D2D3"/>
                </a:solidFill>
                <a:effectLst/>
                <a:latin typeface="Slack-Lato"/>
              </a:rPr>
              <a:t>weatherforecast</a:t>
            </a:r>
            <a:r>
              <a:rPr lang="en-US" b="0" i="0" dirty="0">
                <a:solidFill>
                  <a:srgbClr val="D1D2D3"/>
                </a:solidFill>
                <a:effectLst/>
                <a:latin typeface="Slack-Lato"/>
              </a:rPr>
              <a:t>/slow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348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52A57-FC26-9289-7EC1-17AE9A9E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2635C-59CB-F6D9-99C7-35FC08419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FC761-A86F-089A-D9B8-AE901F52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B5114-DD40-73C1-DB34-D8D75D53B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044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286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98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BF3CF-9460-5E61-E03A-E34F81DF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52087-79D1-58CF-1CCD-8F152A1378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8FFF2-3107-F936-2FB9-3AE8E76D1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4631D-9D4E-D465-A315-783870F32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567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4AD2-E88E-1F23-0133-325E8DAA9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75FBF-E3E9-24E1-562A-07711B95C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6B049-DACB-4808-9C7A-B490FF2A0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4DF40-F17E-585E-9ACA-480662073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3168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290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E19EE-BF31-751A-0595-F6594C059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426E1-1BA1-B106-A063-EC3390C27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5E2E2-8E32-E68C-2D0F-22E3611BC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EB1BB-AB92-0F6E-34F0-507A24EEF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2788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reference resources from one another</a:t>
            </a:r>
          </a:p>
          <a:p>
            <a:endParaRPr lang="en-US" dirty="0"/>
          </a:p>
          <a:p>
            <a:r>
              <a:rPr lang="en-US" dirty="0"/>
              <a:t>This also tells Bicep – create the App Service Plan first before creating the App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535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with the previous example is those names are hardcoded right. But we probably want like a Dev + Prod name</a:t>
            </a:r>
          </a:p>
          <a:p>
            <a:endParaRPr lang="en-US" dirty="0"/>
          </a:p>
          <a:p>
            <a:r>
              <a:rPr lang="en-US" dirty="0"/>
              <a:t>But how do we create this name dynamically?</a:t>
            </a:r>
          </a:p>
          <a:p>
            <a:endParaRPr lang="en-US" dirty="0"/>
          </a:p>
          <a:p>
            <a:r>
              <a:rPr lang="en-US" dirty="0"/>
              <a:t>Enter Parameter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4627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store all your Dev values together in a single file</a:t>
            </a:r>
          </a:p>
          <a:p>
            <a:endParaRPr lang="en-US" dirty="0"/>
          </a:p>
          <a:p>
            <a:r>
              <a:rPr lang="en-US" dirty="0"/>
              <a:t>The using tells it what parameters are required and even works with the @allowed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142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6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85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589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880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8494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A7C5-B595-A7C2-2D35-FEC9A1EE1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25DCEC-A6AF-88F7-55E6-FC98613DA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1934D-D8AF-162B-9422-FC1EA0F7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CD28B-D329-4E3F-8B89-9FA1301F7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6673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346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715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7513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60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272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653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171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03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416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6451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3055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30125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59853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dot.net/" TargetMode="External"/><Relationship Id="rId4" Type="http://schemas.openxmlformats.org/officeDocument/2006/relationships/hyperlink" Target="mailto:scott@saubersoftware.co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www.red-gate.com/hub/events/friends-of-rg/friend/ScottSauber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6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5.jpe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cloud-adoption-framework/ready/azure-best-practices/resource-abbreviations#compute-and-web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ra.dev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dora.dev/capabilities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templates/microsoft.web/sites?pivots=deployment-language-bicep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cottsauber/workshop-dotnet-azure-github-bicep" TargetMode="Externa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532573"/>
            <a:ext cx="12192000" cy="3655653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Deploying a .NET 10 App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to Azure using 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Bicep and GitHub Actions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46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8F464C5-3076-4402-9791-59D524AC8DC8}"/>
              </a:ext>
            </a:extLst>
          </p:cNvPr>
          <p:cNvGrpSpPr/>
          <p:nvPr/>
        </p:nvGrpSpPr>
        <p:grpSpPr>
          <a:xfrm>
            <a:off x="10085456" y="6295281"/>
            <a:ext cx="2106544" cy="474323"/>
            <a:chOff x="9994831" y="6185410"/>
            <a:chExt cx="2106544" cy="474323"/>
          </a:xfrm>
        </p:grpSpPr>
        <p:pic>
          <p:nvPicPr>
            <p:cNvPr id="6" name="Picture 2" descr="Image result for twitter logo">
              <a:extLst>
                <a:ext uri="{FF2B5EF4-FFF2-40B4-BE49-F238E27FC236}">
                  <a16:creationId xmlns:a16="http://schemas.microsoft.com/office/drawing/2014/main" id="{BF5CBA11-98FF-4FEC-A8EF-50E5FADF0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67602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9B9DABC1-AB03-4BB4-80DE-95414137804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8" name="Picture 2" descr="Image result for twitter logo">
              <a:extLst>
                <a:ext uri="{FF2B5EF4-FFF2-40B4-BE49-F238E27FC236}">
                  <a16:creationId xmlns:a16="http://schemas.microsoft.com/office/drawing/2014/main" id="{9312450C-A15A-4CF9-8CFC-DDCA027CB8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4831" y="6290606"/>
              <a:ext cx="328512" cy="2667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What you need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940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Required: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An editor of some sort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account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Some basic Git experience (clone, commit, push, pull)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Fork this repo: 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https://github.com/scottsauber/workshop-dotnet-azure-github-bicep</a:t>
            </a:r>
            <a:endParaRPr lang="en-US" dirty="0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Email 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scott@saubersoftware.com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 if you’re doing hands on to get free Azure access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Email you will use for Azure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username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Optional: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.NET 10 (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https://dot.net</a:t>
            </a:r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Editor/IDE that supports .NET 10 (Rider 2025.3+, VS 2026+, VS Code)</a:t>
            </a:r>
          </a:p>
          <a:p>
            <a:pPr lvl="1"/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Bicep extensions are recommended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530A9-A079-9015-8E7F-D7E9526B55A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C277CDDD-BFE1-7D75-B431-61E190B8E12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D9DCB6-52BD-64A7-D767-D4190FF8562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6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410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55639-B52D-B298-21C0-B0A05546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5596-AF0A-76AA-470D-FC334FD3A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What we all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129BF-F744-AFE7-95A7-DDDF3C23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9403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Azure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GitHub Actions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The conference interest to not go down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🙏🙏🙏🙏🙏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(I do have recordings if needed but that’s less fun)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8E87BA7-AFC2-6298-74B9-0E0C8249D68E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DBFC745B-37CD-BC28-8A4F-4B4A8595F3E9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CC1C59B-C48D-6B97-95BC-B985CD5DAED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122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Anyone interested in Azure, GitHub, or Bicep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.NET Developers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People interested in DevOps, but never got to do it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People willing to ask questions – ask away – don’t wait!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E530A9-A079-9015-8E7F-D7E9526B55A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C277CDDD-BFE1-7D75-B431-61E190B8E12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D9DCB6-52BD-64A7-D767-D4190FF8562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02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73CC-C2E5-AA8B-1F40-3BB0E1F9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A076-E9D5-72B4-6088-D762A40E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5BBB-D37B-3BF8-5AA1-E89AF1DD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r>
              <a:rPr lang="en-US" dirty="0"/>
              <a:t>How many .NET Developers in the room?</a:t>
            </a:r>
          </a:p>
          <a:p>
            <a:r>
              <a:rPr lang="en-US" dirty="0"/>
              <a:t>How many using Azure today?</a:t>
            </a:r>
          </a:p>
          <a:p>
            <a:r>
              <a:rPr lang="en-US" dirty="0"/>
              <a:t>How many aren’t using Azure?</a:t>
            </a:r>
          </a:p>
          <a:p>
            <a:r>
              <a:rPr lang="en-US" dirty="0"/>
              <a:t>How many have used Bicep?</a:t>
            </a:r>
          </a:p>
          <a:p>
            <a:r>
              <a:rPr lang="en-US" dirty="0"/>
              <a:t>What about another IAC tool?</a:t>
            </a:r>
          </a:p>
          <a:p>
            <a:r>
              <a:rPr lang="en-US" dirty="0"/>
              <a:t>How many are using GitHub Actions today?</a:t>
            </a:r>
          </a:p>
          <a:p>
            <a:r>
              <a:rPr lang="en-US" dirty="0"/>
              <a:t>How many are using something else?</a:t>
            </a:r>
          </a:p>
          <a:p>
            <a:r>
              <a:rPr lang="en-US" dirty="0"/>
              <a:t>Why are you here? What do you want to learn?</a:t>
            </a:r>
          </a:p>
        </p:txBody>
      </p:sp>
    </p:spTree>
    <p:extLst>
      <p:ext uri="{BB962C8B-B14F-4D97-AF65-F5344CB8AC3E}">
        <p14:creationId xmlns:p14="http://schemas.microsoft.com/office/powerpoint/2010/main" val="15291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78095"/>
          </a:xfrm>
        </p:spPr>
        <p:txBody>
          <a:bodyPr>
            <a:normAutofit/>
          </a:bodyPr>
          <a:lstStyle/>
          <a:p>
            <a:r>
              <a:rPr lang="en-US" dirty="0"/>
              <a:t>What is the final state of what we’re building?</a:t>
            </a:r>
          </a:p>
          <a:p>
            <a:r>
              <a:rPr lang="en-US" dirty="0"/>
              <a:t>What is Azure?</a:t>
            </a:r>
          </a:p>
          <a:p>
            <a:r>
              <a:rPr lang="en-US" dirty="0"/>
              <a:t>What is Azure App Service? Plans?</a:t>
            </a:r>
          </a:p>
          <a:p>
            <a:r>
              <a:rPr lang="en-US" dirty="0"/>
              <a:t>What is Bicep?</a:t>
            </a:r>
          </a:p>
          <a:p>
            <a:r>
              <a:rPr lang="en-US" dirty="0"/>
              <a:t>What are GitHub Actions?</a:t>
            </a:r>
          </a:p>
          <a:p>
            <a:r>
              <a:rPr lang="en-US" dirty="0"/>
              <a:t>Hands on all throughout</a:t>
            </a:r>
          </a:p>
          <a:p>
            <a:r>
              <a:rPr lang="en-US" dirty="0"/>
              <a:t>This is a 2 day workshop, I’m </a:t>
            </a:r>
            <a:r>
              <a:rPr lang="en-US" dirty="0" err="1"/>
              <a:t>gonna</a:t>
            </a:r>
            <a:r>
              <a:rPr lang="en-US" dirty="0"/>
              <a:t> cram into 4 hours</a:t>
            </a:r>
          </a:p>
          <a:p>
            <a:r>
              <a:rPr lang="en-US" dirty="0"/>
              <a:t>There is walkthroughs if you fall behind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D31B0-524D-6A6F-AFE6-5316B23839E6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E43C2D6-3785-EA13-0A41-F2528EB727B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38675C-DC02-2297-B884-373E4A815A04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674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7A8C53-9310-C497-719C-5A3536D0FE56}"/>
              </a:ext>
            </a:extLst>
          </p:cNvPr>
          <p:cNvSpPr txBox="1">
            <a:spLocks/>
          </p:cNvSpPr>
          <p:nvPr/>
        </p:nvSpPr>
        <p:spPr>
          <a:xfrm>
            <a:off x="838200" y="1779905"/>
            <a:ext cx="10515600" cy="507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Learn GitHub Actions, Bicep, and Azure</a:t>
            </a:r>
          </a:p>
          <a:p>
            <a:r>
              <a:rPr lang="en-US" dirty="0"/>
              <a:t>How they all integrate with a .NET app</a:t>
            </a:r>
          </a:p>
          <a:p>
            <a:r>
              <a:rPr lang="en-US" dirty="0"/>
              <a:t>We likely won’t get to everything in a few hours</a:t>
            </a:r>
          </a:p>
          <a:p>
            <a:pPr lvl="1"/>
            <a:r>
              <a:rPr lang="en-US" dirty="0"/>
              <a:t>This is going to be… a lot</a:t>
            </a:r>
          </a:p>
          <a:p>
            <a:r>
              <a:rPr lang="en-US" dirty="0"/>
              <a:t>The feedback loop on this is slow</a:t>
            </a:r>
          </a:p>
          <a:p>
            <a:r>
              <a:rPr lang="en-US" dirty="0"/>
              <a:t>Take home a few things back to work, whether beginner or expert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CEB91B4-E2BE-9DC9-0086-7EEC34A95831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4" name="Subtitle 2">
              <a:extLst>
                <a:ext uri="{FF2B5EF4-FFF2-40B4-BE49-F238E27FC236}">
                  <a16:creationId xmlns:a16="http://schemas.microsoft.com/office/drawing/2014/main" id="{8A4D90AD-4CF9-D7A8-10DF-97D7659583D4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495BA5-ADC8-BF66-0118-599F20BD2A3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56808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endParaRPr lang="en-US" dirty="0">
              <a:hlinkClick r:id="rId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931341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93" y="4692048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949724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949723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959710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58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are we building?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.NET 10 API</a:t>
            </a:r>
          </a:p>
          <a:p>
            <a:r>
              <a:rPr lang="en-US" dirty="0"/>
              <a:t>Running on Azure App Service </a:t>
            </a:r>
          </a:p>
          <a:p>
            <a:r>
              <a:rPr lang="en-US" dirty="0"/>
              <a:t>Configured using Infrastructure as Code with Bicep</a:t>
            </a:r>
          </a:p>
          <a:p>
            <a:r>
              <a:rPr lang="en-US" dirty="0"/>
              <a:t>Deployed via GitHub Actions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480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Features of What We’re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Zero Downtime Deployments</a:t>
            </a:r>
          </a:p>
          <a:p>
            <a:r>
              <a:rPr lang="en-US" dirty="0"/>
              <a:t>Infrastructure managed by code, not clicking in the Azure Portal</a:t>
            </a:r>
          </a:p>
          <a:p>
            <a:r>
              <a:rPr lang="en-US" dirty="0"/>
              <a:t>Automated Build and Deploys</a:t>
            </a:r>
          </a:p>
          <a:p>
            <a:r>
              <a:rPr lang="en-US" dirty="0">
                <a:hlinkClick r:id="rId3"/>
              </a:rPr>
              <a:t>Follows Azure Naming Standards for naming resources</a:t>
            </a:r>
            <a:endParaRPr lang="en-US" dirty="0"/>
          </a:p>
          <a:p>
            <a:r>
              <a:rPr lang="en-US" dirty="0"/>
              <a:t>Versioning your app so you know what’s deployed*</a:t>
            </a:r>
          </a:p>
          <a:p>
            <a:r>
              <a:rPr lang="en-US" dirty="0"/>
              <a:t>Health Checks*</a:t>
            </a:r>
          </a:p>
          <a:p>
            <a:r>
              <a:rPr lang="en-US" dirty="0"/>
              <a:t>Secrets in Key Vault, not Source Control*</a:t>
            </a:r>
          </a:p>
          <a:p>
            <a:r>
              <a:rPr lang="en-US" dirty="0"/>
              <a:t>Observability using Application Insights*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* Might not get to these in 4 hours.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559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CD6AB-0DDF-A657-0DAC-68B2F1EBD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B7CE-EBB5-32D6-E64F-63871525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Why is this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2FBE4-0E3E-6A87-7351-546DA52E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https://dora.dev/</a:t>
            </a:r>
            <a:r>
              <a:rPr lang="en-US" dirty="0"/>
              <a:t>  </a:t>
            </a:r>
          </a:p>
          <a:p>
            <a:r>
              <a:rPr lang="en-US" dirty="0"/>
              <a:t>DORA</a:t>
            </a:r>
          </a:p>
          <a:p>
            <a:r>
              <a:rPr lang="en-US" dirty="0"/>
              <a:t>We will touch on </a:t>
            </a:r>
            <a:r>
              <a:rPr lang="en-US" dirty="0">
                <a:hlinkClick r:id="rId4"/>
              </a:rPr>
              <a:t>6 of the 18 capabilities</a:t>
            </a:r>
            <a:r>
              <a:rPr lang="en-US" dirty="0"/>
              <a:t> listed for high performing teams: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Continuous Delivery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Deployment Automation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Flexible Infrastructure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Continuous Integration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Version Control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Monitoring/Observability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B3E041-5CDE-A8D0-A0F8-A8A792BC66C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10BEA5E-E495-3620-518E-FFCF7B0C1398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964416-8F98-0D14-9E9C-76CD32AFFFFF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5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865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411F28B-C8B2-F43C-D886-86174CB38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673" y="725536"/>
            <a:ext cx="8699450" cy="47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92AF-D7E6-3BAF-C146-3286F17E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2DF6E42-F215-523D-FE38-CE0D3A47AAE9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6D20293-D463-9645-2365-F2508BAB206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FA41FD7-3B1F-827B-355F-E53A6EF4BA2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3F1DB15-9F35-26FD-99F7-3A661C29E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38" y="342305"/>
            <a:ext cx="10619924" cy="617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7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</a:t>
            </a:r>
          </a:p>
        </p:txBody>
      </p:sp>
      <p:pic>
        <p:nvPicPr>
          <p:cNvPr id="3074" name="Picture 2" descr="Azure has a new logo, but where do you download it? Here!">
            <a:extLst>
              <a:ext uri="{FF2B5EF4-FFF2-40B4-BE49-F238E27FC236}">
                <a16:creationId xmlns:a16="http://schemas.microsoft.com/office/drawing/2014/main" id="{B4BAF72D-B99A-2D2D-4FCA-DD55E05B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576" y="3074848"/>
            <a:ext cx="3074847" cy="307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662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Microsoft offering for cloud hosting</a:t>
            </a:r>
          </a:p>
          <a:p>
            <a:r>
              <a:rPr lang="en-US" dirty="0"/>
              <a:t>Offers many services from hosting web apps to databases to caching to messaging to…</a:t>
            </a:r>
          </a:p>
          <a:p>
            <a:r>
              <a:rPr lang="en-US" dirty="0"/>
              <a:t>You should probably be picking PaaS offerings (i.e. not VMs)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831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7B72-642B-3693-F07E-208318C5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2F04C8-A0BA-ABD2-3F63-1F457ADC2895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BA4BC916-BEDD-EAE4-DF95-2706BCDB560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8688F9-7951-DC95-1E37-5C06B3437A4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2" descr="IaaS vs. PaaS vs. SaaS">
            <a:extLst>
              <a:ext uri="{FF2B5EF4-FFF2-40B4-BE49-F238E27FC236}">
                <a16:creationId xmlns:a16="http://schemas.microsoft.com/office/drawing/2014/main" id="{D3823EC2-4C91-2450-F1F7-7D76D328F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52" y="195485"/>
            <a:ext cx="9693779" cy="618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83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Subscriptions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Top-</a:t>
            </a:r>
            <a:r>
              <a:rPr lang="en-US" dirty="0" err="1"/>
              <a:t>ish</a:t>
            </a:r>
            <a:r>
              <a:rPr lang="en-US" dirty="0"/>
              <a:t> level organization (ignoring Tenants, Management Groups for a minute)</a:t>
            </a:r>
          </a:p>
          <a:p>
            <a:r>
              <a:rPr lang="en-US" dirty="0"/>
              <a:t>Recommended per team per environment</a:t>
            </a:r>
          </a:p>
          <a:p>
            <a:r>
              <a:rPr lang="en-US" dirty="0"/>
              <a:t>My default naming convention: sub-&lt;team/dept&gt;-&lt;environment&gt;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sub-accounting-dev</a:t>
            </a:r>
          </a:p>
          <a:p>
            <a:r>
              <a:rPr lang="en-US" dirty="0"/>
              <a:t>Role access separation</a:t>
            </a:r>
          </a:p>
          <a:p>
            <a:r>
              <a:rPr lang="en-US" dirty="0"/>
              <a:t>Billing separation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126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Related groups of resources (i.e. web, DB, Key Vault,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Quickly view all resources related to that app</a:t>
            </a:r>
          </a:p>
          <a:p>
            <a:r>
              <a:rPr lang="en-US" dirty="0"/>
              <a:t>Conceptually, RG = folder, and Resources = files</a:t>
            </a:r>
          </a:p>
          <a:p>
            <a:r>
              <a:rPr lang="en-US" dirty="0"/>
              <a:t>Recommended per app per environment</a:t>
            </a:r>
          </a:p>
          <a:p>
            <a:r>
              <a:rPr lang="en-US" dirty="0"/>
              <a:t>Default naming convention: </a:t>
            </a:r>
            <a:r>
              <a:rPr lang="en-US" dirty="0" err="1"/>
              <a:t>rg</a:t>
            </a:r>
            <a:r>
              <a:rPr lang="en-US" dirty="0"/>
              <a:t>-&lt;product name&gt;-&lt;environment&gt;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rg</a:t>
            </a:r>
            <a:r>
              <a:rPr lang="en-US" dirty="0"/>
              <a:t>-</a:t>
            </a:r>
            <a:r>
              <a:rPr lang="en-US" dirty="0" err="1"/>
              <a:t>fancyapp</a:t>
            </a:r>
            <a:r>
              <a:rPr lang="en-US" dirty="0"/>
              <a:t>-dev</a:t>
            </a:r>
          </a:p>
          <a:p>
            <a:r>
              <a:rPr lang="en-US" dirty="0"/>
              <a:t>May have many RG’s in a single subscription</a:t>
            </a:r>
          </a:p>
          <a:p>
            <a:r>
              <a:rPr lang="en-US" dirty="0"/>
              <a:t>Role access separation</a:t>
            </a:r>
          </a:p>
          <a:p>
            <a:r>
              <a:rPr lang="en-US" dirty="0"/>
              <a:t>Billing separation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3281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6209617A-CE10-CFB9-BE82-E1A36C4FE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661988"/>
            <a:ext cx="8096249" cy="515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70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EA72-7737-0DD7-9599-BC0C2F75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3CEE-3A62-7771-FF5E-207E162BD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3074" name="Picture 2" descr="Azure has a new logo, but where do you download it? Here!">
            <a:extLst>
              <a:ext uri="{FF2B5EF4-FFF2-40B4-BE49-F238E27FC236}">
                <a16:creationId xmlns:a16="http://schemas.microsoft.com/office/drawing/2014/main" id="{26009366-A181-47BF-E733-E3421BAAB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576" y="3074848"/>
            <a:ext cx="3074847" cy="3074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931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Azure App Service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D2AE236-7C6C-1FC9-BA07-4C735C414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4982" y="3298548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53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App Service?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PaaS offering for hosting applications</a:t>
            </a:r>
          </a:p>
          <a:p>
            <a:r>
              <a:rPr lang="en-US" dirty="0"/>
              <a:t>✅Handles OS patches, Framework patches</a:t>
            </a:r>
          </a:p>
          <a:p>
            <a:r>
              <a:rPr lang="en-US" dirty="0"/>
              <a:t>✅Zero downtime deployments with slots</a:t>
            </a:r>
          </a:p>
          <a:p>
            <a:r>
              <a:rPr lang="en-US" dirty="0"/>
              <a:t>✅SSL Certs</a:t>
            </a:r>
          </a:p>
          <a:p>
            <a:r>
              <a:rPr lang="en-US" dirty="0"/>
              <a:t>✅Autoscaling</a:t>
            </a:r>
          </a:p>
          <a:p>
            <a:r>
              <a:rPr lang="en-US" dirty="0"/>
              <a:t>✅Custom Domains</a:t>
            </a:r>
          </a:p>
          <a:p>
            <a:r>
              <a:rPr lang="en-US" dirty="0"/>
              <a:t>✅Very simple</a:t>
            </a:r>
          </a:p>
          <a:p>
            <a:r>
              <a:rPr lang="en-US" dirty="0"/>
              <a:t>✅And More</a:t>
            </a:r>
          </a:p>
          <a:p>
            <a:r>
              <a:rPr lang="en-US" dirty="0"/>
              <a:t>❌Less control because PaaS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547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an Azure App Service Plan?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666343" cy="4749836"/>
          </a:xfrm>
        </p:spPr>
        <p:txBody>
          <a:bodyPr>
            <a:normAutofit/>
          </a:bodyPr>
          <a:lstStyle/>
          <a:p>
            <a:r>
              <a:rPr lang="en-US" dirty="0"/>
              <a:t>Kinda like VM for your App Service(s)</a:t>
            </a:r>
          </a:p>
          <a:p>
            <a:r>
              <a:rPr lang="en-US" dirty="0"/>
              <a:t>Pick how much memory, storage, CPU</a:t>
            </a:r>
          </a:p>
          <a:p>
            <a:r>
              <a:rPr lang="en-US" dirty="0"/>
              <a:t>Multiple app service on one ASP (should you?)</a:t>
            </a:r>
          </a:p>
          <a:p>
            <a:r>
              <a:rPr lang="en-US" dirty="0"/>
              <a:t>Many apps can get away with P0V3 ($62/</a:t>
            </a:r>
            <a:r>
              <a:rPr lang="en-US" dirty="0" err="1"/>
              <a:t>mo</a:t>
            </a:r>
            <a:r>
              <a:rPr lang="en-US" dirty="0"/>
              <a:t> for Linux)</a:t>
            </a:r>
          </a:p>
          <a:p>
            <a:r>
              <a:rPr lang="en-US" dirty="0"/>
              <a:t>Need to be at least Standard to get Slots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797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AAA96-8CB0-4E95-A2A8-9143253A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E8EF-1314-C3C7-8831-A8B3EB5F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$ an issue?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C59D-95D4-B9FE-00CF-0AEBDA249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66343" cy="4749836"/>
          </a:xfrm>
        </p:spPr>
        <p:txBody>
          <a:bodyPr>
            <a:normAutofit/>
          </a:bodyPr>
          <a:lstStyle/>
          <a:p>
            <a:r>
              <a:rPr lang="en-US" dirty="0"/>
              <a:t>Savings Plan – commit to $ amount</a:t>
            </a:r>
          </a:p>
          <a:p>
            <a:r>
              <a:rPr lang="en-US" dirty="0"/>
              <a:t>Save 25% for 1 yr or 45% for 3 yr commitment</a:t>
            </a:r>
          </a:p>
          <a:p>
            <a:r>
              <a:rPr lang="en-US" dirty="0"/>
              <a:t>Reservation – commit to compute tier</a:t>
            </a:r>
          </a:p>
          <a:p>
            <a:r>
              <a:rPr lang="en-US" dirty="0"/>
              <a:t>Save 35% for 1 yr or 55% for 3 yr commitment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F129E5-E438-D66C-A5E0-79FE7FC349BC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DCDE673-8D3C-CE59-F219-6E227BFEFB3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ECFE74-B8F9-6006-363E-B1BBEFA6BA70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0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C7DA-E92C-49F4-78CA-16A11E5A1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F190FE-0A12-5CB7-7D09-832AC75BD4EA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873E7D4B-68E6-E78C-EE0C-A4153DEDB56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E410F2-B0E2-22B0-1E13-24DFB277C2FA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FB99B-289D-2937-EC35-3CB365A27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83" y="150001"/>
            <a:ext cx="10715268" cy="652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1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320E9-27E3-90F4-940C-A7A395C8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00A205-BEB8-3C7B-478A-3AACC9FA2C23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FE7D3898-CB27-C372-D7BE-313853A07AB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3028536-0C01-847D-4B26-F820A2816A3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241AFF1-AF45-1AFF-C7E4-EFE2CF691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7174"/>
            <a:ext cx="12102714" cy="5200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24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3E1D-8FC1-29BA-4BEB-25023734F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612EA48-6A4A-B91C-E7FD-CF3C28D67921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A73F65F7-A418-7CF9-22C1-7642DD35E016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EBE8198-9F2D-7A13-4038-CBBCFFBB0AF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9BEE1EB-ACFF-8A39-D317-DCF122291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98470"/>
            <a:ext cx="12260363" cy="529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01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5B6DF-2672-622E-ACDC-6D3F7E2C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FE19C0A-F83B-F74E-7496-A47079D394B3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20989F4-BE7A-C836-390D-F82BB556A5F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7C9B74-4EB5-BD2D-1251-56F78E356AF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61E5257-5216-D86B-DA6A-61490E181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680482"/>
            <a:ext cx="12195469" cy="504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35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D2AE236-7C6C-1FC9-BA07-4C735C414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011" y="3462545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875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EFCDF-B2EE-6A80-CE6D-2E2F8D736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BE07-36E0-B0A9-6A74-C65080BC9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Questions?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F1A91F0-2DBD-E119-D441-4C4E9DBDF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011" y="3462545"/>
            <a:ext cx="2765977" cy="2765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721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Bicep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959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Infrastructure as Code (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IaC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Source code defining what resources to provision</a:t>
            </a:r>
          </a:p>
          <a:p>
            <a:r>
              <a:rPr lang="en-US" dirty="0"/>
              <a:t>Stored in version control</a:t>
            </a:r>
          </a:p>
          <a:p>
            <a:r>
              <a:rPr lang="en-US" dirty="0"/>
              <a:t>Declarative – what resources to create, not how to create them</a:t>
            </a:r>
          </a:p>
          <a:p>
            <a:r>
              <a:rPr lang="en-US" dirty="0"/>
              <a:t>Deployed via pipeline</a:t>
            </a:r>
          </a:p>
          <a:p>
            <a:r>
              <a:rPr lang="en-US" dirty="0"/>
              <a:t>Need a new env? Few lines of code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047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DF517-9119-4F11-7ACD-945E1DC4D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C127-2503-BEBA-4067-E43209B4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Without IAC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74F1-0784-CBA7-2F14-673246614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Clickety Clack Configuration™️ (</a:t>
            </a:r>
            <a:r>
              <a:rPr lang="en-US" dirty="0" err="1"/>
              <a:t>ClickOps</a:t>
            </a:r>
            <a:r>
              <a:rPr lang="en-US" dirty="0"/>
              <a:t>)</a:t>
            </a:r>
          </a:p>
          <a:p>
            <a:r>
              <a:rPr lang="en-US" dirty="0"/>
              <a:t>Repeat yourself for each environment</a:t>
            </a:r>
          </a:p>
          <a:p>
            <a:r>
              <a:rPr lang="en-US" dirty="0"/>
              <a:t>“It worked in Dev/UAT/Staging, not Prod”</a:t>
            </a:r>
          </a:p>
          <a:p>
            <a:r>
              <a:rPr lang="en-US" dirty="0"/>
              <a:t>“It works on my machine”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49776E-A345-48A0-6CCA-76A4446FC480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8C1C9CE-AB52-49AF-9449-FA2E7A9C164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A1D084-17FE-5D01-797E-15E8E0D0809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250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2243-E182-0C4C-DAA4-FBBD0B67A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495B-EF49-DFF2-BD6D-34173C26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Azure Bicep?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7BDC-6590-8196-4355-6AACDF693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Used to configure Azure resources</a:t>
            </a:r>
          </a:p>
          <a:p>
            <a:r>
              <a:rPr lang="en-US" dirty="0"/>
              <a:t>Built and maintained by Microsoft</a:t>
            </a:r>
          </a:p>
          <a:p>
            <a:r>
              <a:rPr lang="en-US" dirty="0"/>
              <a:t>Domain-specific language (fancy word for custom)</a:t>
            </a:r>
          </a:p>
          <a:p>
            <a:r>
              <a:rPr lang="en-US" dirty="0"/>
              <a:t>Provides </a:t>
            </a:r>
            <a:r>
              <a:rPr lang="en-US" dirty="0" err="1"/>
              <a:t>intellisense</a:t>
            </a:r>
            <a:r>
              <a:rPr lang="en-US" dirty="0"/>
              <a:t>, error checking, “</a:t>
            </a:r>
            <a:r>
              <a:rPr lang="en-US" dirty="0" err="1"/>
              <a:t>whatif</a:t>
            </a:r>
            <a:r>
              <a:rPr lang="en-US" dirty="0"/>
              <a:t>,” and orders the resource creations</a:t>
            </a:r>
          </a:p>
          <a:p>
            <a:r>
              <a:rPr lang="en-US" dirty="0"/>
              <a:t>Built on top of Azure Resource Manager (ARM) – don’t use ARM directly </a:t>
            </a:r>
          </a:p>
          <a:p>
            <a:r>
              <a:rPr lang="en-US" dirty="0"/>
              <a:t>Can compose multiple files into “modules”</a:t>
            </a:r>
          </a:p>
          <a:p>
            <a:r>
              <a:rPr lang="en-US" dirty="0"/>
              <a:t>Can pass data between modules via outputs</a:t>
            </a:r>
          </a:p>
          <a:p>
            <a:r>
              <a:rPr lang="en-US" dirty="0"/>
              <a:t>No state file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D1F560-E83D-E58F-A86B-903B6DFB417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376892D4-BDCB-3FF0-85CD-A333992245CB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C7A8CB-7681-F320-351B-9E54A9465F03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524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does Bicep look like?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D0FB2CA-D39C-929A-5D26-87F9E8772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52" y="2021624"/>
            <a:ext cx="10349348" cy="296645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1BBE171-42A9-076C-A8E3-863245F37D6D}"/>
              </a:ext>
            </a:extLst>
          </p:cNvPr>
          <p:cNvSpPr/>
          <p:nvPr/>
        </p:nvSpPr>
        <p:spPr>
          <a:xfrm>
            <a:off x="1067519" y="2061882"/>
            <a:ext cx="1312903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00BAC3-4FD8-29AD-B27E-4E33D20F153E}"/>
              </a:ext>
            </a:extLst>
          </p:cNvPr>
          <p:cNvSpPr/>
          <p:nvPr/>
        </p:nvSpPr>
        <p:spPr>
          <a:xfrm>
            <a:off x="2443489" y="2061882"/>
            <a:ext cx="2153359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272CC4-967D-F750-65FF-123BB0E8E8AF}"/>
              </a:ext>
            </a:extLst>
          </p:cNvPr>
          <p:cNvSpPr/>
          <p:nvPr/>
        </p:nvSpPr>
        <p:spPr>
          <a:xfrm>
            <a:off x="4659915" y="2061882"/>
            <a:ext cx="5658208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1448E6-0D1E-1A89-616B-0A6E68D9D5F8}"/>
              </a:ext>
            </a:extLst>
          </p:cNvPr>
          <p:cNvSpPr/>
          <p:nvPr/>
        </p:nvSpPr>
        <p:spPr>
          <a:xfrm>
            <a:off x="1308772" y="2487453"/>
            <a:ext cx="3944058" cy="21441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8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08EF2-43AE-0071-AD18-B3F92CC7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4E0175-7095-9A01-C3EE-25546178EDA6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1C203757-6C7C-4E3A-1104-AC584E03471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9B85C-1512-ADDB-33D2-9ACBD2DD0CDC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5B3920F7-EF14-4A06-88E2-4A9471982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3024" y="142908"/>
            <a:ext cx="7369170" cy="28882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EAC8E2-6EDF-C3EA-E338-8170B6679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057" y="3068332"/>
            <a:ext cx="6666148" cy="37678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ABBBFC5-D382-FCED-5FB6-65A554C646D7}"/>
              </a:ext>
            </a:extLst>
          </p:cNvPr>
          <p:cNvSpPr/>
          <p:nvPr/>
        </p:nvSpPr>
        <p:spPr>
          <a:xfrm>
            <a:off x="3089245" y="1102173"/>
            <a:ext cx="1955296" cy="2472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D2F38-4852-A881-8919-C5838E21B251}"/>
              </a:ext>
            </a:extLst>
          </p:cNvPr>
          <p:cNvSpPr/>
          <p:nvPr/>
        </p:nvSpPr>
        <p:spPr>
          <a:xfrm>
            <a:off x="2141128" y="4987508"/>
            <a:ext cx="3681540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068445-3FFB-87F3-DF47-6A8EEC0B9D29}"/>
              </a:ext>
            </a:extLst>
          </p:cNvPr>
          <p:cNvSpPr/>
          <p:nvPr/>
        </p:nvSpPr>
        <p:spPr>
          <a:xfrm>
            <a:off x="3089245" y="1389600"/>
            <a:ext cx="1746642" cy="24720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E88641-B2B1-8678-3033-C5C4363B5F84}"/>
              </a:ext>
            </a:extLst>
          </p:cNvPr>
          <p:cNvSpPr/>
          <p:nvPr/>
        </p:nvSpPr>
        <p:spPr>
          <a:xfrm>
            <a:off x="2161344" y="5494470"/>
            <a:ext cx="378459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219E48-F28D-BADD-C8B3-689E3574A3B9}"/>
              </a:ext>
            </a:extLst>
          </p:cNvPr>
          <p:cNvSpPr/>
          <p:nvPr/>
        </p:nvSpPr>
        <p:spPr>
          <a:xfrm>
            <a:off x="3089245" y="1637984"/>
            <a:ext cx="1955297" cy="27828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56485E-C8EB-C107-FEDF-328ECCA60E10}"/>
              </a:ext>
            </a:extLst>
          </p:cNvPr>
          <p:cNvSpPr/>
          <p:nvPr/>
        </p:nvSpPr>
        <p:spPr>
          <a:xfrm>
            <a:off x="2161344" y="5896188"/>
            <a:ext cx="316626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35595-0AE4-F1EF-D25E-C98E891E42A0}"/>
              </a:ext>
            </a:extLst>
          </p:cNvPr>
          <p:cNvSpPr/>
          <p:nvPr/>
        </p:nvSpPr>
        <p:spPr>
          <a:xfrm>
            <a:off x="3089245" y="1916271"/>
            <a:ext cx="1252096" cy="8665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056CB-9D86-D312-8A23-B9FAE8C6A5C2}"/>
              </a:ext>
            </a:extLst>
          </p:cNvPr>
          <p:cNvSpPr/>
          <p:nvPr/>
        </p:nvSpPr>
        <p:spPr>
          <a:xfrm>
            <a:off x="2161344" y="6355876"/>
            <a:ext cx="5284625" cy="32559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6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27BEF77-C983-40AD-5EC5-5AE48432C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26" y="143129"/>
            <a:ext cx="10349348" cy="29664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86A544-C878-2CFF-7E99-5F4D397D6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326" y="3380539"/>
            <a:ext cx="7544499" cy="26376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329039-5A47-540E-0BEA-FCDF7CA8A5FC}"/>
              </a:ext>
            </a:extLst>
          </p:cNvPr>
          <p:cNvSpPr/>
          <p:nvPr/>
        </p:nvSpPr>
        <p:spPr>
          <a:xfrm>
            <a:off x="2309911" y="183386"/>
            <a:ext cx="2172637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B5529-D186-25AF-4154-9906C18AA7F2}"/>
              </a:ext>
            </a:extLst>
          </p:cNvPr>
          <p:cNvSpPr/>
          <p:nvPr/>
        </p:nvSpPr>
        <p:spPr>
          <a:xfrm>
            <a:off x="3288915" y="4699341"/>
            <a:ext cx="2436024" cy="3853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3C0C97C-A766-F5F8-73D0-2A5819D49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827" y="888504"/>
            <a:ext cx="7229528" cy="3610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E329039-5A47-540E-0BEA-FCDF7CA8A5FC}"/>
              </a:ext>
            </a:extLst>
          </p:cNvPr>
          <p:cNvSpPr/>
          <p:nvPr/>
        </p:nvSpPr>
        <p:spPr>
          <a:xfrm>
            <a:off x="1971978" y="927600"/>
            <a:ext cx="2813710" cy="11745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B5529-D186-25AF-4154-9906C18AA7F2}"/>
              </a:ext>
            </a:extLst>
          </p:cNvPr>
          <p:cNvSpPr/>
          <p:nvPr/>
        </p:nvSpPr>
        <p:spPr>
          <a:xfrm>
            <a:off x="2195610" y="2510786"/>
            <a:ext cx="4041193" cy="58028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29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DDAFF8-6082-7F77-6F43-CE018E0C8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025" y="2257213"/>
            <a:ext cx="6710842" cy="278689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C2C370-5E5B-CA56-0417-4E2EBF5A8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dev.biccepparam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1723407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FA458A7-631B-04E2-1E9E-C45CB99540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3647"/>
          <a:stretch/>
        </p:blipFill>
        <p:spPr>
          <a:xfrm>
            <a:off x="1495385" y="2334701"/>
            <a:ext cx="8985175" cy="247981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F4B8CDE-291C-17BA-2138-89952B6A8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But how do I deploy it?</a:t>
            </a:r>
          </a:p>
        </p:txBody>
      </p:sp>
    </p:spTree>
    <p:extLst>
      <p:ext uri="{BB962C8B-B14F-4D97-AF65-F5344CB8AC3E}">
        <p14:creationId xmlns:p14="http://schemas.microsoft.com/office/powerpoint/2010/main" val="548093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Key Concepts – Quiz time!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Resources</a:t>
            </a:r>
          </a:p>
          <a:p>
            <a:r>
              <a:rPr lang="en-US" dirty="0"/>
              <a:t>Modules</a:t>
            </a:r>
          </a:p>
          <a:p>
            <a:r>
              <a:rPr lang="en-US" dirty="0"/>
              <a:t>Parameters</a:t>
            </a:r>
          </a:p>
          <a:p>
            <a:r>
              <a:rPr lang="en-US" dirty="0"/>
              <a:t>.</a:t>
            </a:r>
            <a:r>
              <a:rPr lang="en-US" dirty="0" err="1"/>
              <a:t>bicepparam</a:t>
            </a:r>
            <a:endParaRPr lang="en-US" dirty="0"/>
          </a:p>
          <a:p>
            <a:r>
              <a:rPr lang="en-US" dirty="0"/>
              <a:t>Outputs</a:t>
            </a:r>
          </a:p>
          <a:p>
            <a:r>
              <a:rPr lang="en-US" dirty="0"/>
              <a:t>--</a:t>
            </a:r>
            <a:r>
              <a:rPr lang="en-US" dirty="0" err="1"/>
              <a:t>whatif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925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No manual work of configuring in the portal (and repeating for each env)</a:t>
            </a:r>
          </a:p>
          <a:p>
            <a:r>
              <a:rPr lang="en-US" dirty="0"/>
              <a:t>Eliminate configuration drift</a:t>
            </a:r>
          </a:p>
          <a:p>
            <a:r>
              <a:rPr lang="en-US" dirty="0"/>
              <a:t>Traceability of who, did what, and when</a:t>
            </a:r>
          </a:p>
          <a:p>
            <a:r>
              <a:rPr lang="en-US" dirty="0"/>
              <a:t>Give Contributor access to the pipeline – not to individuals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802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Documentation for various Bicep resources:</a:t>
            </a:r>
            <a:endParaRPr lang="en-US" dirty="0">
              <a:hlinkClick r:id="rId3"/>
            </a:endParaRPr>
          </a:p>
          <a:p>
            <a:pPr lvl="1"/>
            <a:r>
              <a:rPr lang="en-US" dirty="0">
                <a:hlinkClick r:id="rId3"/>
              </a:rPr>
              <a:t>https://learn.microsoft.com/en-us/azure/templates/microsoft.web/sites?pivots=deployment-language-bicep</a:t>
            </a:r>
            <a:r>
              <a:rPr lang="en-US" dirty="0"/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5654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7977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7CCA0-23A3-916A-E8F6-9B7930E5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45594-E976-EDA4-E0AB-C508CCF75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Break then Hands On</a:t>
            </a:r>
            <a:endParaRPr lang="en-US" sz="9600" b="1" dirty="0">
              <a:solidFill>
                <a:schemeClr val="bg1"/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A970A80F-7C18-D9B3-1158-33B6F05E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8577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Hands On</a:t>
            </a:r>
          </a:p>
        </p:txBody>
      </p:sp>
      <p:pic>
        <p:nvPicPr>
          <p:cNvPr id="2050" name="Picture 2" descr="Bicep - Visual Studio Marketplace">
            <a:extLst>
              <a:ext uri="{FF2B5EF4-FFF2-40B4-BE49-F238E27FC236}">
                <a16:creationId xmlns:a16="http://schemas.microsoft.com/office/drawing/2014/main" id="{8C2B5FBC-24AF-C673-DDC3-7A8EF167E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716" y="3349258"/>
            <a:ext cx="3054627" cy="3054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4124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GitHub Actions</a:t>
            </a:r>
          </a:p>
        </p:txBody>
      </p:sp>
      <p:pic>
        <p:nvPicPr>
          <p:cNvPr id="4098" name="Picture 2" descr="What is GitHub? — Pythia Foundations">
            <a:extLst>
              <a:ext uri="{FF2B5EF4-FFF2-40B4-BE49-F238E27FC236}">
                <a16:creationId xmlns:a16="http://schemas.microsoft.com/office/drawing/2014/main" id="{6E0DB4C6-4724-3888-0D99-1BD27A5D3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200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is GitHub Actions?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Thing doer on a trigger</a:t>
            </a:r>
          </a:p>
          <a:p>
            <a:r>
              <a:rPr lang="en-US" dirty="0"/>
              <a:t>Trigger could be PR, push to main branch, open an issue,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Automatically build and deploys your application</a:t>
            </a:r>
          </a:p>
          <a:p>
            <a:r>
              <a:rPr lang="en-US" dirty="0"/>
              <a:t>Including the infrastructure (i.e. Bicep)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426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Workflows</a:t>
            </a:r>
          </a:p>
          <a:p>
            <a:r>
              <a:rPr lang="en-US" dirty="0"/>
              <a:t>Triggers</a:t>
            </a:r>
          </a:p>
          <a:p>
            <a:r>
              <a:rPr lang="en-US" dirty="0"/>
              <a:t>Jobs</a:t>
            </a:r>
          </a:p>
          <a:p>
            <a:r>
              <a:rPr lang="en-US" dirty="0"/>
              <a:t>Steps</a:t>
            </a:r>
          </a:p>
          <a:p>
            <a:r>
              <a:rPr lang="en-US" dirty="0"/>
              <a:t>Secrets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52991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What does GitHub Actions Look Like?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2E483C3-3387-F5B8-CC86-CF0EDA3FA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899" y="1468570"/>
            <a:ext cx="5048287" cy="519116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B376C2F-4ABE-A5C1-F8D9-6EE5CDE7441A}"/>
              </a:ext>
            </a:extLst>
          </p:cNvPr>
          <p:cNvSpPr/>
          <p:nvPr/>
        </p:nvSpPr>
        <p:spPr>
          <a:xfrm>
            <a:off x="3676704" y="1468571"/>
            <a:ext cx="3255839" cy="3602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3302D-A060-79C7-7C5B-A8ADBAD4DC89}"/>
              </a:ext>
            </a:extLst>
          </p:cNvPr>
          <p:cNvSpPr/>
          <p:nvPr/>
        </p:nvSpPr>
        <p:spPr>
          <a:xfrm>
            <a:off x="3676704" y="2023506"/>
            <a:ext cx="3255839" cy="11271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CADE1E-AA2F-6EA6-6E7B-C0B163227D85}"/>
              </a:ext>
            </a:extLst>
          </p:cNvPr>
          <p:cNvSpPr/>
          <p:nvPr/>
        </p:nvSpPr>
        <p:spPr>
          <a:xfrm>
            <a:off x="3676704" y="3214420"/>
            <a:ext cx="3752796" cy="124824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15ED58-86DF-D0C0-A897-AD96E4E79251}"/>
              </a:ext>
            </a:extLst>
          </p:cNvPr>
          <p:cNvSpPr/>
          <p:nvPr/>
        </p:nvSpPr>
        <p:spPr>
          <a:xfrm>
            <a:off x="4109299" y="4600039"/>
            <a:ext cx="3320201" cy="195969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reuse workflows?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3B03860-5922-F040-5AD8-1DFD42286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226" y="1467507"/>
            <a:ext cx="7767256" cy="525695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4308613" y="6185409"/>
            <a:ext cx="3120887" cy="37432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9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88998F1-ED47-B674-9980-D0E822B4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922" y="1702138"/>
            <a:ext cx="6212401" cy="48892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reuse workflows?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2872410" y="2120302"/>
            <a:ext cx="2146852" cy="128881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5BF272-21BE-64C2-393B-8DDF7F5D08F9}"/>
              </a:ext>
            </a:extLst>
          </p:cNvPr>
          <p:cNvSpPr/>
          <p:nvPr/>
        </p:nvSpPr>
        <p:spPr>
          <a:xfrm>
            <a:off x="4745935" y="6290186"/>
            <a:ext cx="1903343" cy="2789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16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91BC896-CFD0-C5CB-370F-C287D74C0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779" y="1952072"/>
            <a:ext cx="7705781" cy="39719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consume this reusable workflow?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3329610" y="4731479"/>
            <a:ext cx="6509949" cy="10900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D5E5B3-984E-5ED9-4FD5-AB598795E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06" y="1863971"/>
            <a:ext cx="8543987" cy="40481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consume this from another repo?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4A2ACA-FF87-8A20-6F8F-BFF8BF708272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258820E-D2AE-6AE9-CDB9-EAC898D35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D74B29E-2554-BA60-5B26-1A510C83F47E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957D4-E9AD-EC45-88DF-65AE440E37A4}"/>
              </a:ext>
            </a:extLst>
          </p:cNvPr>
          <p:cNvSpPr/>
          <p:nvPr/>
        </p:nvSpPr>
        <p:spPr>
          <a:xfrm>
            <a:off x="3091071" y="4607240"/>
            <a:ext cx="6879580" cy="4468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Live Demo</a:t>
            </a:r>
          </a:p>
        </p:txBody>
      </p:sp>
      <p:pic>
        <p:nvPicPr>
          <p:cNvPr id="3" name="Picture 2" descr="What is GitHub? — Pythia Foundations">
            <a:extLst>
              <a:ext uri="{FF2B5EF4-FFF2-40B4-BE49-F238E27FC236}">
                <a16:creationId xmlns:a16="http://schemas.microsoft.com/office/drawing/2014/main" id="{CAAB97A4-36EF-EB87-AD87-F16A790C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6953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10"/>
            <a:ext cx="12192000" cy="274793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Hands On</a:t>
            </a:r>
          </a:p>
        </p:txBody>
      </p:sp>
      <p:pic>
        <p:nvPicPr>
          <p:cNvPr id="3" name="Picture 2" descr="What is GitHub? — Pythia Foundations">
            <a:extLst>
              <a:ext uri="{FF2B5EF4-FFF2-40B4-BE49-F238E27FC236}">
                <a16:creationId xmlns:a16="http://schemas.microsoft.com/office/drawing/2014/main" id="{CAAB97A4-36EF-EB87-AD87-F16A790C9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73" y="3259442"/>
            <a:ext cx="5579253" cy="3138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48576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How to leverage Azure</a:t>
            </a:r>
          </a:p>
          <a:p>
            <a:r>
              <a:rPr lang="en-US" dirty="0"/>
              <a:t>Why Infrastructure as Code is useful and how Bicep works</a:t>
            </a:r>
          </a:p>
          <a:p>
            <a:r>
              <a:rPr lang="en-US" dirty="0"/>
              <a:t>How GitHub Actions fits into the big picture</a:t>
            </a:r>
          </a:p>
          <a:p>
            <a:r>
              <a:rPr lang="en-US" dirty="0"/>
              <a:t>Some takeaway tips even if you had experience with this stuff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DE5378A-6FF0-4624-8085-FEF4C35499EF}"/>
              </a:ext>
            </a:extLst>
          </p:cNvPr>
          <p:cNvGrpSpPr/>
          <p:nvPr/>
        </p:nvGrpSpPr>
        <p:grpSpPr>
          <a:xfrm>
            <a:off x="9970651" y="6185410"/>
            <a:ext cx="2130724" cy="474323"/>
            <a:chOff x="9970651" y="6185410"/>
            <a:chExt cx="2130724" cy="474323"/>
          </a:xfrm>
        </p:grpSpPr>
        <p:sp>
          <p:nvSpPr>
            <p:cNvPr id="6" name="Subtitle 2">
              <a:extLst>
                <a:ext uri="{FF2B5EF4-FFF2-40B4-BE49-F238E27FC236}">
                  <a16:creationId xmlns:a16="http://schemas.microsoft.com/office/drawing/2014/main" id="{9DA2B4CB-38FE-4C6E-8BEE-075F81D8685C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CC1E2DB-378E-4A94-AC9A-4A7142A30669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772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Slides at scottsauber.com</a:t>
            </a:r>
          </a:p>
          <a:p>
            <a:r>
              <a:rPr lang="en-US" dirty="0">
                <a:hlinkClick r:id="rId3"/>
              </a:rPr>
              <a:t>https://github.com/scottsauber/workshop-dotnet-azure-github-bicep</a:t>
            </a:r>
            <a:endParaRPr lang="en-US" dirty="0"/>
          </a:p>
          <a:p>
            <a:pPr lvl="1"/>
            <a:r>
              <a:rPr lang="en-US" dirty="0"/>
              <a:t>The “final” branch has the final state of things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7F2377D-8218-3741-EFFB-1572225ED4C4}"/>
              </a:ext>
            </a:extLst>
          </p:cNvPr>
          <p:cNvGrpSpPr/>
          <p:nvPr/>
        </p:nvGrpSpPr>
        <p:grpSpPr>
          <a:xfrm>
            <a:off x="9970651" y="6160243"/>
            <a:ext cx="2130724" cy="474323"/>
            <a:chOff x="9970651" y="6185410"/>
            <a:chExt cx="2130724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8B9D374A-FF4E-DE7F-6593-C9FBFDCBB9D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0155F0-0364-C9C2-3587-5645836F2572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4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6203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1800" dirty="0">
                <a:solidFill>
                  <a:schemeClr val="bg1"/>
                </a:solidFill>
                <a:latin typeface="+mn-lt"/>
              </a:rPr>
              <a:t>Contact: ssauber@leantechniques.com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317392-27D1-BDE7-E0D7-600E64D47858}"/>
              </a:ext>
            </a:extLst>
          </p:cNvPr>
          <p:cNvGrpSpPr/>
          <p:nvPr/>
        </p:nvGrpSpPr>
        <p:grpSpPr>
          <a:xfrm>
            <a:off x="10061276" y="6255713"/>
            <a:ext cx="2130724" cy="474323"/>
            <a:chOff x="9970651" y="6185410"/>
            <a:chExt cx="2130724" cy="474323"/>
          </a:xfrm>
        </p:grpSpPr>
        <p:sp>
          <p:nvSpPr>
            <p:cNvPr id="7" name="Subtitle 2">
              <a:extLst>
                <a:ext uri="{FF2B5EF4-FFF2-40B4-BE49-F238E27FC236}">
                  <a16:creationId xmlns:a16="http://schemas.microsoft.com/office/drawing/2014/main" id="{CAEDCF79-6369-3312-C72B-E492C2FFC56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2B5C07-DFD0-2B15-9503-90458218B795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3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D62362D-55B2-4103-A7AF-54CC41B415B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0D3713-F3EF-9907-AE2C-81CAE8EE1032}"/>
              </a:ext>
            </a:extLst>
          </p:cNvPr>
          <p:cNvGrpSpPr/>
          <p:nvPr/>
        </p:nvGrpSpPr>
        <p:grpSpPr>
          <a:xfrm>
            <a:off x="10061276" y="6255713"/>
            <a:ext cx="2130724" cy="474323"/>
            <a:chOff x="9970651" y="6185410"/>
            <a:chExt cx="2130724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C058655-0A4D-A435-8AF1-E64E0CA276B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3CAB7E-EB4B-279D-5799-DD0F5243C897}"/>
                </a:ext>
              </a:extLst>
            </p:cNvPr>
            <p:cNvSpPr/>
            <p:nvPr/>
          </p:nvSpPr>
          <p:spPr>
            <a:xfrm>
              <a:off x="9970651" y="6285411"/>
              <a:ext cx="347472" cy="274320"/>
            </a:xfrm>
            <a:prstGeom prst="rect">
              <a:avLst/>
            </a:prstGeom>
            <a:blipFill dpi="0" rotWithShape="1">
              <a:blip r:embed="rId2">
                <a:alphaModFix amt="50000"/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94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52177</TotalTime>
  <Words>1529</Words>
  <Application>Microsoft Office PowerPoint</Application>
  <PresentationFormat>Widescreen</PresentationFormat>
  <Paragraphs>339</Paragraphs>
  <Slides>60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Open Sans</vt:lpstr>
      <vt:lpstr>Slack-Lato</vt:lpstr>
      <vt:lpstr>Office Theme</vt:lpstr>
      <vt:lpstr>Deploying a .NET 10 App to Azure using  Bicep and GitHub Actions</vt:lpstr>
      <vt:lpstr>What you need</vt:lpstr>
      <vt:lpstr>What we all need</vt:lpstr>
      <vt:lpstr>Audience</vt:lpstr>
      <vt:lpstr>Poll</vt:lpstr>
      <vt:lpstr>Agenda</vt:lpstr>
      <vt:lpstr>Goals</vt:lpstr>
      <vt:lpstr>Who am I? </vt:lpstr>
      <vt:lpstr>What are we building?</vt:lpstr>
      <vt:lpstr>Features of What We’re Building</vt:lpstr>
      <vt:lpstr>Why is this important?</vt:lpstr>
      <vt:lpstr>PowerPoint Presentation</vt:lpstr>
      <vt:lpstr>PowerPoint Presentation</vt:lpstr>
      <vt:lpstr>Azure</vt:lpstr>
      <vt:lpstr>What is Azure?</vt:lpstr>
      <vt:lpstr>PowerPoint Presentation</vt:lpstr>
      <vt:lpstr>Subscriptions</vt:lpstr>
      <vt:lpstr>Resource Groups</vt:lpstr>
      <vt:lpstr>PowerPoint Presentation</vt:lpstr>
      <vt:lpstr>Questions?</vt:lpstr>
      <vt:lpstr>Azure App Service</vt:lpstr>
      <vt:lpstr>What is Azure App Service?</vt:lpstr>
      <vt:lpstr>What is an Azure App Service Plan?</vt:lpstr>
      <vt:lpstr>$ an issue?</vt:lpstr>
      <vt:lpstr>PowerPoint Presentation</vt:lpstr>
      <vt:lpstr>PowerPoint Presentation</vt:lpstr>
      <vt:lpstr>PowerPoint Presentation</vt:lpstr>
      <vt:lpstr>PowerPoint Presentation</vt:lpstr>
      <vt:lpstr>Live Demo</vt:lpstr>
      <vt:lpstr>Questions?</vt:lpstr>
      <vt:lpstr>Bicep</vt:lpstr>
      <vt:lpstr>Infrastructure as Code (IaC)</vt:lpstr>
      <vt:lpstr>Without IAC</vt:lpstr>
      <vt:lpstr>What is Azure Bicep?</vt:lpstr>
      <vt:lpstr>What does Bicep look like?</vt:lpstr>
      <vt:lpstr>PowerPoint Presentation</vt:lpstr>
      <vt:lpstr>PowerPoint Presentation</vt:lpstr>
      <vt:lpstr>PowerPoint Presentation</vt:lpstr>
      <vt:lpstr>dev.biccepparam file</vt:lpstr>
      <vt:lpstr>But how do I deploy it?</vt:lpstr>
      <vt:lpstr>Key Concepts – Quiz time!</vt:lpstr>
      <vt:lpstr>Benefits</vt:lpstr>
      <vt:lpstr>Additional Resources</vt:lpstr>
      <vt:lpstr>Live Demo</vt:lpstr>
      <vt:lpstr>Break then Hands On</vt:lpstr>
      <vt:lpstr>Hands On</vt:lpstr>
      <vt:lpstr>GitHub Actions</vt:lpstr>
      <vt:lpstr>What is GitHub Actions?</vt:lpstr>
      <vt:lpstr>Concepts</vt:lpstr>
      <vt:lpstr>What does GitHub Actions Look Like?</vt:lpstr>
      <vt:lpstr>How do I reuse workflows?</vt:lpstr>
      <vt:lpstr>How do I reuse workflows?</vt:lpstr>
      <vt:lpstr>How do I consume this reusable workflow?</vt:lpstr>
      <vt:lpstr>How do I consume this from another repo?</vt:lpstr>
      <vt:lpstr>Live Demo</vt:lpstr>
      <vt:lpstr>Hands On</vt:lpstr>
      <vt:lpstr>Takeaways</vt:lpstr>
      <vt:lpstr>Resources</vt:lpstr>
      <vt:lpstr>Questions? Contact: ssauber@leantechniques.com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AzureDotNetBicep Workshop</dc:title>
  <dc:creator>Scott Sauber</dc:creator>
  <cp:lastModifiedBy>Sauber, Scott</cp:lastModifiedBy>
  <cp:revision>507</cp:revision>
  <dcterms:created xsi:type="dcterms:W3CDTF">2020-03-08T20:31:35Z</dcterms:created>
  <dcterms:modified xsi:type="dcterms:W3CDTF">2026-01-13T03:13:57Z</dcterms:modified>
</cp:coreProperties>
</file>